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Cost per month</c:v>
                </c:pt>
              </c:strCache>
            </c:strRef>
          </c:tx>
          <c:spPr>
            <a:solidFill>
              <a:srgbClr val="0051D5"/>
            </a:solidFill>
            <a:effectLst/>
          </c:spPr>
          <c:invertIfNegative val="0"/>
          <c:dLbls>
            <c:numFmt formatCode="0.0" sourceLinked="0"/>
            <c:txPr>
              <a:bodyPr/>
              <a:lstStyle/>
              <a:p>
                <a:pPr>
                  <a:defRPr b="1" i="0" strike="noStrike" sz="1300" u="none">
                    <a:solidFill>
                      <a:srgbClr val="1A24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Manual entry</c:v>
                  </c:pt>
                  <c:pt idx="1">
                    <c:v>DocExtract</c:v>
                  </c:pt>
                </c:lvl>
              </c:multiLvlStrCache>
            </c:multiLvlStrRef>
          </c:cat>
          <c:val>
            <c:numRef>
              <c:f>Sheet1!$B$2:$B$3</c:f>
              <c:numCache>
                <c:formatCode>General</c:formatCode>
                <c:ptCount val="2"/>
                <c:pt idx="0">
                  <c:v>5</c:v>
                </c:pt>
                <c:pt idx="1">
                  <c:v>0.5</c:v>
                </c:pt>
              </c:numCache>
            </c:numRef>
          </c:val>
        </c:ser>
        <c:dLbls>
          <c:numFmt formatCode="0.0" sourceLinked="0"/>
          <c:txPr>
            <a:bodyPr/>
            <a:lstStyle/>
            <a:p>
              <a:pPr>
                <a:defRPr b="1" i="0" strike="noStrike" sz="1300" u="none">
                  <a:solidFill>
                    <a:srgbClr val="1A2433"/>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433"/>
                </a:solidFill>
                <a:latin typeface="Calibri"/>
              </a:defRPr>
            </a:pPr>
            <a:endParaRPr lang="en-US"/>
          </a:p>
        </c:txPr>
        <c:crossAx val="2094734552"/>
        <c:crosses val="autoZero"/>
        <c:auto val="1"/>
        <c:lblAlgn val="ctr"/>
        <c:noMultiLvlLbl val="1"/>
      </c:catAx>
      <c:valAx>
        <c:axId val="2094734552"/>
        <c:scaling>
          <c:orientation val="minMax"/>
          <c:max val="6"/>
        </c:scaling>
        <c:delete val="0"/>
        <c:axPos val="l"/>
        <c:majorGridlines>
          <c:spPr>
            <a:ln w="12700" cap="flat">
              <a:solidFill>
                <a:srgbClr val="E3E8EF"/>
              </a:solidFill>
              <a:prstDash val="solid"/>
              <a:round/>
            </a:ln>
          </c:spPr>
        </c:majorGridlines>
        <c:title>
          <c:tx>
            <c:rich>
              <a:bodyPr/>
              <a:lstStyle/>
              <a:p>
                <a:pPr>
                  <a:defRPr sz="1000" b="0" i="0" u="none" strike="noStrike">
                    <a:solidFill>
                      <a:srgbClr val="44474F"/>
                    </a:solidFill>
                    <a:latin typeface="Calibri"/>
                  </a:defRPr>
                </a:pPr>
                <a:r>
                  <a:rPr sz="1000" b="0" i="0" u="none" strike="noStrike">
                    <a:solidFill>
                      <a:srgbClr val="44474F"/>
                    </a:solidFill>
                    <a:latin typeface="Calibri"/>
                  </a:rPr>
                  <a:t>Rp million / month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74F"/>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product name and one sentence on what it does. Name the four team members and their roles in one breath, do not read each one slowly. Then say: what you will see over the next few minutes is a pipeline that already runs, not a concept. After this deck, we move straight into the live application for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on the problem for thirty seconds before moving to the solution. Walk through the cost chain on the right in order: a thousand documents, six minutes each, a hundred hours, times fifty thousand rupiah, five million a month. This is a mid-size AP department assumption, not a number we invented, it is recorded in BUSINESS_CASE.md.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slide. Read the statement as written, then pause. A classic OCR pipeline is two steps, read the letters, then guess the structure, and errors stack between them. We cut one step. Walk left to right in three sentences. React never talks to the model, it only talks HTTP to FastAPI. FastAPI calls LM Studio through an OpenAI-compatible endpoint, so swapping models later means changing a name, not rewriting code. On why local: invoices carry vendor names, document numbers, and transaction values. Running the model on our own machine means that data never reaches a third-party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nine rules aloud, the audience can read them. Explain the split instead: errors are arithmetic contradictions or missing required fields, no room for interpretation, so export is blocked. Warnings are things a human should look at but may still be legitimate. The panel on the right is also our answer to the Indonesian thousands-separator problem. The model used to read Rp 240.000 as 240. The fix was not regex post-processing, it was telling the prompt explicitly that the dot is a thousands separator, with an example, plus rendering PDFs at a higher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same URL, different login, that is the fastest way to prove role separation without a long explanation. If asked whether this is just a hidden menu, be direct: no, the endpoint in FastAPI rejects the request, the No access page is a consequence of that rejection, not a UI trick. Close with the rule that matters most: staff cannot approve, and only an admin approval moves a document into the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number with its denominator, do not just say 100 percent. Sixty out of sixty documents, ten fields each, evaluated on 8 July 2026, and name the file. A traceable number is stronger than an impressive one. Then move to testing without dwelling on the accuracy figure, it is addressed more carefully in the limitations slide. Name the 2 fails here too, so nothing looks hidden. The full evidence, screenshots and logs, is available in the Works folder if anyone wants to open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numbers need to be said out loud: savings of about four and a half million rupiah a month, and payback in about three point three months. Let the rest be read. Explain where the five hundred thousand comes from: two hundred documents reviewed, three minutes each, not six, because the reviewer only confirms, never retypes from scratch. If asked whether 20 percent is realistic, be honest: it is the fallback used when no evaluation has run yet. The application itself pulls this ratio from the real evaluation result. Even at a pessimistic 50 percent review rate, cost still drops by about 75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decides whether the deck is trusted. Say it calmly, do not apologize, do not rush. Good opening line: that 100 percent figure looked too good, and it is, so let me explain the limit myself. For the two failures, stress that this is proof the testing is real. A test suite that is entirely green usually means the testing was not hard enough. Close briefly and move straight into the application. Do not summarize the whole deck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452"/>
        </a:solidFill>
      </p:bgPr>
    </p:bg>
    <p:spTree>
      <p:nvGrpSpPr>
        <p:cNvPr id="1" name=""/>
        <p:cNvGrpSpPr/>
        <p:nvPr/>
      </p:nvGrpSpPr>
      <p:grpSpPr>
        <a:xfrm>
          <a:off x="0" y="0"/>
          <a:ext cx="0" cy="0"/>
          <a:chOff x="0" y="0"/>
          <a:chExt cx="0" cy="0"/>
        </a:xfrm>
      </p:grpSpPr>
      <p:sp>
        <p:nvSpPr>
          <p:cNvPr id="2" name="Text 0"/>
          <p:cNvSpPr/>
          <p:nvPr/>
        </p:nvSpPr>
        <p:spPr>
          <a:xfrm>
            <a:off x="777240" y="1874520"/>
            <a:ext cx="10607040" cy="91440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DocExtract</a:t>
            </a:r>
            <a:endParaRPr lang="en-US" sz="5400" dirty="0"/>
          </a:p>
        </p:txBody>
      </p:sp>
      <p:sp>
        <p:nvSpPr>
          <p:cNvPr id="3" name="Text 1"/>
          <p:cNvSpPr/>
          <p:nvPr/>
        </p:nvSpPr>
        <p:spPr>
          <a:xfrm>
            <a:off x="777240" y="2834640"/>
            <a:ext cx="8778240" cy="502920"/>
          </a:xfrm>
          <a:prstGeom prst="rect">
            <a:avLst/>
          </a:prstGeom>
          <a:noFill/>
          <a:ln/>
        </p:spPr>
        <p:txBody>
          <a:bodyPr wrap="square" lIns="0" tIns="0" rIns="0" bIns="0" rtlCol="0" anchor="ctr"/>
          <a:lstStyle/>
          <a:p>
            <a:pPr algn="l" indent="0" marL="0">
              <a:buNone/>
            </a:pPr>
            <a:r>
              <a:rPr lang="en-US" sz="1600" dirty="0">
                <a:solidFill>
                  <a:srgbClr val="C3D3EA"/>
                </a:solidFill>
                <a:latin typeface="Calibri" pitchFamily="34" charset="0"/>
                <a:ea typeface="Calibri" pitchFamily="34" charset="-122"/>
                <a:cs typeface="Calibri" pitchFamily="34" charset="-120"/>
              </a:rPr>
              <a:t>Intelligent document processing for finance teams. Local vision model, human review, structured export.</a:t>
            </a:r>
            <a:endParaRPr lang="en-US" sz="1600" dirty="0"/>
          </a:p>
        </p:txBody>
      </p:sp>
      <p:sp>
        <p:nvSpPr>
          <p:cNvPr id="4" name="Text 2"/>
          <p:cNvSpPr/>
          <p:nvPr/>
        </p:nvSpPr>
        <p:spPr>
          <a:xfrm>
            <a:off x="777240" y="3749040"/>
            <a:ext cx="7315200" cy="1463040"/>
          </a:xfrm>
          <a:prstGeom prst="rect">
            <a:avLst/>
          </a:prstGeom>
          <a:noFill/>
          <a:ln/>
        </p:spPr>
        <p:txBody>
          <a:bodyPr wrap="square" lIns="0" tIns="0" rIns="0" bIns="0" rtlCol="0" anchor="t"/>
          <a:lstStyle/>
          <a:p>
            <a:pPr algn="l" indent="0" marL="0">
              <a:lnSpc>
                <a:spcPct val="135000"/>
              </a:lnSpc>
              <a:buNone/>
            </a:pPr>
            <a:r>
              <a:rPr lang="en-US" sz="1250" b="1" dirty="0">
                <a:solidFill>
                  <a:srgbClr val="FFFFFF"/>
                </a:solidFill>
                <a:latin typeface="Calibri" pitchFamily="34" charset="0"/>
                <a:ea typeface="Calibri" pitchFamily="34" charset="-122"/>
                <a:cs typeface="Calibri" pitchFamily="34" charset="-120"/>
              </a:rPr>
              <a:t>Fazza Arrantisi</a:t>
            </a:r>
            <a:pPr algn="l" indent="0" marL="0">
              <a:lnSpc>
                <a:spcPct val="135000"/>
              </a:lnSpc>
              <a:buNone/>
            </a:pPr>
            <a:r>
              <a:rPr lang="en-US" sz="1250" dirty="0">
                <a:solidFill>
                  <a:srgbClr val="9FB4D2"/>
                </a:solidFill>
                <a:latin typeface="Calibri" pitchFamily="34" charset="0"/>
                <a:ea typeface="Calibri" pitchFamily="34" charset="-122"/>
                <a:cs typeface="Calibri" pitchFamily="34" charset="-120"/>
              </a:rPr>
              <a:t>   data, documentation, business case</a:t>
            </a:r>
            <a:endParaRPr lang="en-US" sz="1250" dirty="0"/>
          </a:p>
          <a:p>
            <a:pPr algn="l" indent="0" marL="0">
              <a:lnSpc>
                <a:spcPct val="135000"/>
              </a:lnSpc>
              <a:buNone/>
            </a:pPr>
            <a:r>
              <a:rPr lang="en-US" sz="1250" b="1" dirty="0">
                <a:solidFill>
                  <a:srgbClr val="FFFFFF"/>
                </a:solidFill>
                <a:latin typeface="Calibri" pitchFamily="34" charset="0"/>
                <a:ea typeface="Calibri" pitchFamily="34" charset="-122"/>
                <a:cs typeface="Calibri" pitchFamily="34" charset="-120"/>
              </a:rPr>
              <a:t>Fadhil</a:t>
            </a:r>
            <a:pPr algn="l" indent="0" marL="0">
              <a:lnSpc>
                <a:spcPct val="135000"/>
              </a:lnSpc>
              <a:buNone/>
            </a:pPr>
            <a:r>
              <a:rPr lang="en-US" sz="1250" dirty="0">
                <a:solidFill>
                  <a:srgbClr val="9FB4D2"/>
                </a:solidFill>
                <a:latin typeface="Calibri" pitchFamily="34" charset="0"/>
                <a:ea typeface="Calibri" pitchFamily="34" charset="-122"/>
                <a:cs typeface="Calibri" pitchFamily="34" charset="-120"/>
              </a:rPr>
              <a:t>   lead dev: extraction, validation, backend, auth, RAG</a:t>
            </a:r>
            <a:endParaRPr lang="en-US" sz="1250" dirty="0"/>
          </a:p>
          <a:p>
            <a:pPr algn="l" indent="0" marL="0">
              <a:lnSpc>
                <a:spcPct val="135000"/>
              </a:lnSpc>
              <a:buNone/>
            </a:pPr>
            <a:r>
              <a:rPr lang="en-US" sz="1250" b="1" dirty="0">
                <a:solidFill>
                  <a:srgbClr val="FFFFFF"/>
                </a:solidFill>
                <a:latin typeface="Calibri" pitchFamily="34" charset="0"/>
                <a:ea typeface="Calibri" pitchFamily="34" charset="-122"/>
                <a:cs typeface="Calibri" pitchFamily="34" charset="-120"/>
              </a:rPr>
              <a:t>Gifari Madia</a:t>
            </a:r>
            <a:pPr algn="l" indent="0" marL="0">
              <a:lnSpc>
                <a:spcPct val="135000"/>
              </a:lnSpc>
              <a:buNone/>
            </a:pPr>
            <a:r>
              <a:rPr lang="en-US" sz="1250" dirty="0">
                <a:solidFill>
                  <a:srgbClr val="9FB4D2"/>
                </a:solidFill>
                <a:latin typeface="Calibri" pitchFamily="34" charset="0"/>
                <a:ea typeface="Calibri" pitchFamily="34" charset="-122"/>
                <a:cs typeface="Calibri" pitchFamily="34" charset="-120"/>
              </a:rPr>
              <a:t>   frontend and UI, LM Studio configuration</a:t>
            </a:r>
            <a:endParaRPr lang="en-US" sz="1250" dirty="0"/>
          </a:p>
          <a:p>
            <a:pPr algn="l" indent="0" marL="0">
              <a:lnSpc>
                <a:spcPct val="135000"/>
              </a:lnSpc>
              <a:buNone/>
            </a:pPr>
            <a:r>
              <a:rPr lang="en-US" sz="1250" b="1" dirty="0">
                <a:solidFill>
                  <a:srgbClr val="FFFFFF"/>
                </a:solidFill>
                <a:latin typeface="Calibri" pitchFamily="34" charset="0"/>
                <a:ea typeface="Calibri" pitchFamily="34" charset="-122"/>
                <a:cs typeface="Calibri" pitchFamily="34" charset="-120"/>
              </a:rPr>
              <a:t>Yazid</a:t>
            </a:r>
            <a:pPr algn="l" indent="0" marL="0">
              <a:lnSpc>
                <a:spcPct val="135000"/>
              </a:lnSpc>
              <a:buNone/>
            </a:pPr>
            <a:r>
              <a:rPr lang="en-US" sz="1250" dirty="0">
                <a:solidFill>
                  <a:srgbClr val="9FB4D2"/>
                </a:solidFill>
                <a:latin typeface="Calibri" pitchFamily="34" charset="0"/>
                <a:ea typeface="Calibri" pitchFamily="34" charset="-122"/>
                <a:cs typeface="Calibri" pitchFamily="34" charset="-120"/>
              </a:rPr>
              <a:t>   evaluation, performance</a:t>
            </a:r>
            <a:endParaRPr lang="en-US" sz="1250" dirty="0"/>
          </a:p>
        </p:txBody>
      </p:sp>
      <p:sp>
        <p:nvSpPr>
          <p:cNvPr id="5" name="Text 3"/>
          <p:cNvSpPr/>
          <p:nvPr/>
        </p:nvSpPr>
        <p:spPr>
          <a:xfrm>
            <a:off x="777240" y="5669280"/>
            <a:ext cx="10607040" cy="320040"/>
          </a:xfrm>
          <a:prstGeom prst="rect">
            <a:avLst/>
          </a:prstGeom>
          <a:noFill/>
          <a:ln/>
        </p:spPr>
        <p:txBody>
          <a:bodyPr wrap="square" lIns="0" tIns="0" rIns="0" bIns="0" rtlCol="0" anchor="ctr"/>
          <a:lstStyle/>
          <a:p>
            <a:pPr algn="l" indent="0" marL="0">
              <a:buNone/>
            </a:pPr>
            <a:r>
              <a:rPr lang="en-US" sz="1150" dirty="0">
                <a:solidFill>
                  <a:srgbClr val="7E93B4"/>
                </a:solidFill>
                <a:latin typeface="Calibri" pitchFamily="34" charset="0"/>
                <a:ea typeface="Calibri" pitchFamily="34" charset="-122"/>
                <a:cs typeface="Calibri" pitchFamily="34" charset="-120"/>
              </a:rPr>
              <a:t>24 June to 30 July 2026   /   46 commits   /   12 work sessions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Manual entry is slow and expensive</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Baseline assumption, source docs/BUSINESS_CASE.md</a:t>
            </a:r>
            <a:endParaRPr lang="en-US" sz="1350" dirty="0"/>
          </a:p>
        </p:txBody>
      </p:sp>
      <p:sp>
        <p:nvSpPr>
          <p:cNvPr id="4" name="Text 2"/>
          <p:cNvSpPr/>
          <p:nvPr/>
        </p:nvSpPr>
        <p:spPr>
          <a:xfrm>
            <a:off x="777240" y="1783080"/>
            <a:ext cx="4937760" cy="292608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rgbClr val="1A2433"/>
                </a:solidFill>
                <a:latin typeface="Calibri" pitchFamily="34" charset="0"/>
                <a:ea typeface="Calibri" pitchFamily="34" charset="-122"/>
                <a:cs typeface="Calibri" pitchFamily="34" charset="-120"/>
              </a:rPr>
              <a:t>Every invoice, purchase order, and receipt is retyped into the system by hand.</a:t>
            </a:r>
            <a:endParaRPr lang="en-US" sz="1400" dirty="0"/>
          </a:p>
          <a:p>
            <a:pPr algn="l" marL="177800" indent="-177800">
              <a:spcAft>
                <a:spcPts val="800"/>
              </a:spcAft>
              <a:buSzPct val="100000"/>
              <a:buChar char="•"/>
            </a:pPr>
            <a:r>
              <a:rPr lang="en-US" sz="1400" dirty="0">
                <a:solidFill>
                  <a:srgbClr val="1A2433"/>
                </a:solidFill>
                <a:latin typeface="Calibri" pitchFamily="34" charset="0"/>
                <a:ea typeface="Calibri" pitchFamily="34" charset="-122"/>
                <a:cs typeface="Calibri" pitchFamily="34" charset="-120"/>
              </a:rPr>
              <a:t>Header and line items both have to be copied, so one document takes 6 minutes.</a:t>
            </a:r>
            <a:endParaRPr lang="en-US" sz="1400" dirty="0"/>
          </a:p>
          <a:p>
            <a:pPr algn="l" marL="177800" indent="-177800">
              <a:spcAft>
                <a:spcPts val="800"/>
              </a:spcAft>
              <a:buSzPct val="100000"/>
              <a:buChar char="•"/>
            </a:pPr>
            <a:r>
              <a:rPr lang="en-US" sz="1400" dirty="0">
                <a:solidFill>
                  <a:srgbClr val="1A2433"/>
                </a:solidFill>
                <a:latin typeface="Calibri" pitchFamily="34" charset="0"/>
                <a:ea typeface="Calibri" pitchFamily="34" charset="-122"/>
                <a:cs typeface="Calibri" pitchFamily="34" charset="-120"/>
              </a:rPr>
              <a:t>Typing errors in amounts only surface at reconciliation, often after the period has closed.</a:t>
            </a:r>
            <a:endParaRPr lang="en-US" sz="1400" dirty="0"/>
          </a:p>
          <a:p>
            <a:pPr algn="l" marL="177800" indent="-177800">
              <a:spcAft>
                <a:spcPts val="800"/>
              </a:spcAft>
              <a:buSzPct val="100000"/>
              <a:buChar char="•"/>
            </a:pPr>
            <a:r>
              <a:rPr lang="en-US" sz="1400" dirty="0">
                <a:solidFill>
                  <a:srgbClr val="1A2433"/>
                </a:solidFill>
                <a:latin typeface="Calibri" pitchFamily="34" charset="0"/>
                <a:ea typeface="Calibri" pitchFamily="34" charset="-122"/>
                <a:cs typeface="Calibri" pitchFamily="34" charset="-120"/>
              </a:rPr>
              <a:t>Cost scales linearly with volume. Double the documents, double the hours.</a:t>
            </a:r>
            <a:endParaRPr lang="en-US" sz="1400" dirty="0"/>
          </a:p>
        </p:txBody>
      </p:sp>
      <p:sp>
        <p:nvSpPr>
          <p:cNvPr id="5" name="Text 3"/>
          <p:cNvSpPr/>
          <p:nvPr/>
        </p:nvSpPr>
        <p:spPr>
          <a:xfrm>
            <a:off x="5989320" y="1783080"/>
            <a:ext cx="5394960" cy="274320"/>
          </a:xfrm>
          <a:prstGeom prst="rect">
            <a:avLst/>
          </a:prstGeom>
          <a:noFill/>
          <a:ln/>
        </p:spPr>
        <p:txBody>
          <a:bodyPr wrap="square" lIns="0" tIns="0" rIns="0" bIns="0" rtlCol="0" anchor="ctr"/>
          <a:lstStyle/>
          <a:p>
            <a:pPr indent="0" marL="0">
              <a:buNone/>
            </a:pPr>
            <a:r>
              <a:rPr lang="en-US" sz="1100" b="1" spc="80" kern="0" dirty="0">
                <a:solidFill>
                  <a:srgbClr val="44474F"/>
                </a:solidFill>
                <a:latin typeface="Calibri" pitchFamily="34" charset="0"/>
                <a:ea typeface="Calibri" pitchFamily="34" charset="-122"/>
                <a:cs typeface="Calibri" pitchFamily="34" charset="-120"/>
              </a:rPr>
              <a:t>The cost chain</a:t>
            </a:r>
            <a:endParaRPr lang="en-US" sz="1100" dirty="0"/>
          </a:p>
        </p:txBody>
      </p:sp>
      <p:sp>
        <p:nvSpPr>
          <p:cNvPr id="6" name="Text 4"/>
          <p:cNvSpPr/>
          <p:nvPr/>
        </p:nvSpPr>
        <p:spPr>
          <a:xfrm>
            <a:off x="5989320" y="2194560"/>
            <a:ext cx="2286000" cy="384048"/>
          </a:xfrm>
          <a:prstGeom prst="rect">
            <a:avLst/>
          </a:prstGeom>
          <a:noFill/>
          <a:ln/>
        </p:spPr>
        <p:txBody>
          <a:bodyPr wrap="square" lIns="0" tIns="0" rIns="0" bIns="0" rtlCol="0" anchor="ctr"/>
          <a:lstStyle/>
          <a:p>
            <a:pPr algn="l" indent="0" marL="0">
              <a:buNone/>
            </a:pPr>
            <a:r>
              <a:rPr lang="en-US" sz="1700" b="1" dirty="0">
                <a:solidFill>
                  <a:srgbClr val="002452"/>
                </a:solidFill>
                <a:latin typeface="Calibri" pitchFamily="34" charset="0"/>
                <a:ea typeface="Calibri" pitchFamily="34" charset="-122"/>
                <a:cs typeface="Calibri" pitchFamily="34" charset="-120"/>
              </a:rPr>
              <a:t>1,000 documents</a:t>
            </a:r>
            <a:endParaRPr lang="en-US" sz="1700" dirty="0"/>
          </a:p>
        </p:txBody>
      </p:sp>
      <p:sp>
        <p:nvSpPr>
          <p:cNvPr id="7" name="Text 5"/>
          <p:cNvSpPr/>
          <p:nvPr/>
        </p:nvSpPr>
        <p:spPr>
          <a:xfrm>
            <a:off x="8321040" y="2194560"/>
            <a:ext cx="3063240" cy="384048"/>
          </a:xfrm>
          <a:prstGeom prst="rect">
            <a:avLst/>
          </a:prstGeom>
          <a:noFill/>
          <a:ln/>
        </p:spPr>
        <p:txBody>
          <a:bodyPr wrap="square" lIns="0" tIns="0" rIns="0" bIns="0" rtlCol="0" anchor="ctr"/>
          <a:lstStyle/>
          <a:p>
            <a:pPr algn="l" indent="0" marL="0">
              <a:buNone/>
            </a:pPr>
            <a:r>
              <a:rPr lang="en-US" sz="1200" dirty="0">
                <a:solidFill>
                  <a:srgbClr val="44474F"/>
                </a:solidFill>
                <a:latin typeface="Calibri" pitchFamily="34" charset="0"/>
                <a:ea typeface="Calibri" pitchFamily="34" charset="-122"/>
                <a:cs typeface="Calibri" pitchFamily="34" charset="-120"/>
              </a:rPr>
              <a:t>per month</a:t>
            </a:r>
            <a:endParaRPr lang="en-US" sz="1200" dirty="0"/>
          </a:p>
        </p:txBody>
      </p:sp>
      <p:sp>
        <p:nvSpPr>
          <p:cNvPr id="8" name="Text 6"/>
          <p:cNvSpPr/>
          <p:nvPr/>
        </p:nvSpPr>
        <p:spPr>
          <a:xfrm>
            <a:off x="5989320" y="2706624"/>
            <a:ext cx="2286000" cy="384048"/>
          </a:xfrm>
          <a:prstGeom prst="rect">
            <a:avLst/>
          </a:prstGeom>
          <a:noFill/>
          <a:ln/>
        </p:spPr>
        <p:txBody>
          <a:bodyPr wrap="square" lIns="0" tIns="0" rIns="0" bIns="0" rtlCol="0" anchor="ctr"/>
          <a:lstStyle/>
          <a:p>
            <a:pPr algn="l" indent="0" marL="0">
              <a:buNone/>
            </a:pPr>
            <a:r>
              <a:rPr lang="en-US" sz="1700" b="1" dirty="0">
                <a:solidFill>
                  <a:srgbClr val="002452"/>
                </a:solidFill>
                <a:latin typeface="Calibri" pitchFamily="34" charset="0"/>
                <a:ea typeface="Calibri" pitchFamily="34" charset="-122"/>
                <a:cs typeface="Calibri" pitchFamily="34" charset="-120"/>
              </a:rPr>
              <a:t>6 minutes</a:t>
            </a:r>
            <a:endParaRPr lang="en-US" sz="1700" dirty="0"/>
          </a:p>
        </p:txBody>
      </p:sp>
      <p:sp>
        <p:nvSpPr>
          <p:cNvPr id="9" name="Text 7"/>
          <p:cNvSpPr/>
          <p:nvPr/>
        </p:nvSpPr>
        <p:spPr>
          <a:xfrm>
            <a:off x="8321040" y="2706624"/>
            <a:ext cx="3063240" cy="384048"/>
          </a:xfrm>
          <a:prstGeom prst="rect">
            <a:avLst/>
          </a:prstGeom>
          <a:noFill/>
          <a:ln/>
        </p:spPr>
        <p:txBody>
          <a:bodyPr wrap="square" lIns="0" tIns="0" rIns="0" bIns="0" rtlCol="0" anchor="ctr"/>
          <a:lstStyle/>
          <a:p>
            <a:pPr algn="l" indent="0" marL="0">
              <a:buNone/>
            </a:pPr>
            <a:r>
              <a:rPr lang="en-US" sz="1200" dirty="0">
                <a:solidFill>
                  <a:srgbClr val="44474F"/>
                </a:solidFill>
                <a:latin typeface="Calibri" pitchFamily="34" charset="0"/>
                <a:ea typeface="Calibri" pitchFamily="34" charset="-122"/>
                <a:cs typeface="Calibri" pitchFamily="34" charset="-120"/>
              </a:rPr>
              <a:t>manual keying time per document</a:t>
            </a:r>
            <a:endParaRPr lang="en-US" sz="1200" dirty="0"/>
          </a:p>
        </p:txBody>
      </p:sp>
      <p:sp>
        <p:nvSpPr>
          <p:cNvPr id="10" name="Text 8"/>
          <p:cNvSpPr/>
          <p:nvPr/>
        </p:nvSpPr>
        <p:spPr>
          <a:xfrm>
            <a:off x="5989320" y="3218688"/>
            <a:ext cx="2286000" cy="384048"/>
          </a:xfrm>
          <a:prstGeom prst="rect">
            <a:avLst/>
          </a:prstGeom>
          <a:noFill/>
          <a:ln/>
        </p:spPr>
        <p:txBody>
          <a:bodyPr wrap="square" lIns="0" tIns="0" rIns="0" bIns="0" rtlCol="0" anchor="ctr"/>
          <a:lstStyle/>
          <a:p>
            <a:pPr algn="l" indent="0" marL="0">
              <a:buNone/>
            </a:pPr>
            <a:r>
              <a:rPr lang="en-US" sz="1700" b="1" dirty="0">
                <a:solidFill>
                  <a:srgbClr val="002452"/>
                </a:solidFill>
                <a:latin typeface="Calibri" pitchFamily="34" charset="0"/>
                <a:ea typeface="Calibri" pitchFamily="34" charset="-122"/>
                <a:cs typeface="Calibri" pitchFamily="34" charset="-120"/>
              </a:rPr>
              <a:t>100 hours</a:t>
            </a:r>
            <a:endParaRPr lang="en-US" sz="1700" dirty="0"/>
          </a:p>
        </p:txBody>
      </p:sp>
      <p:sp>
        <p:nvSpPr>
          <p:cNvPr id="11" name="Text 9"/>
          <p:cNvSpPr/>
          <p:nvPr/>
        </p:nvSpPr>
        <p:spPr>
          <a:xfrm>
            <a:off x="8321040" y="3218688"/>
            <a:ext cx="3063240" cy="384048"/>
          </a:xfrm>
          <a:prstGeom prst="rect">
            <a:avLst/>
          </a:prstGeom>
          <a:noFill/>
          <a:ln/>
        </p:spPr>
        <p:txBody>
          <a:bodyPr wrap="square" lIns="0" tIns="0" rIns="0" bIns="0" rtlCol="0" anchor="ctr"/>
          <a:lstStyle/>
          <a:p>
            <a:pPr algn="l" indent="0" marL="0">
              <a:buNone/>
            </a:pPr>
            <a:r>
              <a:rPr lang="en-US" sz="1200" dirty="0">
                <a:solidFill>
                  <a:srgbClr val="44474F"/>
                </a:solidFill>
                <a:latin typeface="Calibri" pitchFamily="34" charset="0"/>
                <a:ea typeface="Calibri" pitchFamily="34" charset="-122"/>
                <a:cs typeface="Calibri" pitchFamily="34" charset="-120"/>
              </a:rPr>
              <a:t>workload per month</a:t>
            </a:r>
            <a:endParaRPr lang="en-US" sz="1200" dirty="0"/>
          </a:p>
        </p:txBody>
      </p:sp>
      <p:sp>
        <p:nvSpPr>
          <p:cNvPr id="12" name="Text 10"/>
          <p:cNvSpPr/>
          <p:nvPr/>
        </p:nvSpPr>
        <p:spPr>
          <a:xfrm>
            <a:off x="5989320" y="3730752"/>
            <a:ext cx="2286000" cy="384048"/>
          </a:xfrm>
          <a:prstGeom prst="rect">
            <a:avLst/>
          </a:prstGeom>
          <a:noFill/>
          <a:ln/>
        </p:spPr>
        <p:txBody>
          <a:bodyPr wrap="square" lIns="0" tIns="0" rIns="0" bIns="0" rtlCol="0" anchor="ctr"/>
          <a:lstStyle/>
          <a:p>
            <a:pPr algn="l" indent="0" marL="0">
              <a:buNone/>
            </a:pPr>
            <a:r>
              <a:rPr lang="en-US" sz="1700" b="1" dirty="0">
                <a:solidFill>
                  <a:srgbClr val="002452"/>
                </a:solidFill>
                <a:latin typeface="Calibri" pitchFamily="34" charset="0"/>
                <a:ea typeface="Calibri" pitchFamily="34" charset="-122"/>
                <a:cs typeface="Calibri" pitchFamily="34" charset="-120"/>
              </a:rPr>
              <a:t>Rp 50.000</a:t>
            </a:r>
            <a:endParaRPr lang="en-US" sz="1700" dirty="0"/>
          </a:p>
        </p:txBody>
      </p:sp>
      <p:sp>
        <p:nvSpPr>
          <p:cNvPr id="13" name="Text 11"/>
          <p:cNvSpPr/>
          <p:nvPr/>
        </p:nvSpPr>
        <p:spPr>
          <a:xfrm>
            <a:off x="8321040" y="3730752"/>
            <a:ext cx="3063240" cy="384048"/>
          </a:xfrm>
          <a:prstGeom prst="rect">
            <a:avLst/>
          </a:prstGeom>
          <a:noFill/>
          <a:ln/>
        </p:spPr>
        <p:txBody>
          <a:bodyPr wrap="square" lIns="0" tIns="0" rIns="0" bIns="0" rtlCol="0" anchor="ctr"/>
          <a:lstStyle/>
          <a:p>
            <a:pPr algn="l" indent="0" marL="0">
              <a:buNone/>
            </a:pPr>
            <a:r>
              <a:rPr lang="en-US" sz="1200" dirty="0">
                <a:solidFill>
                  <a:srgbClr val="44474F"/>
                </a:solidFill>
                <a:latin typeface="Calibri" pitchFamily="34" charset="0"/>
                <a:ea typeface="Calibri" pitchFamily="34" charset="-122"/>
                <a:cs typeface="Calibri" pitchFamily="34" charset="-120"/>
              </a:rPr>
              <a:t>staff cost per hour</a:t>
            </a:r>
            <a:endParaRPr lang="en-US" sz="1200" dirty="0"/>
          </a:p>
        </p:txBody>
      </p:sp>
      <p:sp>
        <p:nvSpPr>
          <p:cNvPr id="14" name="Shape 12"/>
          <p:cNvSpPr/>
          <p:nvPr/>
        </p:nvSpPr>
        <p:spPr>
          <a:xfrm>
            <a:off x="5989320" y="4297680"/>
            <a:ext cx="5394960" cy="0"/>
          </a:xfrm>
          <a:prstGeom prst="line">
            <a:avLst/>
          </a:prstGeom>
          <a:noFill/>
          <a:ln w="9525">
            <a:solidFill>
              <a:srgbClr val="E3E8EF"/>
            </a:solidFill>
            <a:prstDash val="solid"/>
          </a:ln>
        </p:spPr>
      </p:sp>
      <p:sp>
        <p:nvSpPr>
          <p:cNvPr id="15" name="Text 13"/>
          <p:cNvSpPr/>
          <p:nvPr/>
        </p:nvSpPr>
        <p:spPr>
          <a:xfrm>
            <a:off x="5989320" y="4462272"/>
            <a:ext cx="2926080" cy="640080"/>
          </a:xfrm>
          <a:prstGeom prst="rect">
            <a:avLst/>
          </a:prstGeom>
          <a:noFill/>
          <a:ln/>
        </p:spPr>
        <p:txBody>
          <a:bodyPr wrap="square" lIns="0" tIns="0" rIns="0" bIns="0" rtlCol="0" anchor="ctr"/>
          <a:lstStyle/>
          <a:p>
            <a:pPr algn="l" indent="0" marL="0">
              <a:buNone/>
            </a:pPr>
            <a:r>
              <a:rPr lang="en-US" sz="3200" b="1" dirty="0">
                <a:solidFill>
                  <a:srgbClr val="0051D5"/>
                </a:solidFill>
                <a:latin typeface="Calibri" pitchFamily="34" charset="0"/>
                <a:ea typeface="Calibri" pitchFamily="34" charset="-122"/>
                <a:cs typeface="Calibri" pitchFamily="34" charset="-120"/>
              </a:rPr>
              <a:t>Rp 5.000.000</a:t>
            </a:r>
            <a:endParaRPr lang="en-US" sz="3200" dirty="0"/>
          </a:p>
        </p:txBody>
      </p:sp>
      <p:sp>
        <p:nvSpPr>
          <p:cNvPr id="16" name="Text 14"/>
          <p:cNvSpPr/>
          <p:nvPr/>
        </p:nvSpPr>
        <p:spPr>
          <a:xfrm>
            <a:off x="8961120" y="4462272"/>
            <a:ext cx="2423160" cy="640080"/>
          </a:xfrm>
          <a:prstGeom prst="rect">
            <a:avLst/>
          </a:prstGeom>
          <a:noFill/>
          <a:ln/>
        </p:spPr>
        <p:txBody>
          <a:bodyPr wrap="square" lIns="0" tIns="0" rIns="0" bIns="0" rtlCol="0" anchor="ctr"/>
          <a:lstStyle/>
          <a:p>
            <a:pPr algn="l" indent="0" marL="0">
              <a:buNone/>
            </a:pPr>
            <a:r>
              <a:rPr lang="en-US" sz="1200" dirty="0">
                <a:solidFill>
                  <a:srgbClr val="44474F"/>
                </a:solidFill>
                <a:latin typeface="Calibri" pitchFamily="34" charset="0"/>
                <a:ea typeface="Calibri" pitchFamily="34" charset="-122"/>
                <a:cs typeface="Calibri" pitchFamily="34" charset="-120"/>
              </a:rPr>
              <a:t>manual entry cost per month</a:t>
            </a:r>
            <a:endParaRPr lang="en-US" sz="1200" dirty="0"/>
          </a:p>
        </p:txBody>
      </p:sp>
      <p:sp>
        <p:nvSpPr>
          <p:cNvPr id="17" name="Text 15"/>
          <p:cNvSpPr/>
          <p:nvPr/>
        </p:nvSpPr>
        <p:spPr>
          <a:xfrm>
            <a:off x="777240" y="5120640"/>
            <a:ext cx="4937760" cy="640080"/>
          </a:xfrm>
          <a:prstGeom prst="rect">
            <a:avLst/>
          </a:prstGeom>
          <a:noFill/>
          <a:ln/>
        </p:spPr>
        <p:txBody>
          <a:bodyPr wrap="square" lIns="0" tIns="0" rIns="0" bIns="0" rtlCol="0" anchor="t"/>
          <a:lstStyle/>
          <a:p>
            <a:pPr algn="l" indent="0" marL="0">
              <a:buNone/>
            </a:pPr>
            <a:r>
              <a:rPr lang="en-US" sz="1600" b="1" dirty="0">
                <a:solidFill>
                  <a:srgbClr val="002452"/>
                </a:solidFill>
                <a:latin typeface="Calibri" pitchFamily="34" charset="0"/>
                <a:ea typeface="Calibri" pitchFamily="34" charset="-122"/>
                <a:cs typeface="Calibri" pitchFamily="34" charset="-120"/>
              </a:rPr>
              <a:t>We are not cutting the people. We are cutting the retyping.</a:t>
            </a:r>
            <a:endParaRPr lang="en-US" sz="1600" dirty="0"/>
          </a:p>
        </p:txBody>
      </p:sp>
      <p:sp>
        <p:nvSpPr>
          <p:cNvPr id="18" name="Text 16"/>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A vision model reads the document directly</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One step, no separate OCR engine, everything runs on one machine</a:t>
            </a:r>
            <a:endParaRPr lang="en-US" sz="1350" dirty="0"/>
          </a:p>
        </p:txBody>
      </p:sp>
      <p:sp>
        <p:nvSpPr>
          <p:cNvPr id="4" name="Text 2"/>
          <p:cNvSpPr/>
          <p:nvPr/>
        </p:nvSpPr>
        <p:spPr>
          <a:xfrm>
            <a:off x="777240" y="1783080"/>
            <a:ext cx="10607040" cy="365760"/>
          </a:xfrm>
          <a:prstGeom prst="rect">
            <a:avLst/>
          </a:prstGeom>
          <a:noFill/>
          <a:ln/>
        </p:spPr>
        <p:txBody>
          <a:bodyPr wrap="square" lIns="0" tIns="0" rIns="0" bIns="0" rtlCol="0" anchor="ctr"/>
          <a:lstStyle/>
          <a:p>
            <a:pPr algn="l" indent="0" marL="0">
              <a:buNone/>
            </a:pPr>
            <a:r>
              <a:rPr lang="en-US" sz="1400" dirty="0">
                <a:solidFill>
                  <a:srgbClr val="1A2433"/>
                </a:solidFill>
                <a:latin typeface="Calibri" pitchFamily="34" charset="0"/>
                <a:ea typeface="Calibri" pitchFamily="34" charset="-122"/>
                <a:cs typeface="Calibri" pitchFamily="34" charset="-120"/>
              </a:rPr>
              <a:t>The image goes in, structured fields come out. No Tesseract, no PaddleOCR, no separate text-parsing stage.</a:t>
            </a:r>
            <a:endParaRPr lang="en-US" sz="1400" dirty="0"/>
          </a:p>
        </p:txBody>
      </p:sp>
      <p:sp>
        <p:nvSpPr>
          <p:cNvPr id="5" name="Shape 3"/>
          <p:cNvSpPr/>
          <p:nvPr/>
        </p:nvSpPr>
        <p:spPr>
          <a:xfrm>
            <a:off x="777240" y="2331720"/>
            <a:ext cx="2834640" cy="1280160"/>
          </a:xfrm>
          <a:prstGeom prst="rect">
            <a:avLst/>
          </a:prstGeom>
          <a:solidFill>
            <a:srgbClr val="FFFFFF"/>
          </a:solidFill>
          <a:ln w="12700">
            <a:solidFill>
              <a:srgbClr val="E3E8EF"/>
            </a:solidFill>
            <a:prstDash val="solid"/>
          </a:ln>
        </p:spPr>
      </p:sp>
      <p:sp>
        <p:nvSpPr>
          <p:cNvPr id="6" name="Text 4"/>
          <p:cNvSpPr/>
          <p:nvPr/>
        </p:nvSpPr>
        <p:spPr>
          <a:xfrm>
            <a:off x="941832" y="2423160"/>
            <a:ext cx="2505456" cy="1097280"/>
          </a:xfrm>
          <a:prstGeom prst="rect">
            <a:avLst/>
          </a:prstGeom>
          <a:noFill/>
          <a:ln/>
        </p:spPr>
        <p:txBody>
          <a:bodyPr wrap="square" lIns="0" tIns="0" rIns="0" bIns="0" rtlCol="0" anchor="ctr"/>
          <a:lstStyle/>
          <a:p>
            <a:pPr algn="l" indent="0" marL="0">
              <a:lnSpc>
                <a:spcPct val="110000"/>
              </a:lnSpc>
              <a:buNone/>
            </a:pPr>
            <a:r>
              <a:rPr lang="en-US" sz="1400" b="1" dirty="0">
                <a:solidFill>
                  <a:srgbClr val="002452"/>
                </a:solidFill>
                <a:latin typeface="Calibri" pitchFamily="34" charset="0"/>
                <a:ea typeface="Calibri" pitchFamily="34" charset="-122"/>
                <a:cs typeface="Calibri" pitchFamily="34" charset="-120"/>
              </a:rPr>
              <a:t>React + Vite</a:t>
            </a:r>
            <a:endParaRPr lang="en-US" sz="14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Tailwind. Upload, review, archive,</a:t>
            </a:r>
            <a:endParaRPr lang="en-US" sz="14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dashboard. Presentation only.</a:t>
            </a:r>
            <a:endParaRPr lang="en-US" sz="1400" dirty="0"/>
          </a:p>
        </p:txBody>
      </p:sp>
      <p:sp>
        <p:nvSpPr>
          <p:cNvPr id="7" name="Shape 5"/>
          <p:cNvSpPr/>
          <p:nvPr/>
        </p:nvSpPr>
        <p:spPr>
          <a:xfrm>
            <a:off x="4663440" y="2331720"/>
            <a:ext cx="2834640" cy="1280160"/>
          </a:xfrm>
          <a:prstGeom prst="rect">
            <a:avLst/>
          </a:prstGeom>
          <a:solidFill>
            <a:srgbClr val="FFFFFF"/>
          </a:solidFill>
          <a:ln w="12700">
            <a:solidFill>
              <a:srgbClr val="0051D5"/>
            </a:solidFill>
            <a:prstDash val="solid"/>
          </a:ln>
        </p:spPr>
      </p:sp>
      <p:sp>
        <p:nvSpPr>
          <p:cNvPr id="8" name="Text 6"/>
          <p:cNvSpPr/>
          <p:nvPr/>
        </p:nvSpPr>
        <p:spPr>
          <a:xfrm>
            <a:off x="4828032" y="2423160"/>
            <a:ext cx="2505456" cy="1097280"/>
          </a:xfrm>
          <a:prstGeom prst="rect">
            <a:avLst/>
          </a:prstGeom>
          <a:noFill/>
          <a:ln/>
        </p:spPr>
        <p:txBody>
          <a:bodyPr wrap="square" lIns="0" tIns="0" rIns="0" bIns="0" rtlCol="0" anchor="ctr"/>
          <a:lstStyle/>
          <a:p>
            <a:pPr algn="l" indent="0" marL="0">
              <a:lnSpc>
                <a:spcPct val="110000"/>
              </a:lnSpc>
              <a:buNone/>
            </a:pPr>
            <a:r>
              <a:rPr lang="en-US" sz="1400" b="1" dirty="0">
                <a:solidFill>
                  <a:srgbClr val="002452"/>
                </a:solidFill>
                <a:latin typeface="Calibri" pitchFamily="34" charset="0"/>
                <a:ea typeface="Calibri" pitchFamily="34" charset="-122"/>
                <a:cs typeface="Calibri" pitchFamily="34" charset="-120"/>
              </a:rPr>
              <a:t>FastAPI + pydantic</a:t>
            </a:r>
            <a:endParaRPr lang="en-US" sz="14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extraction, validation, export,</a:t>
            </a:r>
            <a:endParaRPr lang="en-US" sz="14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auth. All logic lives here.</a:t>
            </a:r>
            <a:endParaRPr lang="en-US" sz="1400" dirty="0"/>
          </a:p>
        </p:txBody>
      </p:sp>
      <p:sp>
        <p:nvSpPr>
          <p:cNvPr id="9" name="Shape 7"/>
          <p:cNvSpPr/>
          <p:nvPr/>
        </p:nvSpPr>
        <p:spPr>
          <a:xfrm>
            <a:off x="8549640" y="2331720"/>
            <a:ext cx="2834640" cy="1280160"/>
          </a:xfrm>
          <a:prstGeom prst="rect">
            <a:avLst/>
          </a:prstGeom>
          <a:solidFill>
            <a:srgbClr val="FFFFFF"/>
          </a:solidFill>
          <a:ln w="12700">
            <a:solidFill>
              <a:srgbClr val="E3E8EF"/>
            </a:solidFill>
            <a:prstDash val="solid"/>
          </a:ln>
        </p:spPr>
      </p:sp>
      <p:sp>
        <p:nvSpPr>
          <p:cNvPr id="10" name="Text 8"/>
          <p:cNvSpPr/>
          <p:nvPr/>
        </p:nvSpPr>
        <p:spPr>
          <a:xfrm>
            <a:off x="8714232" y="2423160"/>
            <a:ext cx="2505456" cy="1097280"/>
          </a:xfrm>
          <a:prstGeom prst="rect">
            <a:avLst/>
          </a:prstGeom>
          <a:noFill/>
          <a:ln/>
        </p:spPr>
        <p:txBody>
          <a:bodyPr wrap="square" lIns="0" tIns="0" rIns="0" bIns="0" rtlCol="0" anchor="ctr"/>
          <a:lstStyle/>
          <a:p>
            <a:pPr algn="l" indent="0" marL="0">
              <a:lnSpc>
                <a:spcPct val="110000"/>
              </a:lnSpc>
              <a:buNone/>
            </a:pPr>
            <a:r>
              <a:rPr lang="en-US" sz="1400" b="1" dirty="0">
                <a:solidFill>
                  <a:srgbClr val="002452"/>
                </a:solidFill>
                <a:latin typeface="Calibri" pitchFamily="34" charset="0"/>
                <a:ea typeface="Calibri" pitchFamily="34" charset="-122"/>
                <a:cs typeface="Calibri" pitchFamily="34" charset="-120"/>
              </a:rPr>
              <a:t>LM Studio</a:t>
            </a:r>
            <a:endParaRPr lang="en-US" sz="14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qwen/qwen3-vl-4b</a:t>
            </a:r>
            <a:endParaRPr lang="en-US" sz="14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loaded at a 16k context.</a:t>
            </a:r>
            <a:endParaRPr lang="en-US" sz="1400" dirty="0"/>
          </a:p>
        </p:txBody>
      </p:sp>
      <p:sp>
        <p:nvSpPr>
          <p:cNvPr id="11" name="Shape 9"/>
          <p:cNvSpPr/>
          <p:nvPr/>
        </p:nvSpPr>
        <p:spPr>
          <a:xfrm>
            <a:off x="3703320" y="2971800"/>
            <a:ext cx="868680" cy="0"/>
          </a:xfrm>
          <a:prstGeom prst="line">
            <a:avLst/>
          </a:prstGeom>
          <a:noFill/>
          <a:ln w="15875">
            <a:solidFill>
              <a:srgbClr val="8A94A3"/>
            </a:solidFill>
            <a:prstDash val="solid"/>
            <a:tailEnd type="triangle"/>
          </a:ln>
        </p:spPr>
      </p:sp>
      <p:sp>
        <p:nvSpPr>
          <p:cNvPr id="12" name="Text 10"/>
          <p:cNvSpPr/>
          <p:nvPr/>
        </p:nvSpPr>
        <p:spPr>
          <a:xfrm>
            <a:off x="3611880" y="2606040"/>
            <a:ext cx="1097280" cy="274320"/>
          </a:xfrm>
          <a:prstGeom prst="rect">
            <a:avLst/>
          </a:prstGeom>
          <a:noFill/>
          <a:ln/>
        </p:spPr>
        <p:txBody>
          <a:bodyPr wrap="square" lIns="0" tIns="0" rIns="0" bIns="0" rtlCol="0" anchor="ctr"/>
          <a:lstStyle/>
          <a:p>
            <a:pPr algn="ctr" indent="0" marL="0">
              <a:buNone/>
            </a:pPr>
            <a:r>
              <a:rPr lang="en-US" sz="950" dirty="0">
                <a:solidFill>
                  <a:srgbClr val="44474F"/>
                </a:solidFill>
                <a:latin typeface="Calibri" pitchFamily="34" charset="0"/>
                <a:ea typeface="Calibri" pitchFamily="34" charset="-122"/>
                <a:cs typeface="Calibri" pitchFamily="34" charset="-120"/>
              </a:rPr>
              <a:t>HTTP, JSON</a:t>
            </a:r>
            <a:endParaRPr lang="en-US" sz="950" dirty="0"/>
          </a:p>
        </p:txBody>
      </p:sp>
      <p:sp>
        <p:nvSpPr>
          <p:cNvPr id="13" name="Shape 11"/>
          <p:cNvSpPr/>
          <p:nvPr/>
        </p:nvSpPr>
        <p:spPr>
          <a:xfrm>
            <a:off x="7589520" y="2971800"/>
            <a:ext cx="868680" cy="0"/>
          </a:xfrm>
          <a:prstGeom prst="line">
            <a:avLst/>
          </a:prstGeom>
          <a:noFill/>
          <a:ln w="15875">
            <a:solidFill>
              <a:srgbClr val="8A94A3"/>
            </a:solidFill>
            <a:prstDash val="solid"/>
            <a:tailEnd type="triangle"/>
          </a:ln>
        </p:spPr>
      </p:sp>
      <p:sp>
        <p:nvSpPr>
          <p:cNvPr id="14" name="Text 12"/>
          <p:cNvSpPr/>
          <p:nvPr/>
        </p:nvSpPr>
        <p:spPr>
          <a:xfrm>
            <a:off x="7315200" y="2441448"/>
            <a:ext cx="1463040" cy="438912"/>
          </a:xfrm>
          <a:prstGeom prst="rect">
            <a:avLst/>
          </a:prstGeom>
          <a:noFill/>
          <a:ln/>
        </p:spPr>
        <p:txBody>
          <a:bodyPr wrap="square" lIns="0" tIns="0" rIns="0" bIns="0" rtlCol="0" anchor="ctr"/>
          <a:lstStyle/>
          <a:p>
            <a:pPr algn="ctr" indent="0" marL="0">
              <a:buNone/>
            </a:pPr>
            <a:r>
              <a:rPr lang="en-US" sz="950" dirty="0">
                <a:solidFill>
                  <a:srgbClr val="44474F"/>
                </a:solidFill>
                <a:latin typeface="Calibri" pitchFamily="34" charset="0"/>
                <a:ea typeface="Calibri" pitchFamily="34" charset="-122"/>
                <a:cs typeface="Calibri" pitchFamily="34" charset="-120"/>
              </a:rPr>
              <a:t>OpenAI-compatible</a:t>
            </a:r>
            <a:endParaRPr lang="en-US" sz="950" dirty="0"/>
          </a:p>
          <a:p>
            <a:pPr algn="ctr" indent="0" marL="0">
              <a:buNone/>
            </a:pPr>
            <a:r>
              <a:rPr lang="en-US" sz="950" dirty="0">
                <a:solidFill>
                  <a:srgbClr val="44474F"/>
                </a:solidFill>
                <a:latin typeface="Calibri" pitchFamily="34" charset="0"/>
                <a:ea typeface="Calibri" pitchFamily="34" charset="-122"/>
                <a:cs typeface="Calibri" pitchFamily="34" charset="-120"/>
              </a:rPr>
              <a:t>chat/completions</a:t>
            </a:r>
            <a:endParaRPr lang="en-US" sz="950" dirty="0"/>
          </a:p>
        </p:txBody>
      </p:sp>
      <p:sp>
        <p:nvSpPr>
          <p:cNvPr id="15" name="Shape 13"/>
          <p:cNvSpPr/>
          <p:nvPr/>
        </p:nvSpPr>
        <p:spPr>
          <a:xfrm>
            <a:off x="4663440" y="4023360"/>
            <a:ext cx="2834640" cy="731520"/>
          </a:xfrm>
          <a:prstGeom prst="rect">
            <a:avLst/>
          </a:prstGeom>
          <a:solidFill>
            <a:srgbClr val="FFFFFF"/>
          </a:solidFill>
          <a:ln w="12700">
            <a:solidFill>
              <a:srgbClr val="E3E8EF"/>
            </a:solidFill>
            <a:prstDash val="solid"/>
          </a:ln>
        </p:spPr>
      </p:sp>
      <p:sp>
        <p:nvSpPr>
          <p:cNvPr id="16" name="Text 14"/>
          <p:cNvSpPr/>
          <p:nvPr/>
        </p:nvSpPr>
        <p:spPr>
          <a:xfrm>
            <a:off x="4828032" y="4114800"/>
            <a:ext cx="2505456" cy="548640"/>
          </a:xfrm>
          <a:prstGeom prst="rect">
            <a:avLst/>
          </a:prstGeom>
          <a:noFill/>
          <a:ln/>
        </p:spPr>
        <p:txBody>
          <a:bodyPr wrap="square" lIns="0" tIns="0" rIns="0" bIns="0" rtlCol="0" anchor="ctr"/>
          <a:lstStyle/>
          <a:p>
            <a:pPr algn="l" indent="0" marL="0">
              <a:lnSpc>
                <a:spcPct val="110000"/>
              </a:lnSpc>
              <a:buNone/>
            </a:pPr>
            <a:r>
              <a:rPr lang="en-US" sz="1300" b="1" dirty="0">
                <a:solidFill>
                  <a:srgbClr val="002452"/>
                </a:solidFill>
                <a:latin typeface="Calibri" pitchFamily="34" charset="0"/>
                <a:ea typeface="Calibri" pitchFamily="34" charset="-122"/>
                <a:cs typeface="Calibri" pitchFamily="34" charset="-120"/>
              </a:rPr>
              <a:t>SQLite</a:t>
            </a:r>
            <a:endParaRPr lang="en-US" sz="1300" dirty="0"/>
          </a:p>
          <a:p>
            <a:pPr algn="l" indent="0" marL="0">
              <a:lnSpc>
                <a:spcPct val="110000"/>
              </a:lnSpc>
              <a:buNone/>
            </a:pPr>
            <a:r>
              <a:rPr lang="en-US" sz="1050" dirty="0">
                <a:solidFill>
                  <a:srgbClr val="44474F"/>
                </a:solidFill>
                <a:latin typeface="Calibri" pitchFamily="34" charset="0"/>
                <a:ea typeface="Calibri" pitchFamily="34" charset="-122"/>
                <a:cs typeface="Calibri" pitchFamily="34" charset="-120"/>
              </a:rPr>
              <a:t>documents, corrections, audit log</a:t>
            </a:r>
            <a:endParaRPr lang="en-US" sz="1300" dirty="0"/>
          </a:p>
        </p:txBody>
      </p:sp>
      <p:sp>
        <p:nvSpPr>
          <p:cNvPr id="17" name="Shape 15"/>
          <p:cNvSpPr/>
          <p:nvPr/>
        </p:nvSpPr>
        <p:spPr>
          <a:xfrm>
            <a:off x="6080760" y="3611880"/>
            <a:ext cx="0" cy="411480"/>
          </a:xfrm>
          <a:prstGeom prst="line">
            <a:avLst/>
          </a:prstGeom>
          <a:noFill/>
          <a:ln w="15875">
            <a:solidFill>
              <a:srgbClr val="8A94A3"/>
            </a:solidFill>
            <a:prstDash val="solid"/>
            <a:tailEnd type="triangle"/>
          </a:ln>
        </p:spPr>
      </p:sp>
      <p:sp>
        <p:nvSpPr>
          <p:cNvPr id="18" name="Text 16"/>
          <p:cNvSpPr/>
          <p:nvPr/>
        </p:nvSpPr>
        <p:spPr>
          <a:xfrm>
            <a:off x="777240" y="5349240"/>
            <a:ext cx="10607040" cy="41148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Images are sent as a base64 data-URI inside the image_url payload. PDFs render at zoom 3.0 via PyMuPDF first. Temperature 0 for repeatable output.</a:t>
            </a:r>
            <a:endParaRPr lang="en-US" sz="1150" dirty="0"/>
          </a:p>
        </p:txBody>
      </p:sp>
      <p:sp>
        <p:nvSpPr>
          <p:cNvPr id="19" name="Text 17"/>
          <p:cNvSpPr/>
          <p:nvPr/>
        </p:nvSpPr>
        <p:spPr>
          <a:xfrm>
            <a:off x="777240" y="5806440"/>
            <a:ext cx="10607040" cy="365760"/>
          </a:xfrm>
          <a:prstGeom prst="rect">
            <a:avLst/>
          </a:prstGeom>
          <a:noFill/>
          <a:ln/>
        </p:spPr>
        <p:txBody>
          <a:bodyPr wrap="square" lIns="0" tIns="0" rIns="0" bIns="0" rtlCol="0" anchor="t"/>
          <a:lstStyle/>
          <a:p>
            <a:pPr algn="l" indent="0" marL="0">
              <a:buNone/>
            </a:pPr>
            <a:r>
              <a:rPr lang="en-US" sz="1200" b="1" dirty="0">
                <a:solidFill>
                  <a:srgbClr val="002452"/>
                </a:solidFill>
                <a:latin typeface="Calibri" pitchFamily="34" charset="0"/>
                <a:ea typeface="Calibri" pitchFamily="34" charset="-122"/>
                <a:cs typeface="Calibri" pitchFamily="34" charset="-120"/>
              </a:rPr>
              <a:t>Why local: documents never leave the machine, and per-document compute cost is close to zero.</a:t>
            </a:r>
            <a:endParaRPr lang="en-US" sz="1200" dirty="0"/>
          </a:p>
        </p:txBody>
      </p:sp>
      <p:sp>
        <p:nvSpPr>
          <p:cNvPr id="20" name="Text 18"/>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3/8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Extraction and validation</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One document processed end to end, checked against 9 business rules</a:t>
            </a:r>
            <a:endParaRPr lang="en-US" sz="1350" dirty="0"/>
          </a:p>
        </p:txBody>
      </p:sp>
      <p:sp>
        <p:nvSpPr>
          <p:cNvPr id="4" name="Text 2"/>
          <p:cNvSpPr/>
          <p:nvPr/>
        </p:nvSpPr>
        <p:spPr>
          <a:xfrm>
            <a:off x="777240" y="1828800"/>
            <a:ext cx="6309360" cy="3291840"/>
          </a:xfrm>
          <a:prstGeom prst="rect">
            <a:avLst/>
          </a:prstGeom>
          <a:noFill/>
          <a:ln/>
        </p:spPr>
        <p:txBody>
          <a:bodyPr wrap="square" lIns="0" tIns="0" rIns="0" bIns="0" rtlCol="0" anchor="t"/>
          <a:lstStyle/>
          <a:p>
            <a:pPr algn="l" marL="177800" indent="-177800">
              <a:spcAft>
                <a:spcPts val="800"/>
              </a:spcAft>
              <a:buSzPct val="100000"/>
              <a:buChar char="•"/>
            </a:pPr>
            <a:r>
              <a:rPr lang="en-US" sz="1350" dirty="0">
                <a:solidFill>
                  <a:srgbClr val="1A2433"/>
                </a:solidFill>
                <a:latin typeface="Calibri" pitchFamily="34" charset="0"/>
                <a:ea typeface="Calibri" pitchFamily="34" charset="-122"/>
                <a:cs typeface="Calibri" pitchFamily="34" charset="-120"/>
              </a:rPr>
              <a:t>Upload one file or many, PDF, PNG, or JPG. Model and language are configurable in Processing Settings, not hardcoded.</a:t>
            </a:r>
            <a:endParaRPr lang="en-US" sz="1350" dirty="0"/>
          </a:p>
          <a:p>
            <a:pPr algn="l" marL="177800" indent="-177800">
              <a:spcAft>
                <a:spcPts val="800"/>
              </a:spcAft>
              <a:buSzPct val="100000"/>
              <a:buChar char="•"/>
            </a:pPr>
            <a:r>
              <a:rPr lang="en-US" sz="1350" dirty="0">
                <a:solidFill>
                  <a:srgbClr val="1A2433"/>
                </a:solidFill>
                <a:latin typeface="Calibri" pitchFamily="34" charset="0"/>
                <a:ea typeface="Calibri" pitchFamily="34" charset="-122"/>
                <a:cs typeface="Calibri" pitchFamily="34" charset="-120"/>
              </a:rPr>
              <a:t>9 rules split into two tiers: errors block export, warnings ask a human to look.</a:t>
            </a:r>
            <a:endParaRPr lang="en-US" sz="1350" dirty="0"/>
          </a:p>
          <a:p>
            <a:pPr algn="l" marL="177800" indent="-177800">
              <a:spcAft>
                <a:spcPts val="800"/>
              </a:spcAft>
              <a:buSzPct val="100000"/>
              <a:buChar char="•"/>
            </a:pPr>
            <a:r>
              <a:rPr lang="en-US" sz="1350" dirty="0">
                <a:solidFill>
                  <a:srgbClr val="1A2433"/>
                </a:solidFill>
                <a:latin typeface="Calibri" pitchFamily="34" charset="0"/>
                <a:ea typeface="Calibri" pitchFamily="34" charset="-122"/>
                <a:cs typeface="Calibri" pitchFamily="34" charset="-120"/>
              </a:rPr>
              <a:t>Errors: required fields present, subtotal plus tax equals total (a hard arithmetic contradiction).</a:t>
            </a:r>
            <a:endParaRPr lang="en-US" sz="1350" dirty="0"/>
          </a:p>
          <a:p>
            <a:pPr algn="l" marL="177800" indent="-177800">
              <a:spcAft>
                <a:spcPts val="800"/>
              </a:spcAft>
              <a:buSzPct val="100000"/>
              <a:buChar char="•"/>
            </a:pPr>
            <a:r>
              <a:rPr lang="en-US" sz="1350" dirty="0">
                <a:solidFill>
                  <a:srgbClr val="1A2433"/>
                </a:solidFill>
                <a:latin typeface="Calibri" pitchFamily="34" charset="0"/>
                <a:ea typeface="Calibri" pitchFamily="34" charset="-122"/>
                <a:cs typeface="Calibri" pitchFamily="34" charset="-120"/>
              </a:rPr>
              <a:t>Warnings: line items reconcile with subtotal, PPN rate check, date and currency format, document number present, per-line qty times unit price.</a:t>
            </a:r>
            <a:endParaRPr lang="en-US" sz="1350" dirty="0"/>
          </a:p>
        </p:txBody>
      </p:sp>
      <p:pic>
        <p:nvPicPr>
          <p:cNvPr id="5" name="Image 0" descr="/sessions/determined-intelligent-pascal/mnt/outputs/assets/rupiah.png">    </p:cNvPr>
          <p:cNvPicPr>
            <a:picLocks noChangeAspect="1"/>
          </p:cNvPicPr>
          <p:nvPr/>
        </p:nvPicPr>
        <p:blipFill>
          <a:blip r:embed="rId1"/>
          <a:stretch>
            <a:fillRect/>
          </a:stretch>
        </p:blipFill>
        <p:spPr>
          <a:xfrm>
            <a:off x="7452360" y="1600200"/>
            <a:ext cx="3931920" cy="4398264"/>
          </a:xfrm>
          <a:prstGeom prst="rect">
            <a:avLst/>
          </a:prstGeom>
        </p:spPr>
      </p:pic>
      <p:sp>
        <p:nvSpPr>
          <p:cNvPr id="6" name="Text 3"/>
          <p:cNvSpPr/>
          <p:nvPr/>
        </p:nvSpPr>
        <p:spPr>
          <a:xfrm>
            <a:off x="7452360" y="6053328"/>
            <a:ext cx="3931920" cy="274320"/>
          </a:xfrm>
          <a:prstGeom prst="rect">
            <a:avLst/>
          </a:prstGeom>
          <a:noFill/>
          <a:ln/>
        </p:spPr>
        <p:txBody>
          <a:bodyPr wrap="square" lIns="0" tIns="0" rIns="0" bIns="0" rtlCol="0" anchor="t"/>
          <a:lstStyle/>
          <a:p>
            <a:pPr algn="l" indent="0" marL="0">
              <a:buNone/>
            </a:pPr>
            <a:r>
              <a:rPr lang="en-US" sz="1050" i="1" dirty="0">
                <a:solidFill>
                  <a:srgbClr val="44474F"/>
                </a:solidFill>
                <a:latin typeface="Calibri" pitchFamily="34" charset="0"/>
                <a:ea typeface="Calibri" pitchFamily="34" charset="-122"/>
                <a:cs typeface="Calibri" pitchFamily="34" charset="-120"/>
              </a:rPr>
              <a:t>Subtotal 240.000, tax 26.400, total 266.400, read correctly. The prompt states that the dot is a thousands separator, with a worked example, and PDFs render at zoom 3.0.</a:t>
            </a:r>
            <a:endParaRPr lang="en-US" sz="1050" dirty="0"/>
          </a:p>
        </p:txBody>
      </p:sp>
      <p:sp>
        <p:nvSpPr>
          <p:cNvPr id="7" name="Text 4"/>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4/8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Human review and role separation</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Enforced by the server, not hidden in the UI</a:t>
            </a:r>
            <a:endParaRPr lang="en-US" sz="1350" dirty="0"/>
          </a:p>
        </p:txBody>
      </p:sp>
      <p:pic>
        <p:nvPicPr>
          <p:cNvPr id="4" name="Image 0" descr="/sessions/determined-intelligent-pascal/mnt/outputs/assets/role_admin.png">    </p:cNvPr>
          <p:cNvPicPr>
            <a:picLocks noChangeAspect="1"/>
          </p:cNvPicPr>
          <p:nvPr/>
        </p:nvPicPr>
        <p:blipFill>
          <a:blip r:embed="rId1"/>
          <a:stretch>
            <a:fillRect/>
          </a:stretch>
        </p:blipFill>
        <p:spPr>
          <a:xfrm>
            <a:off x="777240" y="1965960"/>
            <a:ext cx="5120640" cy="2340864"/>
          </a:xfrm>
          <a:prstGeom prst="rect">
            <a:avLst/>
          </a:prstGeom>
        </p:spPr>
      </p:pic>
      <p:pic>
        <p:nvPicPr>
          <p:cNvPr id="5" name="Image 1" descr="/sessions/determined-intelligent-pascal/mnt/outputs/assets/role_user.png">    </p:cNvPr>
          <p:cNvPicPr>
            <a:picLocks noChangeAspect="1"/>
          </p:cNvPicPr>
          <p:nvPr/>
        </p:nvPicPr>
        <p:blipFill>
          <a:blip r:embed="rId2"/>
          <a:stretch>
            <a:fillRect/>
          </a:stretch>
        </p:blipFill>
        <p:spPr>
          <a:xfrm>
            <a:off x="6263640" y="1965960"/>
            <a:ext cx="5120640" cy="2340864"/>
          </a:xfrm>
          <a:prstGeom prst="rect">
            <a:avLst/>
          </a:prstGeom>
        </p:spPr>
      </p:pic>
      <p:sp>
        <p:nvSpPr>
          <p:cNvPr id="6" name="Text 2"/>
          <p:cNvSpPr/>
          <p:nvPr/>
        </p:nvSpPr>
        <p:spPr>
          <a:xfrm>
            <a:off x="777240" y="4389120"/>
            <a:ext cx="5120640" cy="274320"/>
          </a:xfrm>
          <a:prstGeom prst="rect">
            <a:avLst/>
          </a:prstGeom>
          <a:noFill/>
          <a:ln/>
        </p:spPr>
        <p:txBody>
          <a:bodyPr wrap="square" lIns="0" tIns="0" rIns="0" bIns="0" rtlCol="0" anchor="t"/>
          <a:lstStyle/>
          <a:p>
            <a:pPr algn="l" indent="0" marL="0">
              <a:buNone/>
            </a:pPr>
            <a:r>
              <a:rPr lang="en-US" sz="1050" i="1" dirty="0">
                <a:solidFill>
                  <a:srgbClr val="44474F"/>
                </a:solidFill>
                <a:latin typeface="Calibri" pitchFamily="34" charset="0"/>
                <a:ea typeface="Calibri" pitchFamily="34" charset="-122"/>
                <a:cs typeface="Calibri" pitchFamily="34" charset="-120"/>
              </a:rPr>
              <a:t>Admin opens /review. Sidebar includes Audit Log, Model Speed, and Settings.</a:t>
            </a:r>
            <a:endParaRPr lang="en-US" sz="1050" dirty="0"/>
          </a:p>
        </p:txBody>
      </p:sp>
      <p:sp>
        <p:nvSpPr>
          <p:cNvPr id="7" name="Text 3"/>
          <p:cNvSpPr/>
          <p:nvPr/>
        </p:nvSpPr>
        <p:spPr>
          <a:xfrm>
            <a:off x="6263640" y="4389120"/>
            <a:ext cx="5120640" cy="274320"/>
          </a:xfrm>
          <a:prstGeom prst="rect">
            <a:avLst/>
          </a:prstGeom>
          <a:noFill/>
          <a:ln/>
        </p:spPr>
        <p:txBody>
          <a:bodyPr wrap="square" lIns="0" tIns="0" rIns="0" bIns="0" rtlCol="0" anchor="t"/>
          <a:lstStyle/>
          <a:p>
            <a:pPr algn="l" indent="0" marL="0">
              <a:buNone/>
            </a:pPr>
            <a:r>
              <a:rPr lang="en-US" sz="1050" i="1" dirty="0">
                <a:solidFill>
                  <a:srgbClr val="44474F"/>
                </a:solidFill>
                <a:latin typeface="Calibri" pitchFamily="34" charset="0"/>
                <a:ea typeface="Calibri" pitchFamily="34" charset="-122"/>
                <a:cs typeface="Calibri" pitchFamily="34" charset="-120"/>
              </a:rPr>
              <a:t>User opens the same URL and is denied. Sidebar only has Upload and Assistant.</a:t>
            </a:r>
            <a:endParaRPr lang="en-US" sz="1050" dirty="0"/>
          </a:p>
        </p:txBody>
      </p:sp>
      <p:sp>
        <p:nvSpPr>
          <p:cNvPr id="8" name="Text 4"/>
          <p:cNvSpPr/>
          <p:nvPr/>
        </p:nvSpPr>
        <p:spPr>
          <a:xfrm>
            <a:off x="777240" y="4983480"/>
            <a:ext cx="1005840" cy="347472"/>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user</a:t>
            </a:r>
            <a:endParaRPr lang="en-US" sz="1300" dirty="0"/>
          </a:p>
        </p:txBody>
      </p:sp>
      <p:sp>
        <p:nvSpPr>
          <p:cNvPr id="9" name="Text 5"/>
          <p:cNvSpPr/>
          <p:nvPr/>
        </p:nvSpPr>
        <p:spPr>
          <a:xfrm>
            <a:off x="1828800" y="4983480"/>
            <a:ext cx="9555480" cy="347472"/>
          </a:xfrm>
          <a:prstGeom prst="rect">
            <a:avLst/>
          </a:prstGeom>
          <a:noFill/>
          <a:ln/>
        </p:spPr>
        <p:txBody>
          <a:bodyPr wrap="square" lIns="0" tIns="0" rIns="0" bIns="0" rtlCol="0" anchor="ctr"/>
          <a:lstStyle/>
          <a:p>
            <a:pPr algn="l" indent="0" marL="0">
              <a:buNone/>
            </a:pPr>
            <a:r>
              <a:rPr lang="en-US" sz="1250" dirty="0">
                <a:solidFill>
                  <a:srgbClr val="1A2433"/>
                </a:solidFill>
                <a:latin typeface="Calibri" pitchFamily="34" charset="0"/>
                <a:ea typeface="Calibri" pitchFamily="34" charset="-122"/>
                <a:cs typeface="Calibri" pitchFamily="34" charset="-120"/>
              </a:rPr>
              <a:t>uploads documents, sees only their own results</a:t>
            </a:r>
            <a:endParaRPr lang="en-US" sz="1250" dirty="0"/>
          </a:p>
        </p:txBody>
      </p:sp>
      <p:sp>
        <p:nvSpPr>
          <p:cNvPr id="10" name="Text 6"/>
          <p:cNvSpPr/>
          <p:nvPr/>
        </p:nvSpPr>
        <p:spPr>
          <a:xfrm>
            <a:off x="777240" y="5385816"/>
            <a:ext cx="1005840" cy="347472"/>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staff</a:t>
            </a:r>
            <a:endParaRPr lang="en-US" sz="1300" dirty="0"/>
          </a:p>
        </p:txBody>
      </p:sp>
      <p:sp>
        <p:nvSpPr>
          <p:cNvPr id="11" name="Text 7"/>
          <p:cNvSpPr/>
          <p:nvPr/>
        </p:nvSpPr>
        <p:spPr>
          <a:xfrm>
            <a:off x="1828800" y="5385816"/>
            <a:ext cx="9555480" cy="347472"/>
          </a:xfrm>
          <a:prstGeom prst="rect">
            <a:avLst/>
          </a:prstGeom>
          <a:noFill/>
          <a:ln/>
        </p:spPr>
        <p:txBody>
          <a:bodyPr wrap="square" lIns="0" tIns="0" rIns="0" bIns="0" rtlCol="0" anchor="ctr"/>
          <a:lstStyle/>
          <a:p>
            <a:pPr algn="l" indent="0" marL="0">
              <a:buNone/>
            </a:pPr>
            <a:r>
              <a:rPr lang="en-US" sz="1250" dirty="0">
                <a:solidFill>
                  <a:srgbClr val="1A2433"/>
                </a:solidFill>
                <a:latin typeface="Calibri" pitchFamily="34" charset="0"/>
                <a:ea typeface="Calibri" pitchFamily="34" charset="-122"/>
                <a:cs typeface="Calibri" pitchFamily="34" charset="-120"/>
              </a:rPr>
              <a:t>corrects flagged fields. Cannot approve</a:t>
            </a:r>
            <a:endParaRPr lang="en-US" sz="1250" dirty="0"/>
          </a:p>
        </p:txBody>
      </p:sp>
      <p:sp>
        <p:nvSpPr>
          <p:cNvPr id="12" name="Text 8"/>
          <p:cNvSpPr/>
          <p:nvPr/>
        </p:nvSpPr>
        <p:spPr>
          <a:xfrm>
            <a:off x="777240" y="5788152"/>
            <a:ext cx="1005840" cy="347472"/>
          </a:xfrm>
          <a:prstGeom prst="rect">
            <a:avLst/>
          </a:prstGeom>
          <a:noFill/>
          <a:ln/>
        </p:spPr>
        <p:txBody>
          <a:bodyPr wrap="square" lIns="0" tIns="0" rIns="0" bIns="0" rtlCol="0" anchor="ctr"/>
          <a:lstStyle/>
          <a:p>
            <a:pPr algn="l" indent="0" marL="0">
              <a:buNone/>
            </a:pPr>
            <a:r>
              <a:rPr lang="en-US" sz="1300" b="1" dirty="0">
                <a:solidFill>
                  <a:srgbClr val="0051D5"/>
                </a:solidFill>
                <a:latin typeface="Calibri" pitchFamily="34" charset="0"/>
                <a:ea typeface="Calibri" pitchFamily="34" charset="-122"/>
                <a:cs typeface="Calibri" pitchFamily="34" charset="-120"/>
              </a:rPr>
              <a:t>admin</a:t>
            </a:r>
            <a:endParaRPr lang="en-US" sz="1300" dirty="0"/>
          </a:p>
        </p:txBody>
      </p:sp>
      <p:sp>
        <p:nvSpPr>
          <p:cNvPr id="13" name="Text 9"/>
          <p:cNvSpPr/>
          <p:nvPr/>
        </p:nvSpPr>
        <p:spPr>
          <a:xfrm>
            <a:off x="1828800" y="5788152"/>
            <a:ext cx="9555480" cy="347472"/>
          </a:xfrm>
          <a:prstGeom prst="rect">
            <a:avLst/>
          </a:prstGeom>
          <a:noFill/>
          <a:ln/>
        </p:spPr>
        <p:txBody>
          <a:bodyPr wrap="square" lIns="0" tIns="0" rIns="0" bIns="0" rtlCol="0" anchor="ctr"/>
          <a:lstStyle/>
          <a:p>
            <a:pPr algn="l" indent="0" marL="0">
              <a:buNone/>
            </a:pPr>
            <a:r>
              <a:rPr lang="en-US" sz="1250" dirty="0">
                <a:solidFill>
                  <a:srgbClr val="1A2433"/>
                </a:solidFill>
                <a:latin typeface="Calibri" pitchFamily="34" charset="0"/>
                <a:ea typeface="Calibri" pitchFamily="34" charset="-122"/>
                <a:cs typeface="Calibri" pitchFamily="34" charset="-120"/>
              </a:rPr>
              <a:t>the only role that can approve. Approval is what moves a document into the Archive</a:t>
            </a:r>
            <a:endParaRPr lang="en-US" sz="1250" dirty="0"/>
          </a:p>
        </p:txBody>
      </p:sp>
      <p:sp>
        <p:nvSpPr>
          <p:cNvPr id="14" name="Text 10"/>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5/8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777240" y="640080"/>
            <a:ext cx="10058400" cy="685800"/>
          </a:xfrm>
          <a:prstGeom prst="rect">
            <a:avLst/>
          </a:prstGeom>
          <a:noFill/>
          <a:ln/>
        </p:spPr>
        <p:txBody>
          <a:bodyPr wrap="square" lIns="0" tIns="0" rIns="0" bIns="0" rtlCol="0" anchor="ctr"/>
          <a:lstStyle/>
          <a:p>
            <a:pPr algn="l" indent="0" marL="0">
              <a:buNone/>
            </a:pPr>
            <a:r>
              <a:rPr lang="en-US" sz="3300" b="1" dirty="0">
                <a:solidFill>
                  <a:srgbClr val="002452"/>
                </a:solidFill>
                <a:latin typeface="Calibri" pitchFamily="34" charset="0"/>
                <a:ea typeface="Calibri" pitchFamily="34" charset="-122"/>
                <a:cs typeface="Calibri" pitchFamily="34" charset="-120"/>
              </a:rPr>
              <a:t>60 of 60 documents fully correct</a:t>
            </a:r>
            <a:endParaRPr lang="en-US" sz="3300" dirty="0"/>
          </a:p>
        </p:txBody>
      </p:sp>
      <p:sp>
        <p:nvSpPr>
          <p:cNvPr id="3" name="Text 1"/>
          <p:cNvSpPr/>
          <p:nvPr/>
        </p:nvSpPr>
        <p:spPr>
          <a:xfrm>
            <a:off x="777240" y="1371600"/>
            <a:ext cx="10058400" cy="457200"/>
          </a:xfrm>
          <a:prstGeom prst="rect">
            <a:avLst/>
          </a:prstGeom>
          <a:noFill/>
          <a:ln/>
        </p:spPr>
        <p:txBody>
          <a:bodyPr wrap="square" lIns="0" tIns="0" rIns="0" bIns="0" rtlCol="0" anchor="t"/>
          <a:lstStyle/>
          <a:p>
            <a:pPr algn="l" indent="0" marL="0">
              <a:buNone/>
            </a:pPr>
            <a:r>
              <a:rPr lang="en-US" sz="1250" dirty="0">
                <a:solidFill>
                  <a:srgbClr val="44474F"/>
                </a:solidFill>
                <a:latin typeface="Calibri" pitchFamily="34" charset="0"/>
                <a:ea typeface="Calibri" pitchFamily="34" charset="-122"/>
                <a:cs typeface="Calibri" pitchFamily="34" charset="-120"/>
              </a:rPr>
              <a:t>10 fields per document, checked against data/ground_truth.csv. Split: 25 invoices, 20 purchase orders, 15 receipts. Source: data/eval_summary.json, run on 8 July 2026.</a:t>
            </a:r>
            <a:endParaRPr lang="en-US" sz="1250" dirty="0"/>
          </a:p>
        </p:txBody>
      </p:sp>
      <p:pic>
        <p:nvPicPr>
          <p:cNvPr id="4" name="Image 0" descr="/sessions/determined-intelligent-pascal/mnt/outputs/assets/accuracy.png">    </p:cNvPr>
          <p:cNvPicPr>
            <a:picLocks noChangeAspect="1"/>
          </p:cNvPicPr>
          <p:nvPr/>
        </p:nvPicPr>
        <p:blipFill>
          <a:blip r:embed="rId1"/>
          <a:stretch>
            <a:fillRect/>
          </a:stretch>
        </p:blipFill>
        <p:spPr>
          <a:xfrm>
            <a:off x="777240" y="1920240"/>
            <a:ext cx="10607040" cy="3282696"/>
          </a:xfrm>
          <a:prstGeom prst="rect">
            <a:avLst/>
          </a:prstGeom>
        </p:spPr>
      </p:pic>
      <p:sp>
        <p:nvSpPr>
          <p:cNvPr id="5" name="Text 2"/>
          <p:cNvSpPr/>
          <p:nvPr/>
        </p:nvSpPr>
        <p:spPr>
          <a:xfrm>
            <a:off x="777240" y="5349240"/>
            <a:ext cx="1938528" cy="365760"/>
          </a:xfrm>
          <a:prstGeom prst="rect">
            <a:avLst/>
          </a:prstGeom>
          <a:noFill/>
          <a:ln/>
        </p:spPr>
        <p:txBody>
          <a:bodyPr wrap="square" lIns="0" tIns="0" rIns="0" bIns="0" rtlCol="0" anchor="ctr"/>
          <a:lstStyle/>
          <a:p>
            <a:pPr algn="l" indent="0" marL="0">
              <a:buNone/>
            </a:pPr>
            <a:r>
              <a:rPr lang="en-US" sz="2100" b="1" dirty="0">
                <a:solidFill>
                  <a:srgbClr val="15803D"/>
                </a:solidFill>
                <a:latin typeface="Calibri" pitchFamily="34" charset="0"/>
                <a:ea typeface="Calibri" pitchFamily="34" charset="-122"/>
                <a:cs typeface="Calibri" pitchFamily="34" charset="-120"/>
              </a:rPr>
              <a:t>136</a:t>
            </a:r>
            <a:endParaRPr lang="en-US" sz="2100" dirty="0"/>
          </a:p>
        </p:txBody>
      </p:sp>
      <p:sp>
        <p:nvSpPr>
          <p:cNvPr id="6" name="Text 3"/>
          <p:cNvSpPr/>
          <p:nvPr/>
        </p:nvSpPr>
        <p:spPr>
          <a:xfrm>
            <a:off x="777240" y="5715000"/>
            <a:ext cx="1938528" cy="228600"/>
          </a:xfrm>
          <a:prstGeom prst="rect">
            <a:avLst/>
          </a:prstGeom>
          <a:noFill/>
          <a:ln/>
        </p:spPr>
        <p:txBody>
          <a:bodyPr wrap="square" lIns="0" tIns="0" rIns="0" bIns="0" rtlCol="0" anchor="t"/>
          <a:lstStyle/>
          <a:p>
            <a:pPr algn="l" indent="0" marL="0">
              <a:buNone/>
            </a:pPr>
            <a:r>
              <a:rPr lang="en-US" sz="1000" dirty="0">
                <a:solidFill>
                  <a:srgbClr val="44474F"/>
                </a:solidFill>
                <a:latin typeface="Calibri" pitchFamily="34" charset="0"/>
                <a:ea typeface="Calibri" pitchFamily="34" charset="-122"/>
                <a:cs typeface="Calibri" pitchFamily="34" charset="-120"/>
              </a:rPr>
              <a:t>Pass</a:t>
            </a:r>
            <a:endParaRPr lang="en-US" sz="1000" dirty="0"/>
          </a:p>
        </p:txBody>
      </p:sp>
      <p:sp>
        <p:nvSpPr>
          <p:cNvPr id="7" name="Text 4"/>
          <p:cNvSpPr/>
          <p:nvPr/>
        </p:nvSpPr>
        <p:spPr>
          <a:xfrm>
            <a:off x="2898648" y="5349240"/>
            <a:ext cx="1938528" cy="365760"/>
          </a:xfrm>
          <a:prstGeom prst="rect">
            <a:avLst/>
          </a:prstGeom>
          <a:noFill/>
          <a:ln/>
        </p:spPr>
        <p:txBody>
          <a:bodyPr wrap="square" lIns="0" tIns="0" rIns="0" bIns="0" rtlCol="0" anchor="ctr"/>
          <a:lstStyle/>
          <a:p>
            <a:pPr algn="l" indent="0" marL="0">
              <a:buNone/>
            </a:pPr>
            <a:r>
              <a:rPr lang="en-US" sz="2100" b="1" dirty="0">
                <a:solidFill>
                  <a:srgbClr val="B91C1C"/>
                </a:solidFill>
                <a:latin typeface="Calibri" pitchFamily="34" charset="0"/>
                <a:ea typeface="Calibri" pitchFamily="34" charset="-122"/>
                <a:cs typeface="Calibri" pitchFamily="34" charset="-120"/>
              </a:rPr>
              <a:t>2</a:t>
            </a:r>
            <a:endParaRPr lang="en-US" sz="2100" dirty="0"/>
          </a:p>
        </p:txBody>
      </p:sp>
      <p:sp>
        <p:nvSpPr>
          <p:cNvPr id="8" name="Text 5"/>
          <p:cNvSpPr/>
          <p:nvPr/>
        </p:nvSpPr>
        <p:spPr>
          <a:xfrm>
            <a:off x="2898648" y="5715000"/>
            <a:ext cx="1938528" cy="228600"/>
          </a:xfrm>
          <a:prstGeom prst="rect">
            <a:avLst/>
          </a:prstGeom>
          <a:noFill/>
          <a:ln/>
        </p:spPr>
        <p:txBody>
          <a:bodyPr wrap="square" lIns="0" tIns="0" rIns="0" bIns="0" rtlCol="0" anchor="t"/>
          <a:lstStyle/>
          <a:p>
            <a:pPr algn="l" indent="0" marL="0">
              <a:buNone/>
            </a:pPr>
            <a:r>
              <a:rPr lang="en-US" sz="1000" dirty="0">
                <a:solidFill>
                  <a:srgbClr val="44474F"/>
                </a:solidFill>
                <a:latin typeface="Calibri" pitchFamily="34" charset="0"/>
                <a:ea typeface="Calibri" pitchFamily="34" charset="-122"/>
                <a:cs typeface="Calibri" pitchFamily="34" charset="-120"/>
              </a:rPr>
              <a:t>Fail</a:t>
            </a:r>
            <a:endParaRPr lang="en-US" sz="1000" dirty="0"/>
          </a:p>
        </p:txBody>
      </p:sp>
      <p:sp>
        <p:nvSpPr>
          <p:cNvPr id="9" name="Text 6"/>
          <p:cNvSpPr/>
          <p:nvPr/>
        </p:nvSpPr>
        <p:spPr>
          <a:xfrm>
            <a:off x="5020056" y="5349240"/>
            <a:ext cx="1938528" cy="365760"/>
          </a:xfrm>
          <a:prstGeom prst="rect">
            <a:avLst/>
          </a:prstGeom>
          <a:noFill/>
          <a:ln/>
        </p:spPr>
        <p:txBody>
          <a:bodyPr wrap="square" lIns="0" tIns="0" rIns="0" bIns="0" rtlCol="0" anchor="ctr"/>
          <a:lstStyle/>
          <a:p>
            <a:pPr algn="l" indent="0" marL="0">
              <a:buNone/>
            </a:pPr>
            <a:r>
              <a:rPr lang="en-US" sz="2100" b="1" dirty="0">
                <a:solidFill>
                  <a:srgbClr val="B45309"/>
                </a:solidFill>
                <a:latin typeface="Calibri" pitchFamily="34" charset="0"/>
                <a:ea typeface="Calibri" pitchFamily="34" charset="-122"/>
                <a:cs typeface="Calibri" pitchFamily="34" charset="-120"/>
              </a:rPr>
              <a:t>1</a:t>
            </a:r>
            <a:endParaRPr lang="en-US" sz="2100" dirty="0"/>
          </a:p>
        </p:txBody>
      </p:sp>
      <p:sp>
        <p:nvSpPr>
          <p:cNvPr id="10" name="Text 7"/>
          <p:cNvSpPr/>
          <p:nvPr/>
        </p:nvSpPr>
        <p:spPr>
          <a:xfrm>
            <a:off x="5020056" y="5715000"/>
            <a:ext cx="1938528" cy="228600"/>
          </a:xfrm>
          <a:prstGeom prst="rect">
            <a:avLst/>
          </a:prstGeom>
          <a:noFill/>
          <a:ln/>
        </p:spPr>
        <p:txBody>
          <a:bodyPr wrap="square" lIns="0" tIns="0" rIns="0" bIns="0" rtlCol="0" anchor="t"/>
          <a:lstStyle/>
          <a:p>
            <a:pPr algn="l" indent="0" marL="0">
              <a:buNone/>
            </a:pPr>
            <a:r>
              <a:rPr lang="en-US" sz="1000" dirty="0">
                <a:solidFill>
                  <a:srgbClr val="44474F"/>
                </a:solidFill>
                <a:latin typeface="Calibri" pitchFamily="34" charset="0"/>
                <a:ea typeface="Calibri" pitchFamily="34" charset="-122"/>
                <a:cs typeface="Calibri" pitchFamily="34" charset="-120"/>
              </a:rPr>
              <a:t>Not run</a:t>
            </a:r>
            <a:endParaRPr lang="en-US" sz="1000" dirty="0"/>
          </a:p>
        </p:txBody>
      </p:sp>
      <p:sp>
        <p:nvSpPr>
          <p:cNvPr id="11" name="Text 8"/>
          <p:cNvSpPr/>
          <p:nvPr/>
        </p:nvSpPr>
        <p:spPr>
          <a:xfrm>
            <a:off x="7141464" y="5349240"/>
            <a:ext cx="1938528" cy="365760"/>
          </a:xfrm>
          <a:prstGeom prst="rect">
            <a:avLst/>
          </a:prstGeom>
          <a:noFill/>
          <a:ln/>
        </p:spPr>
        <p:txBody>
          <a:bodyPr wrap="square" lIns="0" tIns="0" rIns="0" bIns="0" rtlCol="0" anchor="ctr"/>
          <a:lstStyle/>
          <a:p>
            <a:pPr algn="l" indent="0" marL="0">
              <a:buNone/>
            </a:pPr>
            <a:r>
              <a:rPr lang="en-US" sz="2100" b="1" dirty="0">
                <a:solidFill>
                  <a:srgbClr val="44474F"/>
                </a:solidFill>
                <a:latin typeface="Calibri" pitchFamily="34" charset="0"/>
                <a:ea typeface="Calibri" pitchFamily="34" charset="-122"/>
                <a:cs typeface="Calibri" pitchFamily="34" charset="-120"/>
              </a:rPr>
              <a:t>7</a:t>
            </a:r>
            <a:endParaRPr lang="en-US" sz="2100" dirty="0"/>
          </a:p>
        </p:txBody>
      </p:sp>
      <p:sp>
        <p:nvSpPr>
          <p:cNvPr id="12" name="Text 9"/>
          <p:cNvSpPr/>
          <p:nvPr/>
        </p:nvSpPr>
        <p:spPr>
          <a:xfrm>
            <a:off x="7141464" y="5715000"/>
            <a:ext cx="1938528" cy="228600"/>
          </a:xfrm>
          <a:prstGeom prst="rect">
            <a:avLst/>
          </a:prstGeom>
          <a:noFill/>
          <a:ln/>
        </p:spPr>
        <p:txBody>
          <a:bodyPr wrap="square" lIns="0" tIns="0" rIns="0" bIns="0" rtlCol="0" anchor="t"/>
          <a:lstStyle/>
          <a:p>
            <a:pPr algn="l" indent="0" marL="0">
              <a:buNone/>
            </a:pPr>
            <a:r>
              <a:rPr lang="en-US" sz="1000" dirty="0">
                <a:solidFill>
                  <a:srgbClr val="44474F"/>
                </a:solidFill>
                <a:latin typeface="Calibri" pitchFamily="34" charset="0"/>
                <a:ea typeface="Calibri" pitchFamily="34" charset="-122"/>
                <a:cs typeface="Calibri" pitchFamily="34" charset="-120"/>
              </a:rPr>
              <a:t>Empty</a:t>
            </a:r>
            <a:endParaRPr lang="en-US" sz="1000" dirty="0"/>
          </a:p>
        </p:txBody>
      </p:sp>
      <p:sp>
        <p:nvSpPr>
          <p:cNvPr id="13" name="Text 10"/>
          <p:cNvSpPr/>
          <p:nvPr/>
        </p:nvSpPr>
        <p:spPr>
          <a:xfrm>
            <a:off x="9262872" y="5349240"/>
            <a:ext cx="1938528" cy="365760"/>
          </a:xfrm>
          <a:prstGeom prst="rect">
            <a:avLst/>
          </a:prstGeom>
          <a:noFill/>
          <a:ln/>
        </p:spPr>
        <p:txBody>
          <a:bodyPr wrap="square" lIns="0" tIns="0" rIns="0" bIns="0" rtlCol="0" anchor="ctr"/>
          <a:lstStyle/>
          <a:p>
            <a:pPr algn="l" indent="0" marL="0">
              <a:buNone/>
            </a:pPr>
            <a:r>
              <a:rPr lang="en-US" sz="2100" b="1" dirty="0">
                <a:solidFill>
                  <a:srgbClr val="0051D5"/>
                </a:solidFill>
                <a:latin typeface="Calibri" pitchFamily="34" charset="0"/>
                <a:ea typeface="Calibri" pitchFamily="34" charset="-122"/>
                <a:cs typeface="Calibri" pitchFamily="34" charset="-120"/>
              </a:rPr>
              <a:t>117</a:t>
            </a:r>
            <a:endParaRPr lang="en-US" sz="2100" dirty="0"/>
          </a:p>
        </p:txBody>
      </p:sp>
      <p:sp>
        <p:nvSpPr>
          <p:cNvPr id="14" name="Text 11"/>
          <p:cNvSpPr/>
          <p:nvPr/>
        </p:nvSpPr>
        <p:spPr>
          <a:xfrm>
            <a:off x="9262872" y="5715000"/>
            <a:ext cx="1938528" cy="228600"/>
          </a:xfrm>
          <a:prstGeom prst="rect">
            <a:avLst/>
          </a:prstGeom>
          <a:noFill/>
          <a:ln/>
        </p:spPr>
        <p:txBody>
          <a:bodyPr wrap="square" lIns="0" tIns="0" rIns="0" bIns="0" rtlCol="0" anchor="t"/>
          <a:lstStyle/>
          <a:p>
            <a:pPr algn="l" indent="0" marL="0">
              <a:buNone/>
            </a:pPr>
            <a:r>
              <a:rPr lang="en-US" sz="1000" dirty="0">
                <a:solidFill>
                  <a:srgbClr val="44474F"/>
                </a:solidFill>
                <a:latin typeface="Calibri" pitchFamily="34" charset="0"/>
                <a:ea typeface="Calibri" pitchFamily="34" charset="-122"/>
                <a:cs typeface="Calibri" pitchFamily="34" charset="-120"/>
              </a:rPr>
              <a:t>pytest passed</a:t>
            </a:r>
            <a:endParaRPr lang="en-US" sz="1000" dirty="0"/>
          </a:p>
        </p:txBody>
      </p:sp>
      <p:sp>
        <p:nvSpPr>
          <p:cNvPr id="15" name="Text 12"/>
          <p:cNvSpPr/>
          <p:nvPr/>
        </p:nvSpPr>
        <p:spPr>
          <a:xfrm>
            <a:off x="777240" y="6035040"/>
            <a:ext cx="10607040" cy="274320"/>
          </a:xfrm>
          <a:prstGeom prst="rect">
            <a:avLst/>
          </a:prstGeom>
          <a:noFill/>
          <a:ln/>
        </p:spPr>
        <p:txBody>
          <a:bodyPr wrap="square" lIns="0" tIns="0" rIns="0" bIns="0" rtlCol="0" anchor="t"/>
          <a:lstStyle/>
          <a:p>
            <a:pPr algn="l" indent="0" marL="0">
              <a:buNone/>
            </a:pPr>
            <a:r>
              <a:rPr lang="en-US" sz="950" i="1" dirty="0">
                <a:solidFill>
                  <a:srgbClr val="44474F"/>
                </a:solidFill>
                <a:latin typeface="Calibri" pitchFamily="34" charset="0"/>
                <a:ea typeface="Calibri" pitchFamily="34" charset="-122"/>
                <a:cs typeface="Calibri" pitchFamily="34" charset="-120"/>
              </a:rPr>
              <a:t>147-scenario test plan, 3.Testing Scenario_v3.0.xlsx, 57 screenshots and 2 dated logs as evidence.</a:t>
            </a:r>
            <a:endParaRPr lang="en-US" sz="950" dirty="0"/>
          </a:p>
        </p:txBody>
      </p:sp>
      <p:sp>
        <p:nvSpPr>
          <p:cNvPr id="16" name="Text 13"/>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6/8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Business case</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docs/BUSINESS_CASE.md, conservative assumption of 20 percent of documents reviewed by a human</a:t>
            </a:r>
            <a:endParaRPr lang="en-US" sz="1350" dirty="0"/>
          </a:p>
        </p:txBody>
      </p:sp>
      <p:graphicFrame>
        <p:nvGraphicFramePr>
          <p:cNvPr id="4" name="Chart 0" descr=""/>
          <p:cNvGraphicFramePr/>
          <p:nvPr/>
        </p:nvGraphicFramePr>
        <p:xfrm>
          <a:off x="777240" y="196596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263640" y="2057400"/>
            <a:ext cx="2377440" cy="384048"/>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Rp 5.000.000</a:t>
            </a:r>
            <a:endParaRPr lang="en-US" sz="1500" dirty="0"/>
          </a:p>
        </p:txBody>
      </p:sp>
      <p:sp>
        <p:nvSpPr>
          <p:cNvPr id="6" name="Text 3"/>
          <p:cNvSpPr/>
          <p:nvPr/>
        </p:nvSpPr>
        <p:spPr>
          <a:xfrm>
            <a:off x="8686800" y="2057400"/>
            <a:ext cx="2697480" cy="384048"/>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manual entry cost per month, 1,000 documents keyed in full</a:t>
            </a:r>
            <a:endParaRPr lang="en-US" sz="1100" dirty="0"/>
          </a:p>
        </p:txBody>
      </p:sp>
      <p:sp>
        <p:nvSpPr>
          <p:cNvPr id="7" name="Shape 4"/>
          <p:cNvSpPr/>
          <p:nvPr/>
        </p:nvSpPr>
        <p:spPr>
          <a:xfrm>
            <a:off x="6263640" y="2523744"/>
            <a:ext cx="5120640" cy="0"/>
          </a:xfrm>
          <a:prstGeom prst="line">
            <a:avLst/>
          </a:prstGeom>
          <a:noFill/>
          <a:ln w="9525">
            <a:solidFill>
              <a:srgbClr val="E3E8EF"/>
            </a:solidFill>
            <a:prstDash val="solid"/>
          </a:ln>
        </p:spPr>
      </p:sp>
      <p:sp>
        <p:nvSpPr>
          <p:cNvPr id="8" name="Text 5"/>
          <p:cNvSpPr/>
          <p:nvPr/>
        </p:nvSpPr>
        <p:spPr>
          <a:xfrm>
            <a:off x="6263640" y="2624328"/>
            <a:ext cx="2377440" cy="384048"/>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Rp 500.000</a:t>
            </a:r>
            <a:endParaRPr lang="en-US" sz="1500" dirty="0"/>
          </a:p>
        </p:txBody>
      </p:sp>
      <p:sp>
        <p:nvSpPr>
          <p:cNvPr id="9" name="Text 6"/>
          <p:cNvSpPr/>
          <p:nvPr/>
        </p:nvSpPr>
        <p:spPr>
          <a:xfrm>
            <a:off x="8686800" y="2624328"/>
            <a:ext cx="2697480" cy="384048"/>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cost with DocExtract, 200 documents reviewed at 3 minutes each</a:t>
            </a:r>
            <a:endParaRPr lang="en-US" sz="1100" dirty="0"/>
          </a:p>
        </p:txBody>
      </p:sp>
      <p:sp>
        <p:nvSpPr>
          <p:cNvPr id="10" name="Shape 7"/>
          <p:cNvSpPr/>
          <p:nvPr/>
        </p:nvSpPr>
        <p:spPr>
          <a:xfrm>
            <a:off x="6263640" y="3090672"/>
            <a:ext cx="5120640" cy="0"/>
          </a:xfrm>
          <a:prstGeom prst="line">
            <a:avLst/>
          </a:prstGeom>
          <a:noFill/>
          <a:ln w="9525">
            <a:solidFill>
              <a:srgbClr val="E3E8EF"/>
            </a:solidFill>
            <a:prstDash val="solid"/>
          </a:ln>
        </p:spPr>
      </p:sp>
      <p:sp>
        <p:nvSpPr>
          <p:cNvPr id="11" name="Text 8"/>
          <p:cNvSpPr/>
          <p:nvPr/>
        </p:nvSpPr>
        <p:spPr>
          <a:xfrm>
            <a:off x="6263640" y="3191256"/>
            <a:ext cx="2377440" cy="384048"/>
          </a:xfrm>
          <a:prstGeom prst="rect">
            <a:avLst/>
          </a:prstGeom>
          <a:noFill/>
          <a:ln/>
        </p:spPr>
        <p:txBody>
          <a:bodyPr wrap="square" lIns="0" tIns="0" rIns="0" bIns="0" rtlCol="0" anchor="ctr"/>
          <a:lstStyle/>
          <a:p>
            <a:pPr algn="l" indent="0" marL="0">
              <a:buNone/>
            </a:pPr>
            <a:r>
              <a:rPr lang="en-US" sz="1900" b="1" dirty="0">
                <a:solidFill>
                  <a:srgbClr val="0051D5"/>
                </a:solidFill>
                <a:latin typeface="Calibri" pitchFamily="34" charset="0"/>
                <a:ea typeface="Calibri" pitchFamily="34" charset="-122"/>
                <a:cs typeface="Calibri" pitchFamily="34" charset="-120"/>
              </a:rPr>
              <a:t>Rp 4.500.000</a:t>
            </a:r>
            <a:endParaRPr lang="en-US" sz="1900" dirty="0"/>
          </a:p>
        </p:txBody>
      </p:sp>
      <p:sp>
        <p:nvSpPr>
          <p:cNvPr id="12" name="Text 9"/>
          <p:cNvSpPr/>
          <p:nvPr/>
        </p:nvSpPr>
        <p:spPr>
          <a:xfrm>
            <a:off x="8686800" y="3191256"/>
            <a:ext cx="2697480" cy="384048"/>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saved per month, about 90 percent</a:t>
            </a:r>
            <a:endParaRPr lang="en-US" sz="1100" dirty="0"/>
          </a:p>
        </p:txBody>
      </p:sp>
      <p:sp>
        <p:nvSpPr>
          <p:cNvPr id="13" name="Shape 10"/>
          <p:cNvSpPr/>
          <p:nvPr/>
        </p:nvSpPr>
        <p:spPr>
          <a:xfrm>
            <a:off x="6263640" y="3657600"/>
            <a:ext cx="5120640" cy="0"/>
          </a:xfrm>
          <a:prstGeom prst="line">
            <a:avLst/>
          </a:prstGeom>
          <a:noFill/>
          <a:ln w="9525">
            <a:solidFill>
              <a:srgbClr val="E3E8EF"/>
            </a:solidFill>
            <a:prstDash val="solid"/>
          </a:ln>
        </p:spPr>
      </p:sp>
      <p:sp>
        <p:nvSpPr>
          <p:cNvPr id="14" name="Text 11"/>
          <p:cNvSpPr/>
          <p:nvPr/>
        </p:nvSpPr>
        <p:spPr>
          <a:xfrm>
            <a:off x="6263640" y="3758184"/>
            <a:ext cx="2377440" cy="384048"/>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Rp 54.000.000</a:t>
            </a:r>
            <a:endParaRPr lang="en-US" sz="1500" dirty="0"/>
          </a:p>
        </p:txBody>
      </p:sp>
      <p:sp>
        <p:nvSpPr>
          <p:cNvPr id="15" name="Text 12"/>
          <p:cNvSpPr/>
          <p:nvPr/>
        </p:nvSpPr>
        <p:spPr>
          <a:xfrm>
            <a:off x="8686800" y="3758184"/>
            <a:ext cx="2697480" cy="384048"/>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saved per year</a:t>
            </a:r>
            <a:endParaRPr lang="en-US" sz="1100" dirty="0"/>
          </a:p>
        </p:txBody>
      </p:sp>
      <p:sp>
        <p:nvSpPr>
          <p:cNvPr id="16" name="Shape 13"/>
          <p:cNvSpPr/>
          <p:nvPr/>
        </p:nvSpPr>
        <p:spPr>
          <a:xfrm>
            <a:off x="6263640" y="4224528"/>
            <a:ext cx="5120640" cy="0"/>
          </a:xfrm>
          <a:prstGeom prst="line">
            <a:avLst/>
          </a:prstGeom>
          <a:noFill/>
          <a:ln w="9525">
            <a:solidFill>
              <a:srgbClr val="E3E8EF"/>
            </a:solidFill>
            <a:prstDash val="solid"/>
          </a:ln>
        </p:spPr>
      </p:sp>
      <p:sp>
        <p:nvSpPr>
          <p:cNvPr id="17" name="Text 14"/>
          <p:cNvSpPr/>
          <p:nvPr/>
        </p:nvSpPr>
        <p:spPr>
          <a:xfrm>
            <a:off x="6263640" y="4325112"/>
            <a:ext cx="2377440" cy="384048"/>
          </a:xfrm>
          <a:prstGeom prst="rect">
            <a:avLst/>
          </a:prstGeom>
          <a:noFill/>
          <a:ln/>
        </p:spPr>
        <p:txBody>
          <a:bodyPr wrap="square" lIns="0" tIns="0" rIns="0" bIns="0" rtlCol="0" anchor="ctr"/>
          <a:lstStyle/>
          <a:p>
            <a:pPr algn="l" indent="0" marL="0">
              <a:buNone/>
            </a:pPr>
            <a:r>
              <a:rPr lang="en-US" sz="1500" b="1" dirty="0">
                <a:solidFill>
                  <a:srgbClr val="002452"/>
                </a:solidFill>
                <a:latin typeface="Calibri" pitchFamily="34" charset="0"/>
                <a:ea typeface="Calibri" pitchFamily="34" charset="-122"/>
                <a:cs typeface="Calibri" pitchFamily="34" charset="-120"/>
              </a:rPr>
              <a:t>3.3 months</a:t>
            </a:r>
            <a:endParaRPr lang="en-US" sz="1500" dirty="0"/>
          </a:p>
        </p:txBody>
      </p:sp>
      <p:sp>
        <p:nvSpPr>
          <p:cNvPr id="18" name="Text 15"/>
          <p:cNvSpPr/>
          <p:nvPr/>
        </p:nvSpPr>
        <p:spPr>
          <a:xfrm>
            <a:off x="8686800" y="4325112"/>
            <a:ext cx="2697480" cy="384048"/>
          </a:xfrm>
          <a:prstGeom prst="rect">
            <a:avLst/>
          </a:prstGeom>
          <a:noFill/>
          <a:ln/>
        </p:spPr>
        <p:txBody>
          <a:bodyPr wrap="square" lIns="0" tIns="0" rIns="0" bIns="0" rtlCol="0" anchor="ctr"/>
          <a:lstStyle/>
          <a:p>
            <a:pPr algn="l" indent="0" marL="0">
              <a:buNone/>
            </a:pPr>
            <a:r>
              <a:rPr lang="en-US" sz="1100" dirty="0">
                <a:solidFill>
                  <a:srgbClr val="44474F"/>
                </a:solidFill>
                <a:latin typeface="Calibri" pitchFamily="34" charset="0"/>
                <a:ea typeface="Calibri" pitchFamily="34" charset="-122"/>
                <a:cs typeface="Calibri" pitchFamily="34" charset="-120"/>
              </a:rPr>
              <a:t>payback on the Rp 15.000.000 setup cost</a:t>
            </a:r>
            <a:endParaRPr lang="en-US" sz="1100" dirty="0"/>
          </a:p>
        </p:txBody>
      </p:sp>
      <p:sp>
        <p:nvSpPr>
          <p:cNvPr id="19" name="Text 16"/>
          <p:cNvSpPr/>
          <p:nvPr/>
        </p:nvSpPr>
        <p:spPr>
          <a:xfrm>
            <a:off x="6263640" y="5029200"/>
            <a:ext cx="5120640" cy="731520"/>
          </a:xfrm>
          <a:prstGeom prst="rect">
            <a:avLst/>
          </a:prstGeom>
          <a:noFill/>
          <a:ln/>
        </p:spPr>
        <p:txBody>
          <a:bodyPr wrap="square" lIns="0" tIns="0" rIns="0" bIns="0" rtlCol="0" anchor="t"/>
          <a:lstStyle/>
          <a:p>
            <a:pPr algn="l" indent="0" marL="0">
              <a:buNone/>
            </a:pPr>
            <a:r>
              <a:rPr lang="en-US" sz="1150" dirty="0">
                <a:solidFill>
                  <a:srgbClr val="1A2433"/>
                </a:solidFill>
                <a:latin typeface="Calibri" pitchFamily="34" charset="0"/>
                <a:ea typeface="Calibri" pitchFamily="34" charset="-122"/>
                <a:cs typeface="Calibri" pitchFamily="34" charset="-120"/>
              </a:rPr>
              <a:t>Compute cost is excluded because the model runs locally on existing hardware, so per-document inference cost is close to zero.</a:t>
            </a:r>
            <a:endParaRPr lang="en-US" sz="1150" dirty="0"/>
          </a:p>
        </p:txBody>
      </p:sp>
      <p:sp>
        <p:nvSpPr>
          <p:cNvPr id="20" name="Text 17"/>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7/8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0607040" cy="502920"/>
          </a:xfrm>
          <a:prstGeom prst="rect">
            <a:avLst/>
          </a:prstGeom>
          <a:noFill/>
          <a:ln/>
        </p:spPr>
        <p:txBody>
          <a:bodyPr wrap="square" lIns="0" tIns="0" rIns="0" bIns="0" rtlCol="0" anchor="ctr"/>
          <a:lstStyle/>
          <a:p>
            <a:pPr algn="l" indent="0" marL="0">
              <a:buNone/>
            </a:pPr>
            <a:r>
              <a:rPr lang="en-US" sz="3000" b="1" dirty="0">
                <a:solidFill>
                  <a:srgbClr val="002452"/>
                </a:solidFill>
                <a:latin typeface="Calibri" pitchFamily="34" charset="0"/>
                <a:ea typeface="Calibri" pitchFamily="34" charset="-122"/>
                <a:cs typeface="Calibri" pitchFamily="34" charset="-120"/>
              </a:rPr>
              <a:t>What we are honest about</a:t>
            </a:r>
            <a:endParaRPr lang="en-US" sz="3000" dirty="0"/>
          </a:p>
        </p:txBody>
      </p:sp>
      <p:sp>
        <p:nvSpPr>
          <p:cNvPr id="3" name="Text 1"/>
          <p:cNvSpPr/>
          <p:nvPr/>
        </p:nvSpPr>
        <p:spPr>
          <a:xfrm>
            <a:off x="777240" y="969264"/>
            <a:ext cx="10607040" cy="310896"/>
          </a:xfrm>
          <a:prstGeom prst="rect">
            <a:avLst/>
          </a:prstGeom>
          <a:noFill/>
          <a:ln/>
        </p:spPr>
        <p:txBody>
          <a:bodyPr wrap="square" lIns="0" tIns="0" rIns="0" bIns="0" rtlCol="0" anchor="ctr"/>
          <a:lstStyle/>
          <a:p>
            <a:pPr algn="l" indent="0" marL="0">
              <a:buNone/>
            </a:pPr>
            <a:r>
              <a:rPr lang="en-US" sz="1350" dirty="0">
                <a:solidFill>
                  <a:srgbClr val="44474F"/>
                </a:solidFill>
                <a:latin typeface="Calibri" pitchFamily="34" charset="0"/>
                <a:ea typeface="Calibri" pitchFamily="34" charset="-122"/>
                <a:cs typeface="Calibri" pitchFamily="34" charset="-120"/>
              </a:rPr>
              <a:t>Four things we raise ourselves, before being asked</a:t>
            </a:r>
            <a:endParaRPr lang="en-US" sz="1350" dirty="0"/>
          </a:p>
        </p:txBody>
      </p:sp>
      <p:sp>
        <p:nvSpPr>
          <p:cNvPr id="4" name="Text 2"/>
          <p:cNvSpPr/>
          <p:nvPr/>
        </p:nvSpPr>
        <p:spPr>
          <a:xfrm>
            <a:off x="777240" y="1783080"/>
            <a:ext cx="457200" cy="292608"/>
          </a:xfrm>
          <a:prstGeom prst="rect">
            <a:avLst/>
          </a:prstGeom>
          <a:noFill/>
          <a:ln/>
        </p:spPr>
        <p:txBody>
          <a:bodyPr wrap="square" lIns="0" tIns="0" rIns="0" bIns="0" rtlCol="0" anchor="ctr"/>
          <a:lstStyle/>
          <a:p>
            <a:pPr algn="l" indent="0" marL="0">
              <a:buNone/>
            </a:pPr>
            <a:r>
              <a:rPr lang="en-US" sz="1300" b="1" dirty="0">
                <a:solidFill>
                  <a:srgbClr val="1A2433"/>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280160" y="1783080"/>
            <a:ext cx="10104120" cy="292608"/>
          </a:xfrm>
          <a:prstGeom prst="rect">
            <a:avLst/>
          </a:prstGeom>
          <a:noFill/>
          <a:ln/>
        </p:spPr>
        <p:txBody>
          <a:bodyPr wrap="square" lIns="0" tIns="0" rIns="0" bIns="0" rtlCol="0" anchor="ctr"/>
          <a:lstStyle/>
          <a:p>
            <a:pPr algn="l" indent="0" marL="0">
              <a:buNone/>
            </a:pPr>
            <a:r>
              <a:rPr lang="en-US" sz="1400" b="1" dirty="0">
                <a:solidFill>
                  <a:srgbClr val="002452"/>
                </a:solidFill>
                <a:latin typeface="Calibri" pitchFamily="34" charset="0"/>
                <a:ea typeface="Calibri" pitchFamily="34" charset="-122"/>
                <a:cs typeface="Calibri" pitchFamily="34" charset="-120"/>
              </a:rPr>
              <a:t>100 percent is a ceiling, not real-world performance</a:t>
            </a:r>
            <a:endParaRPr lang="en-US" sz="1400" dirty="0"/>
          </a:p>
        </p:txBody>
      </p:sp>
      <p:sp>
        <p:nvSpPr>
          <p:cNvPr id="6" name="Text 4"/>
          <p:cNvSpPr/>
          <p:nvPr/>
        </p:nvSpPr>
        <p:spPr>
          <a:xfrm>
            <a:off x="1280160" y="2075688"/>
            <a:ext cx="10104120" cy="45720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The evaluation ran on 60 documents from the same set used while designing the prompt. No held-out test set exists yet.</a:t>
            </a:r>
            <a:endParaRPr lang="en-US" sz="1150" dirty="0"/>
          </a:p>
        </p:txBody>
      </p:sp>
      <p:sp>
        <p:nvSpPr>
          <p:cNvPr id="7" name="Shape 5"/>
          <p:cNvSpPr/>
          <p:nvPr/>
        </p:nvSpPr>
        <p:spPr>
          <a:xfrm>
            <a:off x="777240" y="2514600"/>
            <a:ext cx="10607040" cy="0"/>
          </a:xfrm>
          <a:prstGeom prst="line">
            <a:avLst/>
          </a:prstGeom>
          <a:noFill/>
          <a:ln w="9525">
            <a:solidFill>
              <a:srgbClr val="E3E8EF"/>
            </a:solidFill>
            <a:prstDash val="solid"/>
          </a:ln>
        </p:spPr>
      </p:sp>
      <p:sp>
        <p:nvSpPr>
          <p:cNvPr id="8" name="Text 6"/>
          <p:cNvSpPr/>
          <p:nvPr/>
        </p:nvSpPr>
        <p:spPr>
          <a:xfrm>
            <a:off x="777240" y="2606040"/>
            <a:ext cx="457200" cy="292608"/>
          </a:xfrm>
          <a:prstGeom prst="rect">
            <a:avLst/>
          </a:prstGeom>
          <a:noFill/>
          <a:ln/>
        </p:spPr>
        <p:txBody>
          <a:bodyPr wrap="square" lIns="0" tIns="0" rIns="0" bIns="0" rtlCol="0" anchor="ctr"/>
          <a:lstStyle/>
          <a:p>
            <a:pPr algn="l" indent="0" marL="0">
              <a:buNone/>
            </a:pPr>
            <a:r>
              <a:rPr lang="en-US" sz="1300" b="1" dirty="0">
                <a:solidFill>
                  <a:srgbClr val="B91C1C"/>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80160" y="2606040"/>
            <a:ext cx="10104120" cy="292608"/>
          </a:xfrm>
          <a:prstGeom prst="rect">
            <a:avLst/>
          </a:prstGeom>
          <a:noFill/>
          <a:ln/>
        </p:spPr>
        <p:txBody>
          <a:bodyPr wrap="square" lIns="0" tIns="0" rIns="0" bIns="0" rtlCol="0" anchor="ctr"/>
          <a:lstStyle/>
          <a:p>
            <a:pPr algn="l" indent="0" marL="0">
              <a:buNone/>
            </a:pPr>
            <a:r>
              <a:rPr lang="en-US" sz="1400" b="1" dirty="0">
                <a:solidFill>
                  <a:srgbClr val="002452"/>
                </a:solidFill>
                <a:latin typeface="Calibri" pitchFamily="34" charset="0"/>
                <a:ea typeface="Calibri" pitchFamily="34" charset="-122"/>
                <a:cs typeface="Calibri" pitchFamily="34" charset="-120"/>
              </a:rPr>
              <a:t>Two test scenarios failed</a:t>
            </a:r>
            <a:endParaRPr lang="en-US" sz="1400" dirty="0"/>
          </a:p>
        </p:txBody>
      </p:sp>
      <p:sp>
        <p:nvSpPr>
          <p:cNvPr id="10" name="Text 8"/>
          <p:cNvSpPr/>
          <p:nvPr/>
        </p:nvSpPr>
        <p:spPr>
          <a:xfrm>
            <a:off x="1280160" y="2898648"/>
            <a:ext cx="10104120" cy="45720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Multi-page PDF: upload and extraction both run, but only the first page is read. Unsupported file rejection: the behavior does not yet match the design.</a:t>
            </a:r>
            <a:endParaRPr lang="en-US" sz="1150" dirty="0"/>
          </a:p>
        </p:txBody>
      </p:sp>
      <p:sp>
        <p:nvSpPr>
          <p:cNvPr id="11" name="Shape 9"/>
          <p:cNvSpPr/>
          <p:nvPr/>
        </p:nvSpPr>
        <p:spPr>
          <a:xfrm>
            <a:off x="777240" y="3337560"/>
            <a:ext cx="10607040" cy="0"/>
          </a:xfrm>
          <a:prstGeom prst="line">
            <a:avLst/>
          </a:prstGeom>
          <a:noFill/>
          <a:ln w="9525">
            <a:solidFill>
              <a:srgbClr val="E3E8EF"/>
            </a:solidFill>
            <a:prstDash val="solid"/>
          </a:ln>
        </p:spPr>
      </p:sp>
      <p:sp>
        <p:nvSpPr>
          <p:cNvPr id="12" name="Text 10"/>
          <p:cNvSpPr/>
          <p:nvPr/>
        </p:nvSpPr>
        <p:spPr>
          <a:xfrm>
            <a:off x="777240" y="3429000"/>
            <a:ext cx="457200" cy="292608"/>
          </a:xfrm>
          <a:prstGeom prst="rect">
            <a:avLst/>
          </a:prstGeom>
          <a:noFill/>
          <a:ln/>
        </p:spPr>
        <p:txBody>
          <a:bodyPr wrap="square" lIns="0" tIns="0" rIns="0" bIns="0" rtlCol="0" anchor="ctr"/>
          <a:lstStyle/>
          <a:p>
            <a:pPr algn="l" indent="0" marL="0">
              <a:buNone/>
            </a:pPr>
            <a:r>
              <a:rPr lang="en-US" sz="1300" b="1" dirty="0">
                <a:solidFill>
                  <a:srgbClr val="B4530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3429000"/>
            <a:ext cx="10104120" cy="292608"/>
          </a:xfrm>
          <a:prstGeom prst="rect">
            <a:avLst/>
          </a:prstGeom>
          <a:noFill/>
          <a:ln/>
        </p:spPr>
        <p:txBody>
          <a:bodyPr wrap="square" lIns="0" tIns="0" rIns="0" bIns="0" rtlCol="0" anchor="ctr"/>
          <a:lstStyle/>
          <a:p>
            <a:pPr algn="l" indent="0" marL="0">
              <a:buNone/>
            </a:pPr>
            <a:r>
              <a:rPr lang="en-US" sz="1400" b="1" dirty="0">
                <a:solidFill>
                  <a:srgbClr val="002452"/>
                </a:solidFill>
                <a:latin typeface="Calibri" pitchFamily="34" charset="0"/>
                <a:ea typeface="Calibri" pitchFamily="34" charset="-122"/>
                <a:cs typeface="Calibri" pitchFamily="34" charset="-120"/>
              </a:rPr>
              <a:t>7 scenarios have not been run</a:t>
            </a:r>
            <a:endParaRPr lang="en-US" sz="1400" dirty="0"/>
          </a:p>
        </p:txBody>
      </p:sp>
      <p:sp>
        <p:nvSpPr>
          <p:cNvPr id="14" name="Text 12"/>
          <p:cNvSpPr/>
          <p:nvPr/>
        </p:nvSpPr>
        <p:spPr>
          <a:xfrm>
            <a:off x="1280160" y="3721608"/>
            <a:ext cx="10104120" cy="45720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Running them needs either a full 30-minute evaluation pass or the model server switched off.</a:t>
            </a:r>
            <a:endParaRPr lang="en-US" sz="1150" dirty="0"/>
          </a:p>
        </p:txBody>
      </p:sp>
      <p:sp>
        <p:nvSpPr>
          <p:cNvPr id="15" name="Shape 13"/>
          <p:cNvSpPr/>
          <p:nvPr/>
        </p:nvSpPr>
        <p:spPr>
          <a:xfrm>
            <a:off x="777240" y="4160520"/>
            <a:ext cx="10607040" cy="0"/>
          </a:xfrm>
          <a:prstGeom prst="line">
            <a:avLst/>
          </a:prstGeom>
          <a:noFill/>
          <a:ln w="9525">
            <a:solidFill>
              <a:srgbClr val="E3E8EF"/>
            </a:solidFill>
            <a:prstDash val="solid"/>
          </a:ln>
        </p:spPr>
      </p:sp>
      <p:sp>
        <p:nvSpPr>
          <p:cNvPr id="16" name="Text 14"/>
          <p:cNvSpPr/>
          <p:nvPr/>
        </p:nvSpPr>
        <p:spPr>
          <a:xfrm>
            <a:off x="777240" y="4251960"/>
            <a:ext cx="457200" cy="292608"/>
          </a:xfrm>
          <a:prstGeom prst="rect">
            <a:avLst/>
          </a:prstGeom>
          <a:noFill/>
          <a:ln/>
        </p:spPr>
        <p:txBody>
          <a:bodyPr wrap="square" lIns="0" tIns="0" rIns="0" bIns="0" rtlCol="0" anchor="ctr"/>
          <a:lstStyle/>
          <a:p>
            <a:pPr algn="l" indent="0" marL="0">
              <a:buNone/>
            </a:pPr>
            <a:r>
              <a:rPr lang="en-US" sz="1300" b="1" dirty="0">
                <a:solidFill>
                  <a:srgbClr val="44474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280160" y="4251960"/>
            <a:ext cx="10104120" cy="292608"/>
          </a:xfrm>
          <a:prstGeom prst="rect">
            <a:avLst/>
          </a:prstGeom>
          <a:noFill/>
          <a:ln/>
        </p:spPr>
        <p:txBody>
          <a:bodyPr wrap="square" lIns="0" tIns="0" rIns="0" bIns="0" rtlCol="0" anchor="ctr"/>
          <a:lstStyle/>
          <a:p>
            <a:pPr algn="l" indent="0" marL="0">
              <a:buNone/>
            </a:pPr>
            <a:r>
              <a:rPr lang="en-US" sz="1400" b="1" dirty="0">
                <a:solidFill>
                  <a:srgbClr val="002452"/>
                </a:solidFill>
                <a:latin typeface="Calibri" pitchFamily="34" charset="0"/>
                <a:ea typeface="Calibri" pitchFamily="34" charset="-122"/>
                <a:cs typeface="Calibri" pitchFamily="34" charset="-120"/>
              </a:rPr>
              <a:t>The dashboard does not auto-refresh across users</a:t>
            </a:r>
            <a:endParaRPr lang="en-US" sz="1400" dirty="0"/>
          </a:p>
        </p:txBody>
      </p:sp>
      <p:sp>
        <p:nvSpPr>
          <p:cNvPr id="18" name="Text 16"/>
          <p:cNvSpPr/>
          <p:nvPr/>
        </p:nvSpPr>
        <p:spPr>
          <a:xfrm>
            <a:off x="1280160" y="4544568"/>
            <a:ext cx="10104120" cy="457200"/>
          </a:xfrm>
          <a:prstGeom prst="rect">
            <a:avLst/>
          </a:prstGeom>
          <a:noFill/>
          <a:ln/>
        </p:spPr>
        <p:txBody>
          <a:bodyPr wrap="square" lIns="0" tIns="0" rIns="0" bIns="0" rtlCol="0" anchor="t"/>
          <a:lstStyle/>
          <a:p>
            <a:pPr algn="l" indent="0" marL="0">
              <a:buNone/>
            </a:pPr>
            <a:r>
              <a:rPr lang="en-US" sz="1150" dirty="0">
                <a:solidFill>
                  <a:srgbClr val="44474F"/>
                </a:solidFill>
                <a:latin typeface="Calibri" pitchFamily="34" charset="0"/>
                <a:ea typeface="Calibri" pitchFamily="34" charset="-122"/>
                <a:cs typeface="Calibri" pitchFamily="34" charset="-120"/>
              </a:rPr>
              <a:t>Numbers are pulled when a page opens and when a user acts. This is a deliberate choice, not a missed bug.</a:t>
            </a:r>
            <a:endParaRPr lang="en-US" sz="1150" dirty="0"/>
          </a:p>
        </p:txBody>
      </p:sp>
      <p:sp>
        <p:nvSpPr>
          <p:cNvPr id="19" name="Text 17"/>
          <p:cNvSpPr/>
          <p:nvPr/>
        </p:nvSpPr>
        <p:spPr>
          <a:xfrm>
            <a:off x="777240" y="5349240"/>
            <a:ext cx="10607040" cy="457200"/>
          </a:xfrm>
          <a:prstGeom prst="rect">
            <a:avLst/>
          </a:prstGeom>
          <a:noFill/>
          <a:ln/>
        </p:spPr>
        <p:txBody>
          <a:bodyPr wrap="square" lIns="0" tIns="0" rIns="0" bIns="0" rtlCol="0" anchor="ctr"/>
          <a:lstStyle/>
          <a:p>
            <a:pPr algn="l" indent="0" marL="0">
              <a:buNone/>
            </a:pPr>
            <a:r>
              <a:rPr lang="en-US" sz="2000" b="1" dirty="0">
                <a:solidFill>
                  <a:srgbClr val="002452"/>
                </a:solidFill>
                <a:latin typeface="Calibri" pitchFamily="34" charset="0"/>
                <a:ea typeface="Calibri" pitchFamily="34" charset="-122"/>
                <a:cs typeface="Calibri" pitchFamily="34" charset="-120"/>
              </a:rPr>
              <a:t>Thank you. From here, we continue in the live application.</a:t>
            </a:r>
            <a:endParaRPr lang="en-US" sz="2000" dirty="0"/>
          </a:p>
        </p:txBody>
      </p:sp>
      <p:sp>
        <p:nvSpPr>
          <p:cNvPr id="20" name="Text 18"/>
          <p:cNvSpPr/>
          <p:nvPr/>
        </p:nvSpPr>
        <p:spPr>
          <a:xfrm>
            <a:off x="777240" y="5852160"/>
            <a:ext cx="10607040" cy="320040"/>
          </a:xfrm>
          <a:prstGeom prst="rect">
            <a:avLst/>
          </a:prstGeom>
          <a:noFill/>
          <a:ln/>
        </p:spPr>
        <p:txBody>
          <a:bodyPr wrap="square" lIns="0" tIns="0" rIns="0" bIns="0" rtlCol="0" anchor="ctr"/>
          <a:lstStyle/>
          <a:p>
            <a:pPr algn="l" indent="0" marL="0">
              <a:buNone/>
            </a:pPr>
            <a:r>
              <a:rPr lang="en-US" sz="1300" dirty="0">
                <a:solidFill>
                  <a:srgbClr val="44474F"/>
                </a:solidFill>
                <a:latin typeface="Calibri" pitchFamily="34" charset="0"/>
                <a:ea typeface="Calibri" pitchFamily="34" charset="-122"/>
                <a:cs typeface="Calibri" pitchFamily="34" charset="-120"/>
              </a:rPr>
              <a:t>Questions are welcome now or during the walkthrough.</a:t>
            </a:r>
            <a:endParaRPr lang="en-US" sz="1300" dirty="0"/>
          </a:p>
        </p:txBody>
      </p:sp>
      <p:sp>
        <p:nvSpPr>
          <p:cNvPr id="21" name="Text 19"/>
          <p:cNvSpPr/>
          <p:nvPr/>
        </p:nvSpPr>
        <p:spPr>
          <a:xfrm>
            <a:off x="777240" y="6400800"/>
            <a:ext cx="10607040" cy="256032"/>
          </a:xfrm>
          <a:prstGeom prst="rect">
            <a:avLst/>
          </a:prstGeom>
          <a:noFill/>
          <a:ln/>
        </p:spPr>
        <p:txBody>
          <a:bodyPr wrap="square" lIns="0" tIns="0" rIns="0" bIns="0" rtlCol="0" anchor="ctr"/>
          <a:lstStyle/>
          <a:p>
            <a:pPr algn="l" indent="0" marL="0">
              <a:buNone/>
            </a:pPr>
            <a:r>
              <a:rPr lang="en-US" sz="900" dirty="0">
                <a:solidFill>
                  <a:srgbClr val="8A9099"/>
                </a:solidFill>
                <a:latin typeface="Calibri" pitchFamily="34" charset="0"/>
                <a:ea typeface="Calibri" pitchFamily="34" charset="-122"/>
                <a:cs typeface="Calibri" pitchFamily="34" charset="-120"/>
              </a:rPr>
              <a:t>DocExtract  8/8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DocExtract - Final Presentation</dc:title>
  <dc:subject>PptxGenJS Presentation</dc:subject>
  <dc:creator>DocExtract Team</dc:creator>
  <cp:lastModifiedBy>DocExtract Team</cp:lastModifiedBy>
  <cp:revision>1</cp:revision>
  <dcterms:created xsi:type="dcterms:W3CDTF">2026-08-03T14:31:43Z</dcterms:created>
  <dcterms:modified xsi:type="dcterms:W3CDTF">2026-08-03T14:31:43Z</dcterms:modified>
</cp:coreProperties>
</file>