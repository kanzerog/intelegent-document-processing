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singkat. Sebut nama tim dan siapa ngerjain apa, 15 detik saja. Langsung bilang: yang mau kami tunjukkan hari ini bukan demo AI generik — ini pipeline yang jalan penuh di mesin sendiri, tanpa API cloud. Tahan angka akurasi, jangan dibocorkan di slide judul.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Jangan jualan AI dulu. Bangun dulu rasa sakitnya. Tekankan bahwa 6 menit per dokumen itu angka konservatif untuk invoice dengan line item. Kalau ada dosen dari sisi bisnis, ini slide tempat mereka mulai ikut. Sebutkan bahwa semua asumsi ini bisa diubah di ROI calculator dalam aplikasi, jadi bukan angka mati.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Berhenti sebentar di sini. Biarkan angkanya diam dua detik sebelum lanjut. Satu kalimat saja: ini yang kami coba tekan. Jangan tambah penjelasan.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peta jalan buat sisa presentasi — bilang eksplisit bahwa slide berikutnya akan mengikuti urutan ini. Poin yang harus keluar dari mulut: dari enam langkah, hanya dua yang butuh manusia, dan itupun cuma untuk dokumen yang ditandai validation. Kalau ada yang tanya kenapa approve dipisah dari review, jawab di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untuk reviewer teknis. Tekankan alasan batas itu ada, bukan cuma bahwa batas itu ada: kami sempat ganti model tiga kali selama pengembangan, dan frontend tidak pernah ikut berubah. Kalau ditanya kenapa SQLite dan bukan Postgres — jawab jujur: skala proyek ini satu mesin, dan cache-nya yang penting, bukan concurrency.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Kalau memungkinkan, jalankan demo live di sini alih-alih screenshot — satu invoice, tekan Extract, tunjukkan progress bar. Kalau tidak, tunjuk field yang paling gampang salah: total_amount dan line_items. Sebut bahwa hasil di-cache di SQLite, jadi buka ulang dokumen tidak memanggil model lagi. Jangan lupa: temperature 0, supaya hasilnya deterministik dan bisa dievaluasi.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pembeda arsitektural yang paling sering ditanya. Pipeline OCR klasik punya dua sumber error yang menumpuk: OCR salah baca, lalu parser salah petakan. Kami memotong satu tahap. Trade-off-nya juga sebut jujur: kalau model salah, tidak ada karakter mentah untuk di-debug — makanya validation layer jadi penting.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deliverable yang dinilai, jadi jangan buru-buru. Poin utama: validation bukan sekadar cek null. Yang bikin susah adalah rule PPN 11% — receipt tidak punya tax line sama sekali, jadi rule yang sama tidak boleh dipaksakan ke semua tipe dokumen. Contoh selisih Rp 1 di kanan itu kasus nyata dari pembulatan pajak; ceritakan bahwa awalnya kami pakai perbandingan persis, lalu sadar butuh toleransi pembulatan.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kenapa approve dipisah dari koreksi: yang mengoreksi angka tidak boleh jadi yang menyetujui angka itu, itu pemisahan tugas dasar di finance. Angkat sendiri keterbatasannya — ini role switcher, bukan auth. Lebih baik kita yang bilang daripada ditanya. Kalau ada waktu, tunjukkan alur reject di aplikasi.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ini yang biasanya dilewat deck mahasiswa, padahal ini yang ditanya stakeholder: setelah di-approve, datanya ke mana. Tekankan mock API endpoint sebagai titik integrasi ke ERP nyata. Kalau ada pertanyaan soal audit, kaitkan ke approved_at: setiap baris ekspor bisa ditelusuri balik ke dokumen sumbernya dan ke siapa yang menyetujui.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 judulnya apa adanya, jangan bilang 'akurasi kami 100 persen'. Sebut jumlah dokumen dan jumlah field lebih dulu, baru persentasenya. Poin buyer 45/60 itu penting untuk ditunjukkan — itu bukti kami memeriksa dataset sendiri, bukan cuma menjalankan skrip. Dan langsung sambungkan ke slide berikutnya sebelum ada yang sempat bertanya.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paling penting untuk kredibilitas. Sampaikan dengan tenang, bukan minta maaf. Kalimat kuncinya: kami tahu angka ini batas atas, dan kami tahu cara mengukurnya dengan benar. Reviewer teknis hampir pasti sudah menyiapkan pertanyaan ini sejak slide sebelumnya — dengan mengangkatnya duluan, pertanyaannya berubah jadi diskusi soal metodologi. Kalau ditanya kenapa tidak dibikin held-out set sekarang: jawab jujur, waktu dan ukuran dataset, dan itu item pertama di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Untuk audiens bisnis, ini slide penutup yang sebenarnya. Jangan berhenti di 90 persen — angka yang bikin orang percaya justru skenario pesimis 50 persen, karena artinya kasusnya tetap masuk bahkan kalau model kami setengah gagal. Kalau ada yang menyerang review rate 20 persen, akui: itu fallback konservatif, dan angka sebenarnya harus datang dari eval held-out yang tadi disebut di slide keterbatasan. Tawarkan buka ROI calculator langsung kalau mereka mau uji asumsi.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favorit reviewer teknis, karena ini satu-satunya yang menunjukkan proses berpikir, bukan hasil akhir. Ceritakan urutannya: kami lihat angka aneh di eval, kami kira bug parsing, ternyata model memang salah baca. Tekankan kenapa regex ditolak — itu keputusan desain, bukan kemalasan. Penemuan zoom 3.0 datang belakangan dan mengejutkan: sebagian kesalahan ternyata soal resolusi, bukan soal bahasa. Kalau ditanya soal pengujian ulang, sebut bahwa dua perbaikan ini diuji terpisah supaya jelas mana yang berkontribusi.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item pertama, bukan item terakhir — evaluasi held-out adalah jawaban langsung atas keterbatasan yang tadi diangkat, dan itu menunjukkan kami tahu apa yang belum selesai. Kalimat penutup dibaca apa adanya, lalu berhenti. Jangan tambah ucapan terima kasih, langsung buka sesi tanya jawab. Siapkan aplikasi dalam keadaan sudah jalan di layar untuk demo dadakan.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452"/>
        </a:solidFill>
      </p:bgPr>
    </p:bg>
    <p:spTree>
      <p:nvGrpSpPr>
        <p:cNvPr id="1" name=""/>
        <p:cNvGrpSpPr/>
        <p:nvPr/>
      </p:nvGrpSpPr>
      <p:grpSpPr>
        <a:xfrm>
          <a:off x="0" y="0"/>
          <a:ext cx="0" cy="0"/>
          <a:chOff x="0" y="0"/>
          <a:chExt cx="0" cy="0"/>
        </a:xfrm>
      </p:grpSpPr>
      <p:sp>
        <p:nvSpPr>
          <p:cNvPr id="2" name="Shape 0"/>
          <p:cNvSpPr/>
          <p:nvPr/>
        </p:nvSpPr>
        <p:spPr>
          <a:xfrm>
            <a:off x="8595360" y="-1737360"/>
            <a:ext cx="5120640" cy="5120640"/>
          </a:xfrm>
          <a:prstGeom prst="ellipse">
            <a:avLst/>
          </a:prstGeom>
          <a:solidFill>
            <a:srgbClr val="002452"/>
          </a:solidFill>
          <a:ln w="31750">
            <a:solidFill>
              <a:srgbClr val="0E366B"/>
            </a:solidFill>
            <a:prstDash val="solid"/>
          </a:ln>
        </p:spPr>
      </p:sp>
      <p:sp>
        <p:nvSpPr>
          <p:cNvPr id="3" name="Text 1"/>
          <p:cNvSpPr/>
          <p:nvPr/>
        </p:nvSpPr>
        <p:spPr>
          <a:xfrm>
            <a:off x="822960" y="3063240"/>
            <a:ext cx="9144000" cy="91440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DocExtract</a:t>
            </a:r>
            <a:endParaRPr lang="en-US" sz="5400" dirty="0"/>
          </a:p>
        </p:txBody>
      </p:sp>
      <p:sp>
        <p:nvSpPr>
          <p:cNvPr id="4" name="Text 2"/>
          <p:cNvSpPr/>
          <p:nvPr/>
        </p:nvSpPr>
        <p:spPr>
          <a:xfrm>
            <a:off x="822960" y="3977640"/>
            <a:ext cx="7863840" cy="822960"/>
          </a:xfrm>
          <a:prstGeom prst="rect">
            <a:avLst/>
          </a:prstGeom>
          <a:noFill/>
          <a:ln/>
        </p:spPr>
        <p:txBody>
          <a:bodyPr wrap="square" lIns="0" tIns="0" rIns="0" bIns="0" rtlCol="0" anchor="t"/>
          <a:lstStyle/>
          <a:p>
            <a:pPr indent="0" marL="0">
              <a:lnSpc>
                <a:spcPts val="2600"/>
              </a:lnSpc>
              <a:buNone/>
            </a:pPr>
            <a:r>
              <a:rPr lang="en-US" sz="1700" dirty="0">
                <a:solidFill>
                  <a:srgbClr val="C3D1E6"/>
                </a:solidFill>
                <a:latin typeface="Calibri" pitchFamily="34" charset="0"/>
                <a:ea typeface="Calibri" pitchFamily="34" charset="-122"/>
                <a:cs typeface="Calibri" pitchFamily="34" charset="-120"/>
              </a:rPr>
              <a:t>Intelligent Document Processing — invoice, purchase order, receipt.</a:t>
            </a:r>
            <a:endParaRPr lang="en-US" sz="1700" dirty="0"/>
          </a:p>
          <a:p>
            <a:pPr indent="0" marL="0">
              <a:lnSpc>
                <a:spcPts val="2600"/>
              </a:lnSpc>
              <a:buNone/>
            </a:pPr>
            <a:r>
              <a:rPr lang="en-US" sz="1700" dirty="0">
                <a:solidFill>
                  <a:srgbClr val="C3D1E6"/>
                </a:solidFill>
                <a:latin typeface="Calibri" pitchFamily="34" charset="0"/>
                <a:ea typeface="Calibri" pitchFamily="34" charset="-122"/>
                <a:cs typeface="Calibri" pitchFamily="34" charset="-120"/>
              </a:rPr>
              <a:t>Upload, extract, validate, review, approve, export. Semua jalan lokal.</a:t>
            </a:r>
            <a:endParaRPr lang="en-US" sz="1700" dirty="0"/>
          </a:p>
        </p:txBody>
      </p:sp>
      <p:sp>
        <p:nvSpPr>
          <p:cNvPr id="5" name="Shape 3"/>
          <p:cNvSpPr/>
          <p:nvPr/>
        </p:nvSpPr>
        <p:spPr>
          <a:xfrm>
            <a:off x="822960" y="5074920"/>
            <a:ext cx="3840480" cy="0"/>
          </a:xfrm>
          <a:prstGeom prst="line">
            <a:avLst/>
          </a:prstGeom>
          <a:noFill/>
          <a:ln w="12700">
            <a:solidFill>
              <a:srgbClr val="1B3A6B"/>
            </a:solidFill>
            <a:prstDash val="solid"/>
          </a:ln>
        </p:spPr>
      </p:sp>
      <p:sp>
        <p:nvSpPr>
          <p:cNvPr id="6" name="Text 4"/>
          <p:cNvSpPr/>
          <p:nvPr/>
        </p:nvSpPr>
        <p:spPr>
          <a:xfrm>
            <a:off x="822960" y="5257800"/>
            <a:ext cx="8229600" cy="1188720"/>
          </a:xfrm>
          <a:prstGeom prst="rect">
            <a:avLst/>
          </a:prstGeom>
          <a:noFill/>
          <a:ln/>
        </p:spPr>
        <p:txBody>
          <a:bodyPr wrap="square" lIns="0" tIns="0" rIns="0" bIns="0" rtlCol="0" anchor="t"/>
          <a:lstStyle/>
          <a:p>
            <a:pPr indent="0" marL="0">
              <a:lnSpc>
                <a:spcPts val="1900"/>
              </a:lnSpc>
              <a:buNone/>
            </a:pPr>
            <a:r>
              <a:rPr lang="en-US" sz="1300" b="1" dirty="0">
                <a:solidFill>
                  <a:srgbClr val="FFFFFF"/>
                </a:solidFill>
                <a:latin typeface="Calibri" pitchFamily="34" charset="0"/>
                <a:ea typeface="Calibri" pitchFamily="34" charset="-122"/>
                <a:cs typeface="Calibri" pitchFamily="34" charset="-120"/>
              </a:rPr>
              <a:t>Fazza Arrantisi</a:t>
            </a:r>
            <a:pPr indent="0" marL="0">
              <a:lnSpc>
                <a:spcPts val="1900"/>
              </a:lnSpc>
              <a:buNone/>
            </a:pPr>
            <a:r>
              <a:rPr lang="en-US" sz="1300" dirty="0">
                <a:solidFill>
                  <a:srgbClr val="8FA6C6"/>
                </a:solidFill>
                <a:latin typeface="Calibri" pitchFamily="34" charset="0"/>
                <a:ea typeface="Calibri" pitchFamily="34" charset="-122"/>
                <a:cs typeface="Calibri" pitchFamily="34" charset="-120"/>
              </a:rPr>
              <a:t>  data, dokumentasi, business case
</a:t>
            </a:r>
            <a:pPr indent="0" marL="0">
              <a:lnSpc>
                <a:spcPts val="1900"/>
              </a:lnSpc>
              <a:buNone/>
            </a:pPr>
            <a:r>
              <a:rPr lang="en-US" sz="1300" b="1" dirty="0">
                <a:solidFill>
                  <a:srgbClr val="FFFFFF"/>
                </a:solidFill>
                <a:latin typeface="Calibri" pitchFamily="34" charset="0"/>
                <a:ea typeface="Calibri" pitchFamily="34" charset="-122"/>
                <a:cs typeface="Calibri" pitchFamily="34" charset="-120"/>
              </a:rPr>
              <a:t>Fadhil</a:t>
            </a:r>
            <a:pPr indent="0" marL="0">
              <a:lnSpc>
                <a:spcPts val="1900"/>
              </a:lnSpc>
              <a:buNone/>
            </a:pPr>
            <a:r>
              <a:rPr lang="en-US" sz="1300" dirty="0">
                <a:solidFill>
                  <a:srgbClr val="8FA6C6"/>
                </a:solidFill>
                <a:latin typeface="Calibri" pitchFamily="34" charset="0"/>
                <a:ea typeface="Calibri" pitchFamily="34" charset="-122"/>
                <a:cs typeface="Calibri" pitchFamily="34" charset="-120"/>
              </a:rPr>
              <a:t>  lead dev — extraction, validation, backend, auth, RAG
</a:t>
            </a:r>
            <a:pPr indent="0" marL="0">
              <a:lnSpc>
                <a:spcPts val="1900"/>
              </a:lnSpc>
              <a:buNone/>
            </a:pPr>
            <a:r>
              <a:rPr lang="en-US" sz="1300" b="1" dirty="0">
                <a:solidFill>
                  <a:srgbClr val="FFFFFF"/>
                </a:solidFill>
                <a:latin typeface="Calibri" pitchFamily="34" charset="0"/>
                <a:ea typeface="Calibri" pitchFamily="34" charset="-122"/>
                <a:cs typeface="Calibri" pitchFamily="34" charset="-120"/>
              </a:rPr>
              <a:t>Gifari Madia</a:t>
            </a:r>
            <a:pPr indent="0" marL="0">
              <a:lnSpc>
                <a:spcPts val="1900"/>
              </a:lnSpc>
              <a:buNone/>
            </a:pPr>
            <a:r>
              <a:rPr lang="en-US" sz="1300" dirty="0">
                <a:solidFill>
                  <a:srgbClr val="8FA6C6"/>
                </a:solidFill>
                <a:latin typeface="Calibri" pitchFamily="34" charset="0"/>
                <a:ea typeface="Calibri" pitchFamily="34" charset="-122"/>
                <a:cs typeface="Calibri" pitchFamily="34" charset="-120"/>
              </a:rPr>
              <a:t>  frontend/UI, konfigurasi LM Studio
</a:t>
            </a:r>
            <a:pPr indent="0" marL="0">
              <a:lnSpc>
                <a:spcPts val="1900"/>
              </a:lnSpc>
              <a:buNone/>
            </a:pPr>
            <a:r>
              <a:rPr lang="en-US" sz="1300" b="1" dirty="0">
                <a:solidFill>
                  <a:srgbClr val="FFFFFF"/>
                </a:solidFill>
                <a:latin typeface="Calibri" pitchFamily="34" charset="0"/>
                <a:ea typeface="Calibri" pitchFamily="34" charset="-122"/>
                <a:cs typeface="Calibri" pitchFamily="34" charset="-120"/>
              </a:rPr>
              <a:t>Yazid</a:t>
            </a:r>
            <a:pPr indent="0" marL="0">
              <a:lnSpc>
                <a:spcPts val="1900"/>
              </a:lnSpc>
              <a:buNone/>
            </a:pPr>
            <a:r>
              <a:rPr lang="en-US" sz="1300" dirty="0">
                <a:solidFill>
                  <a:srgbClr val="8FA6C6"/>
                </a:solidFill>
                <a:latin typeface="Calibri" pitchFamily="34" charset="0"/>
                <a:ea typeface="Calibri" pitchFamily="34" charset="-122"/>
                <a:cs typeface="Calibri" pitchFamily="34" charset="-120"/>
              </a:rPr>
              <a:t>  evaluation, performance</a:t>
            </a:r>
            <a:endParaRPr lang="en-US" sz="1300" dirty="0"/>
          </a:p>
        </p:txBody>
      </p:sp>
      <p:sp>
        <p:nvSpPr>
          <p:cNvPr id="8" name="Text 5"/>
          <p:cNvSpPr/>
          <p:nvPr/>
        </p:nvSpPr>
        <p:spPr>
          <a:xfrm>
            <a:off x="11155680" y="6327648"/>
            <a:ext cx="54864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274320"/>
            <a:ext cx="10561320" cy="237744"/>
          </a:xfrm>
          <a:prstGeom prst="rect">
            <a:avLst/>
          </a:prstGeom>
          <a:noFill/>
          <a:ln/>
        </p:spPr>
        <p:txBody>
          <a:bodyPr wrap="square" lIns="0" tIns="0" rIns="0" bIns="0" rtlCol="0" anchor="t"/>
          <a:lstStyle/>
          <a:p>
            <a:pPr indent="0" marL="0">
              <a:buNone/>
            </a:pPr>
            <a:r>
              <a:rPr lang="en-US" sz="1100" b="1" spc="140" kern="0" dirty="0">
                <a:solidFill>
                  <a:srgbClr val="747780"/>
                </a:solidFill>
                <a:latin typeface="Calibri" pitchFamily="34" charset="0"/>
                <a:ea typeface="Calibri" pitchFamily="34" charset="-122"/>
                <a:cs typeface="Calibri" pitchFamily="34" charset="-120"/>
              </a:rPr>
              <a:t>MASALAH</a:t>
            </a:r>
            <a:endParaRPr lang="en-US" sz="1100" dirty="0"/>
          </a:p>
        </p:txBody>
      </p:sp>
      <p:sp>
        <p:nvSpPr>
          <p:cNvPr id="3" name="Text 1"/>
          <p:cNvSpPr/>
          <p:nvPr/>
        </p:nvSpPr>
        <p:spPr>
          <a:xfrm>
            <a:off x="822960" y="566928"/>
            <a:ext cx="10561320" cy="566928"/>
          </a:xfrm>
          <a:prstGeom prst="rect">
            <a:avLst/>
          </a:prstGeom>
          <a:noFill/>
          <a:ln/>
        </p:spPr>
        <p:txBody>
          <a:bodyPr wrap="square" lIns="0" tIns="0" rIns="0" bIns="0" rtlCol="0" anchor="t"/>
          <a:lstStyle/>
          <a:p>
            <a:pPr algn="l" indent="0" marL="0">
              <a:buNone/>
            </a:pPr>
            <a:r>
              <a:rPr lang="en-US" sz="3000" b="1" dirty="0">
                <a:solidFill>
                  <a:srgbClr val="002452"/>
                </a:solidFill>
                <a:latin typeface="Calibri" pitchFamily="34" charset="0"/>
                <a:ea typeface="Calibri" pitchFamily="34" charset="-122"/>
                <a:cs typeface="Calibri" pitchFamily="34" charset="-120"/>
              </a:rPr>
              <a:t>Tim finance masih mengetik ulang dokumen satu per satu</a:t>
            </a:r>
            <a:endParaRPr lang="en-US" sz="3000" dirty="0"/>
          </a:p>
        </p:txBody>
      </p:sp>
      <p:sp>
        <p:nvSpPr>
          <p:cNvPr id="4" name="Text 2"/>
          <p:cNvSpPr/>
          <p:nvPr/>
        </p:nvSpPr>
        <p:spPr>
          <a:xfrm>
            <a:off x="822960" y="1600200"/>
            <a:ext cx="5760720" cy="2377440"/>
          </a:xfrm>
          <a:prstGeom prst="rect">
            <a:avLst/>
          </a:prstGeom>
          <a:noFill/>
          <a:ln/>
        </p:spPr>
        <p:txBody>
          <a:bodyPr wrap="square" lIns="0" tIns="0" rIns="0" bIns="0" rtlCol="0" anchor="t"/>
          <a:lstStyle/>
          <a:p>
            <a:pPr indent="0" marL="0">
              <a:lnSpc>
                <a:spcPts val="2400"/>
              </a:lnSpc>
              <a:buNone/>
            </a:pPr>
            <a:r>
              <a:rPr lang="en-US" sz="1600" dirty="0">
                <a:solidFill>
                  <a:srgbClr val="191C1E"/>
                </a:solidFill>
                <a:latin typeface="Calibri" pitchFamily="34" charset="0"/>
                <a:ea typeface="Calibri" pitchFamily="34" charset="-122"/>
                <a:cs typeface="Calibri" pitchFamily="34" charset="-120"/>
              </a:rPr>
              <a:t>Invoice, purchase order, dan receipt datang sebagai PDF atau foto. Isinya dipindahkan ke sistem dengan tangan: nomor dokumen, vendor, tanggal, subtotal, pajak, total, lalu setiap baris item.</a:t>
            </a:r>
            <a:endParaRPr lang="en-US" sz="1600" dirty="0"/>
          </a:p>
          <a:p>
            <a:pPr indent="0" marL="0">
              <a:lnSpc>
                <a:spcPts val="2400"/>
              </a:lnSpc>
              <a:buNone/>
            </a:pPr>
            <a:endParaRPr lang="en-US" sz="1600" dirty="0"/>
          </a:p>
          <a:p>
            <a:pPr indent="0" marL="0">
              <a:lnSpc>
                <a:spcPts val="2400"/>
              </a:lnSpc>
              <a:buNone/>
            </a:pPr>
            <a:r>
              <a:rPr lang="en-US" sz="1600" dirty="0">
                <a:solidFill>
                  <a:srgbClr val="191C1E"/>
                </a:solidFill>
                <a:latin typeface="Calibri" pitchFamily="34" charset="0"/>
                <a:ea typeface="Calibri" pitchFamily="34" charset="-122"/>
                <a:cs typeface="Calibri" pitchFamily="34" charset="-120"/>
              </a:rPr>
              <a:t>Biayanya tetap, tidak peduli dokumennya rapi atau berantakan. Dan biaya itu naik lurus mengikuti volume.</a:t>
            </a:r>
            <a:endParaRPr lang="en-US" sz="1600" dirty="0"/>
          </a:p>
        </p:txBody>
      </p:sp>
      <p:sp>
        <p:nvSpPr>
          <p:cNvPr id="5" name="Text 3"/>
          <p:cNvSpPr/>
          <p:nvPr/>
        </p:nvSpPr>
        <p:spPr>
          <a:xfrm>
            <a:off x="7223760" y="1691640"/>
            <a:ext cx="1920240" cy="384048"/>
          </a:xfrm>
          <a:prstGeom prst="rect">
            <a:avLst/>
          </a:prstGeom>
          <a:noFill/>
          <a:ln/>
        </p:spPr>
        <p:txBody>
          <a:bodyPr wrap="square" lIns="0" tIns="0" rIns="0" bIns="0" rtlCol="0" anchor="ctr"/>
          <a:lstStyle/>
          <a:p>
            <a:pPr indent="0" marL="0">
              <a:buNone/>
            </a:pPr>
            <a:r>
              <a:rPr lang="en-US" sz="1300" dirty="0">
                <a:solidFill>
                  <a:srgbClr val="44474F"/>
                </a:solidFill>
                <a:latin typeface="Calibri" pitchFamily="34" charset="0"/>
                <a:ea typeface="Calibri" pitchFamily="34" charset="-122"/>
                <a:cs typeface="Calibri" pitchFamily="34" charset="-120"/>
              </a:rPr>
              <a:t>Volume</a:t>
            </a:r>
            <a:endParaRPr lang="en-US" sz="1300" dirty="0"/>
          </a:p>
        </p:txBody>
      </p:sp>
      <p:sp>
        <p:nvSpPr>
          <p:cNvPr id="6" name="Text 4"/>
          <p:cNvSpPr/>
          <p:nvPr/>
        </p:nvSpPr>
        <p:spPr>
          <a:xfrm>
            <a:off x="9144000" y="1691640"/>
            <a:ext cx="2240280" cy="384048"/>
          </a:xfrm>
          <a:prstGeom prst="rect">
            <a:avLst/>
          </a:prstGeom>
          <a:noFill/>
          <a:ln/>
        </p:spPr>
        <p:txBody>
          <a:bodyPr wrap="square" lIns="0" tIns="0" rIns="0" bIns="0" rtlCol="0" anchor="ctr"/>
          <a:lstStyle/>
          <a:p>
            <a:pPr algn="r" indent="0" marL="0">
              <a:buNone/>
            </a:pPr>
            <a:r>
              <a:rPr lang="en-US" sz="1300" dirty="0">
                <a:solidFill>
                  <a:srgbClr val="191C1E"/>
                </a:solidFill>
                <a:latin typeface="Calibri" pitchFamily="34" charset="0"/>
                <a:ea typeface="Calibri" pitchFamily="34" charset="-122"/>
                <a:cs typeface="Calibri" pitchFamily="34" charset="-120"/>
              </a:rPr>
              <a:t>1.000 dokumen / bulan</a:t>
            </a:r>
            <a:endParaRPr lang="en-US" sz="1300" dirty="0"/>
          </a:p>
        </p:txBody>
      </p:sp>
      <p:sp>
        <p:nvSpPr>
          <p:cNvPr id="7" name="Shape 5"/>
          <p:cNvSpPr/>
          <p:nvPr/>
        </p:nvSpPr>
        <p:spPr>
          <a:xfrm>
            <a:off x="7223760" y="2121408"/>
            <a:ext cx="4160520" cy="0"/>
          </a:xfrm>
          <a:prstGeom prst="line">
            <a:avLst/>
          </a:prstGeom>
          <a:noFill/>
          <a:ln w="9525">
            <a:solidFill>
              <a:srgbClr val="E3E8EF"/>
            </a:solidFill>
            <a:prstDash val="solid"/>
          </a:ln>
        </p:spPr>
      </p:sp>
      <p:sp>
        <p:nvSpPr>
          <p:cNvPr id="8" name="Text 6"/>
          <p:cNvSpPr/>
          <p:nvPr/>
        </p:nvSpPr>
        <p:spPr>
          <a:xfrm>
            <a:off x="7223760" y="2167128"/>
            <a:ext cx="1920240" cy="384048"/>
          </a:xfrm>
          <a:prstGeom prst="rect">
            <a:avLst/>
          </a:prstGeom>
          <a:noFill/>
          <a:ln/>
        </p:spPr>
        <p:txBody>
          <a:bodyPr wrap="square" lIns="0" tIns="0" rIns="0" bIns="0" rtlCol="0" anchor="ctr"/>
          <a:lstStyle/>
          <a:p>
            <a:pPr indent="0" marL="0">
              <a:buNone/>
            </a:pPr>
            <a:r>
              <a:rPr lang="en-US" sz="1300" dirty="0">
                <a:solidFill>
                  <a:srgbClr val="44474F"/>
                </a:solidFill>
                <a:latin typeface="Calibri" pitchFamily="34" charset="0"/>
                <a:ea typeface="Calibri" pitchFamily="34" charset="-122"/>
                <a:cs typeface="Calibri" pitchFamily="34" charset="-120"/>
              </a:rPr>
              <a:t>Waktu per dokumen</a:t>
            </a:r>
            <a:endParaRPr lang="en-US" sz="1300" dirty="0"/>
          </a:p>
        </p:txBody>
      </p:sp>
      <p:sp>
        <p:nvSpPr>
          <p:cNvPr id="9" name="Text 7"/>
          <p:cNvSpPr/>
          <p:nvPr/>
        </p:nvSpPr>
        <p:spPr>
          <a:xfrm>
            <a:off x="9144000" y="2167128"/>
            <a:ext cx="2240280" cy="384048"/>
          </a:xfrm>
          <a:prstGeom prst="rect">
            <a:avLst/>
          </a:prstGeom>
          <a:noFill/>
          <a:ln/>
        </p:spPr>
        <p:txBody>
          <a:bodyPr wrap="square" lIns="0" tIns="0" rIns="0" bIns="0" rtlCol="0" anchor="ctr"/>
          <a:lstStyle/>
          <a:p>
            <a:pPr algn="r" indent="0" marL="0">
              <a:buNone/>
            </a:pPr>
            <a:r>
              <a:rPr lang="en-US" sz="1300" dirty="0">
                <a:solidFill>
                  <a:srgbClr val="191C1E"/>
                </a:solidFill>
                <a:latin typeface="Calibri" pitchFamily="34" charset="0"/>
                <a:ea typeface="Calibri" pitchFamily="34" charset="-122"/>
                <a:cs typeface="Calibri" pitchFamily="34" charset="-120"/>
              </a:rPr>
              <a:t>6 menit (header + line items)</a:t>
            </a:r>
            <a:endParaRPr lang="en-US" sz="1300" dirty="0"/>
          </a:p>
        </p:txBody>
      </p:sp>
      <p:sp>
        <p:nvSpPr>
          <p:cNvPr id="10" name="Shape 8"/>
          <p:cNvSpPr/>
          <p:nvPr/>
        </p:nvSpPr>
        <p:spPr>
          <a:xfrm>
            <a:off x="7223760" y="2596896"/>
            <a:ext cx="4160520" cy="0"/>
          </a:xfrm>
          <a:prstGeom prst="line">
            <a:avLst/>
          </a:prstGeom>
          <a:noFill/>
          <a:ln w="9525">
            <a:solidFill>
              <a:srgbClr val="E3E8EF"/>
            </a:solidFill>
            <a:prstDash val="solid"/>
          </a:ln>
        </p:spPr>
      </p:sp>
      <p:sp>
        <p:nvSpPr>
          <p:cNvPr id="11" name="Text 9"/>
          <p:cNvSpPr/>
          <p:nvPr/>
        </p:nvSpPr>
        <p:spPr>
          <a:xfrm>
            <a:off x="7223760" y="2642616"/>
            <a:ext cx="1920240" cy="384048"/>
          </a:xfrm>
          <a:prstGeom prst="rect">
            <a:avLst/>
          </a:prstGeom>
          <a:noFill/>
          <a:ln/>
        </p:spPr>
        <p:txBody>
          <a:bodyPr wrap="square" lIns="0" tIns="0" rIns="0" bIns="0" rtlCol="0" anchor="ctr"/>
          <a:lstStyle/>
          <a:p>
            <a:pPr indent="0" marL="0">
              <a:buNone/>
            </a:pPr>
            <a:r>
              <a:rPr lang="en-US" sz="1300" dirty="0">
                <a:solidFill>
                  <a:srgbClr val="44474F"/>
                </a:solidFill>
                <a:latin typeface="Calibri" pitchFamily="34" charset="0"/>
                <a:ea typeface="Calibri" pitchFamily="34" charset="-122"/>
                <a:cs typeface="Calibri" pitchFamily="34" charset="-120"/>
              </a:rPr>
              <a:t>Biaya staf</a:t>
            </a:r>
            <a:endParaRPr lang="en-US" sz="1300" dirty="0"/>
          </a:p>
        </p:txBody>
      </p:sp>
      <p:sp>
        <p:nvSpPr>
          <p:cNvPr id="12" name="Text 10"/>
          <p:cNvSpPr/>
          <p:nvPr/>
        </p:nvSpPr>
        <p:spPr>
          <a:xfrm>
            <a:off x="9144000" y="2642616"/>
            <a:ext cx="2240280" cy="384048"/>
          </a:xfrm>
          <a:prstGeom prst="rect">
            <a:avLst/>
          </a:prstGeom>
          <a:noFill/>
          <a:ln/>
        </p:spPr>
        <p:txBody>
          <a:bodyPr wrap="square" lIns="0" tIns="0" rIns="0" bIns="0" rtlCol="0" anchor="ctr"/>
          <a:lstStyle/>
          <a:p>
            <a:pPr algn="r" indent="0" marL="0">
              <a:buNone/>
            </a:pPr>
            <a:r>
              <a:rPr lang="en-US" sz="1300" dirty="0">
                <a:solidFill>
                  <a:srgbClr val="191C1E"/>
                </a:solidFill>
                <a:latin typeface="Calibri" pitchFamily="34" charset="0"/>
                <a:ea typeface="Calibri" pitchFamily="34" charset="-122"/>
                <a:cs typeface="Calibri" pitchFamily="34" charset="-120"/>
              </a:rPr>
              <a:t>Rp 50.000 / jam</a:t>
            </a:r>
            <a:endParaRPr lang="en-US" sz="1300" dirty="0"/>
          </a:p>
        </p:txBody>
      </p:sp>
      <p:sp>
        <p:nvSpPr>
          <p:cNvPr id="13" name="Shape 11"/>
          <p:cNvSpPr/>
          <p:nvPr/>
        </p:nvSpPr>
        <p:spPr>
          <a:xfrm>
            <a:off x="7223760" y="3072384"/>
            <a:ext cx="4160520" cy="0"/>
          </a:xfrm>
          <a:prstGeom prst="line">
            <a:avLst/>
          </a:prstGeom>
          <a:noFill/>
          <a:ln w="9525">
            <a:solidFill>
              <a:srgbClr val="E3E8EF"/>
            </a:solidFill>
            <a:prstDash val="solid"/>
          </a:ln>
        </p:spPr>
      </p:sp>
      <p:sp>
        <p:nvSpPr>
          <p:cNvPr id="14" name="Text 12"/>
          <p:cNvSpPr/>
          <p:nvPr/>
        </p:nvSpPr>
        <p:spPr>
          <a:xfrm>
            <a:off x="7223760" y="3118104"/>
            <a:ext cx="1920240" cy="384048"/>
          </a:xfrm>
          <a:prstGeom prst="rect">
            <a:avLst/>
          </a:prstGeom>
          <a:noFill/>
          <a:ln/>
        </p:spPr>
        <p:txBody>
          <a:bodyPr wrap="square" lIns="0" tIns="0" rIns="0" bIns="0" rtlCol="0" anchor="ctr"/>
          <a:lstStyle/>
          <a:p>
            <a:pPr indent="0" marL="0">
              <a:buNone/>
            </a:pPr>
            <a:r>
              <a:rPr lang="en-US" sz="1300" dirty="0">
                <a:solidFill>
                  <a:srgbClr val="44474F"/>
                </a:solidFill>
                <a:latin typeface="Calibri" pitchFamily="34" charset="0"/>
                <a:ea typeface="Calibri" pitchFamily="34" charset="-122"/>
                <a:cs typeface="Calibri" pitchFamily="34" charset="-120"/>
              </a:rPr>
              <a:t>Biaya bulanan</a:t>
            </a:r>
            <a:endParaRPr lang="en-US" sz="1300" dirty="0"/>
          </a:p>
        </p:txBody>
      </p:sp>
      <p:sp>
        <p:nvSpPr>
          <p:cNvPr id="15" name="Text 13"/>
          <p:cNvSpPr/>
          <p:nvPr/>
        </p:nvSpPr>
        <p:spPr>
          <a:xfrm>
            <a:off x="9144000" y="3118104"/>
            <a:ext cx="2240280" cy="384048"/>
          </a:xfrm>
          <a:prstGeom prst="rect">
            <a:avLst/>
          </a:prstGeom>
          <a:noFill/>
          <a:ln/>
        </p:spPr>
        <p:txBody>
          <a:bodyPr wrap="square" lIns="0" tIns="0" rIns="0" bIns="0" rtlCol="0" anchor="ctr"/>
          <a:lstStyle/>
          <a:p>
            <a:pPr algn="r" indent="0" marL="0">
              <a:buNone/>
            </a:pPr>
            <a:r>
              <a:rPr lang="en-US" sz="1400" b="1" dirty="0">
                <a:solidFill>
                  <a:srgbClr val="002452"/>
                </a:solidFill>
                <a:latin typeface="Calibri" pitchFamily="34" charset="0"/>
                <a:ea typeface="Calibri" pitchFamily="34" charset="-122"/>
                <a:cs typeface="Calibri" pitchFamily="34" charset="-120"/>
              </a:rPr>
              <a:t>Rp 5.000.000</a:t>
            </a:r>
            <a:endParaRPr lang="en-US" sz="1400" dirty="0"/>
          </a:p>
        </p:txBody>
      </p:sp>
      <p:sp>
        <p:nvSpPr>
          <p:cNvPr id="16" name="Shape 14"/>
          <p:cNvSpPr/>
          <p:nvPr/>
        </p:nvSpPr>
        <p:spPr>
          <a:xfrm>
            <a:off x="7223760" y="3547872"/>
            <a:ext cx="4160520" cy="0"/>
          </a:xfrm>
          <a:prstGeom prst="line">
            <a:avLst/>
          </a:prstGeom>
          <a:noFill/>
          <a:ln w="9525">
            <a:solidFill>
              <a:srgbClr val="E3E8EF"/>
            </a:solidFill>
            <a:prstDash val="solid"/>
          </a:ln>
        </p:spPr>
      </p:sp>
      <p:sp>
        <p:nvSpPr>
          <p:cNvPr id="17" name="Text 15"/>
          <p:cNvSpPr/>
          <p:nvPr/>
        </p:nvSpPr>
        <p:spPr>
          <a:xfrm>
            <a:off x="7223760" y="3666744"/>
            <a:ext cx="4160520" cy="274320"/>
          </a:xfrm>
          <a:prstGeom prst="rect">
            <a:avLst/>
          </a:prstGeom>
          <a:noFill/>
          <a:ln/>
        </p:spPr>
        <p:txBody>
          <a:bodyPr wrap="square" lIns="0" tIns="0" rIns="0" bIns="0" rtlCol="0" anchor="ctr"/>
          <a:lstStyle/>
          <a:p>
            <a:pPr algn="r" indent="0" marL="0">
              <a:buNone/>
            </a:pPr>
            <a:r>
              <a:rPr lang="en-US" sz="1000" dirty="0">
                <a:solidFill>
                  <a:srgbClr val="747780"/>
                </a:solidFill>
                <a:latin typeface="Calibri" pitchFamily="34" charset="0"/>
                <a:ea typeface="Calibri" pitchFamily="34" charset="-122"/>
                <a:cs typeface="Calibri" pitchFamily="34" charset="-120"/>
              </a:rPr>
              <a:t>Asumsi default, docs/BUSINESS_CASE.md</a:t>
            </a:r>
            <a:endParaRPr lang="en-US" sz="1000" dirty="0"/>
          </a:p>
        </p:txBody>
      </p:sp>
      <p:sp>
        <p:nvSpPr>
          <p:cNvPr id="18" name="Text 16"/>
          <p:cNvSpPr/>
          <p:nvPr/>
        </p:nvSpPr>
        <p:spPr>
          <a:xfrm>
            <a:off x="822960" y="4480560"/>
            <a:ext cx="7498080" cy="1280160"/>
          </a:xfrm>
          <a:prstGeom prst="rect">
            <a:avLst/>
          </a:prstGeom>
          <a:noFill/>
          <a:ln/>
        </p:spPr>
        <p:txBody>
          <a:bodyPr wrap="square" lIns="0" tIns="0" rIns="0" bIns="0" rtlCol="0" anchor="t"/>
          <a:lstStyle/>
          <a:p>
            <a:pPr indent="0" marL="0">
              <a:lnSpc>
                <a:spcPts val="2400"/>
              </a:lnSpc>
              <a:buNone/>
            </a:pPr>
            <a:r>
              <a:rPr lang="en-US" sz="1500" dirty="0">
                <a:solidFill>
                  <a:srgbClr val="44474F"/>
                </a:solidFill>
                <a:latin typeface="Calibri" pitchFamily="34" charset="0"/>
                <a:ea typeface="Calibri" pitchFamily="34" charset="-122"/>
                <a:cs typeface="Calibri" pitchFamily="34" charset="-120"/>
              </a:rPr>
              <a:t>Tiga hal yang ikut rusak selain biaya: salah ketik angka baru ketahuan waktu rekonsiliasi, tutup buku molor karena antrean dokumen, dan tidak ada jejak audit yang menghubungkan angka di sistem ke baris aslinya di dokumen.</a:t>
            </a:r>
            <a:endParaRPr lang="en-US" sz="1500" dirty="0"/>
          </a:p>
        </p:txBody>
      </p:sp>
      <p:sp>
        <p:nvSpPr>
          <p:cNvPr id="20" name="Text 17"/>
          <p:cNvSpPr/>
          <p:nvPr/>
        </p:nvSpPr>
        <p:spPr>
          <a:xfrm>
            <a:off x="11155680" y="6327648"/>
            <a:ext cx="54864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2452"/>
        </a:solidFill>
      </p:bgPr>
    </p:bg>
    <p:spTree>
      <p:nvGrpSpPr>
        <p:cNvPr id="1" name=""/>
        <p:cNvGrpSpPr/>
        <p:nvPr/>
      </p:nvGrpSpPr>
      <p:grpSpPr>
        <a:xfrm>
          <a:off x="0" y="0"/>
          <a:ext cx="0" cy="0"/>
          <a:chOff x="0" y="0"/>
          <a:chExt cx="0" cy="0"/>
        </a:xfrm>
      </p:grpSpPr>
      <p:sp>
        <p:nvSpPr>
          <p:cNvPr id="2" name="Text 0"/>
          <p:cNvSpPr/>
          <p:nvPr/>
        </p:nvSpPr>
        <p:spPr>
          <a:xfrm>
            <a:off x="822960" y="2331720"/>
            <a:ext cx="10058400" cy="1371600"/>
          </a:xfrm>
          <a:prstGeom prst="rect">
            <a:avLst/>
          </a:prstGeom>
          <a:noFill/>
          <a:ln/>
        </p:spPr>
        <p:txBody>
          <a:bodyPr wrap="square" lIns="0" tIns="0" rIns="0" bIns="0" rtlCol="0" anchor="ctr"/>
          <a:lstStyle/>
          <a:p>
            <a:pPr indent="0" marL="0">
              <a:buNone/>
            </a:pPr>
            <a:r>
              <a:rPr lang="en-US" sz="8800" b="1" dirty="0">
                <a:solidFill>
                  <a:srgbClr val="FFFFFF"/>
                </a:solidFill>
                <a:latin typeface="Calibri" pitchFamily="34" charset="0"/>
                <a:ea typeface="Calibri" pitchFamily="34" charset="-122"/>
                <a:cs typeface="Calibri" pitchFamily="34" charset="-120"/>
              </a:rPr>
              <a:t>Rp 5.000.000</a:t>
            </a:r>
            <a:endParaRPr lang="en-US" sz="8800" dirty="0"/>
          </a:p>
        </p:txBody>
      </p:sp>
      <p:sp>
        <p:nvSpPr>
          <p:cNvPr id="3" name="Text 1"/>
          <p:cNvSpPr/>
          <p:nvPr/>
        </p:nvSpPr>
        <p:spPr>
          <a:xfrm>
            <a:off x="822960" y="4069080"/>
            <a:ext cx="7680960" cy="822960"/>
          </a:xfrm>
          <a:prstGeom prst="rect">
            <a:avLst/>
          </a:prstGeom>
          <a:noFill/>
          <a:ln/>
        </p:spPr>
        <p:txBody>
          <a:bodyPr wrap="square" lIns="0" tIns="0" rIns="0" bIns="0" rtlCol="0" anchor="t"/>
          <a:lstStyle/>
          <a:p>
            <a:pPr indent="0" marL="0">
              <a:lnSpc>
                <a:spcPts val="2800"/>
              </a:lnSpc>
              <a:buNone/>
            </a:pPr>
            <a:r>
              <a:rPr lang="en-US" sz="1900" dirty="0">
                <a:solidFill>
                  <a:srgbClr val="9FB4D4"/>
                </a:solidFill>
                <a:latin typeface="Calibri" pitchFamily="34" charset="0"/>
                <a:ea typeface="Calibri" pitchFamily="34" charset="-122"/>
                <a:cs typeface="Calibri" pitchFamily="34" charset="-120"/>
              </a:rPr>
              <a:t>per bulan, hanya untuk memindahkan angka yang sudah tercetak di dokumen ke dalam sistem.</a:t>
            </a:r>
            <a:endParaRPr lang="en-US" sz="1900" dirty="0"/>
          </a:p>
        </p:txBody>
      </p:sp>
      <p:sp>
        <p:nvSpPr>
          <p:cNvPr id="5" name="Text 2"/>
          <p:cNvSpPr/>
          <p:nvPr/>
        </p:nvSpPr>
        <p:spPr>
          <a:xfrm>
            <a:off x="11155680" y="6327648"/>
            <a:ext cx="54864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274320"/>
            <a:ext cx="10561320" cy="237744"/>
          </a:xfrm>
          <a:prstGeom prst="rect">
            <a:avLst/>
          </a:prstGeom>
          <a:noFill/>
          <a:ln/>
        </p:spPr>
        <p:txBody>
          <a:bodyPr wrap="square" lIns="0" tIns="0" rIns="0" bIns="0" rtlCol="0" anchor="t"/>
          <a:lstStyle/>
          <a:p>
            <a:pPr indent="0" marL="0">
              <a:buNone/>
            </a:pPr>
            <a:r>
              <a:rPr lang="en-US" sz="1100" b="1" spc="140" kern="0" dirty="0">
                <a:solidFill>
                  <a:srgbClr val="747780"/>
                </a:solidFill>
                <a:latin typeface="Calibri" pitchFamily="34" charset="0"/>
                <a:ea typeface="Calibri" pitchFamily="34" charset="-122"/>
                <a:cs typeface="Calibri" pitchFamily="34" charset="-120"/>
              </a:rPr>
              <a:t>SOLUSI</a:t>
            </a:r>
            <a:endParaRPr lang="en-US" sz="1100" dirty="0"/>
          </a:p>
        </p:txBody>
      </p:sp>
      <p:sp>
        <p:nvSpPr>
          <p:cNvPr id="3" name="Text 1"/>
          <p:cNvSpPr/>
          <p:nvPr/>
        </p:nvSpPr>
        <p:spPr>
          <a:xfrm>
            <a:off x="822960" y="566928"/>
            <a:ext cx="10561320" cy="566928"/>
          </a:xfrm>
          <a:prstGeom prst="rect">
            <a:avLst/>
          </a:prstGeom>
          <a:noFill/>
          <a:ln/>
        </p:spPr>
        <p:txBody>
          <a:bodyPr wrap="square" lIns="0" tIns="0" rIns="0" bIns="0" rtlCol="0" anchor="t"/>
          <a:lstStyle/>
          <a:p>
            <a:pPr algn="l" indent="0" marL="0">
              <a:buNone/>
            </a:pPr>
            <a:r>
              <a:rPr lang="en-US" sz="3000" b="1" dirty="0">
                <a:solidFill>
                  <a:srgbClr val="002452"/>
                </a:solidFill>
                <a:latin typeface="Calibri" pitchFamily="34" charset="0"/>
                <a:ea typeface="Calibri" pitchFamily="34" charset="-122"/>
                <a:cs typeface="Calibri" pitchFamily="34" charset="-120"/>
              </a:rPr>
              <a:t>Satu pipeline, enam langkah, dua di antaranya butuh manusia</a:t>
            </a:r>
            <a:endParaRPr lang="en-US" sz="3000" dirty="0"/>
          </a:p>
        </p:txBody>
      </p:sp>
      <p:sp>
        <p:nvSpPr>
          <p:cNvPr id="4" name="Text 2"/>
          <p:cNvSpPr/>
          <p:nvPr/>
        </p:nvSpPr>
        <p:spPr>
          <a:xfrm>
            <a:off x="822960" y="1572768"/>
            <a:ext cx="8412480" cy="822960"/>
          </a:xfrm>
          <a:prstGeom prst="rect">
            <a:avLst/>
          </a:prstGeom>
          <a:noFill/>
          <a:ln/>
        </p:spPr>
        <p:txBody>
          <a:bodyPr wrap="square" lIns="0" tIns="0" rIns="0" bIns="0" rtlCol="0" anchor="t"/>
          <a:lstStyle/>
          <a:p>
            <a:pPr indent="0" marL="0">
              <a:lnSpc>
                <a:spcPts val="2400"/>
              </a:lnSpc>
              <a:buNone/>
            </a:pPr>
            <a:r>
              <a:rPr lang="en-US" sz="1600" dirty="0">
                <a:solidFill>
                  <a:srgbClr val="44474F"/>
                </a:solidFill>
                <a:latin typeface="Calibri" pitchFamily="34" charset="0"/>
                <a:ea typeface="Calibri" pitchFamily="34" charset="-122"/>
                <a:cs typeface="Calibri" pitchFamily="34" charset="-120"/>
              </a:rPr>
              <a:t>User mengunggah dokumen. Vision model membacanya langsung dan mengembalikan JSON terstruktur. Business rules memeriksa hasilnya. Manusia hanya menyentuh yang ditandai.</a:t>
            </a:r>
            <a:endParaRPr lang="en-US" sz="1600" dirty="0"/>
          </a:p>
        </p:txBody>
      </p:sp>
      <p:sp>
        <p:nvSpPr>
          <p:cNvPr id="5" name="Shape 3"/>
          <p:cNvSpPr/>
          <p:nvPr/>
        </p:nvSpPr>
        <p:spPr>
          <a:xfrm>
            <a:off x="822960" y="2788920"/>
            <a:ext cx="1572768" cy="1371600"/>
          </a:xfrm>
          <a:prstGeom prst="rect">
            <a:avLst/>
          </a:prstGeom>
          <a:solidFill>
            <a:srgbClr val="FFFFFF"/>
          </a:solidFill>
          <a:ln w="9525">
            <a:solidFill>
              <a:srgbClr val="002452"/>
            </a:solidFill>
            <a:prstDash val="solid"/>
          </a:ln>
        </p:spPr>
      </p:sp>
      <p:sp>
        <p:nvSpPr>
          <p:cNvPr id="6" name="Text 4"/>
          <p:cNvSpPr/>
          <p:nvPr/>
        </p:nvSpPr>
        <p:spPr>
          <a:xfrm>
            <a:off x="932688" y="2935224"/>
            <a:ext cx="1353312" cy="310896"/>
          </a:xfrm>
          <a:prstGeom prst="rect">
            <a:avLst/>
          </a:prstGeom>
          <a:noFill/>
          <a:ln/>
        </p:spPr>
        <p:txBody>
          <a:bodyPr wrap="square" lIns="0" tIns="0" rIns="0" bIns="0" rtlCol="0" anchor="ctr"/>
          <a:lstStyle/>
          <a:p>
            <a:pPr indent="0" marL="0">
              <a:buNone/>
            </a:pPr>
            <a:r>
              <a:rPr lang="en-US" sz="1500" b="1" dirty="0">
                <a:solidFill>
                  <a:srgbClr val="002452"/>
                </a:solidFill>
                <a:latin typeface="Calibri" pitchFamily="34" charset="0"/>
                <a:ea typeface="Calibri" pitchFamily="34" charset="-122"/>
                <a:cs typeface="Calibri" pitchFamily="34" charset="-120"/>
              </a:rPr>
              <a:t>Upload</a:t>
            </a:r>
            <a:endParaRPr lang="en-US" sz="1500" dirty="0"/>
          </a:p>
        </p:txBody>
      </p:sp>
      <p:sp>
        <p:nvSpPr>
          <p:cNvPr id="7" name="Text 5"/>
          <p:cNvSpPr/>
          <p:nvPr/>
        </p:nvSpPr>
        <p:spPr>
          <a:xfrm>
            <a:off x="932688" y="3291840"/>
            <a:ext cx="1353312" cy="731520"/>
          </a:xfrm>
          <a:prstGeom prst="rect">
            <a:avLst/>
          </a:prstGeom>
          <a:noFill/>
          <a:ln/>
        </p:spPr>
        <p:txBody>
          <a:bodyPr wrap="square" lIns="0" tIns="0" rIns="0" bIns="0" rtlCol="0" anchor="t"/>
          <a:lstStyle/>
          <a:p>
            <a:pPr indent="0" marL="0">
              <a:lnSpc>
                <a:spcPts val="1400"/>
              </a:lnSpc>
              <a:buNone/>
            </a:pPr>
            <a:r>
              <a:rPr lang="en-US" sz="1050" dirty="0">
                <a:solidFill>
                  <a:srgbClr val="44474F"/>
                </a:solidFill>
                <a:latin typeface="Calibri" pitchFamily="34" charset="0"/>
                <a:ea typeface="Calibri" pitchFamily="34" charset="-122"/>
                <a:cs typeface="Calibri" pitchFamily="34" charset="-120"/>
              </a:rPr>
              <a:t>PDF / gambar,</a:t>
            </a:r>
            <a:endParaRPr lang="en-US" sz="1050" dirty="0"/>
          </a:p>
          <a:p>
            <a:pPr indent="0" marL="0">
              <a:lnSpc>
                <a:spcPts val="1400"/>
              </a:lnSpc>
              <a:buNone/>
            </a:pPr>
            <a:r>
              <a:rPr lang="en-US" sz="1050" dirty="0">
                <a:solidFill>
                  <a:srgbClr val="44474F"/>
                </a:solidFill>
                <a:latin typeface="Calibri" pitchFamily="34" charset="0"/>
                <a:ea typeface="Calibri" pitchFamily="34" charset="-122"/>
                <a:cs typeface="Calibri" pitchFamily="34" charset="-120"/>
              </a:rPr>
              <a:t>satuan atau batch</a:t>
            </a:r>
            <a:endParaRPr lang="en-US" sz="1050" dirty="0"/>
          </a:p>
        </p:txBody>
      </p:sp>
      <p:sp>
        <p:nvSpPr>
          <p:cNvPr id="8" name="Shape 6"/>
          <p:cNvSpPr/>
          <p:nvPr/>
        </p:nvSpPr>
        <p:spPr>
          <a:xfrm>
            <a:off x="2432304" y="3474720"/>
            <a:ext cx="146304" cy="0"/>
          </a:xfrm>
          <a:prstGeom prst="line">
            <a:avLst/>
          </a:prstGeom>
          <a:noFill/>
          <a:ln w="12700">
            <a:solidFill>
              <a:srgbClr val="747780"/>
            </a:solidFill>
            <a:prstDash val="solid"/>
            <a:tailEnd type="triangle"/>
          </a:ln>
        </p:spPr>
      </p:sp>
      <p:sp>
        <p:nvSpPr>
          <p:cNvPr id="9" name="Shape 7"/>
          <p:cNvSpPr/>
          <p:nvPr/>
        </p:nvSpPr>
        <p:spPr>
          <a:xfrm>
            <a:off x="2615184" y="2788920"/>
            <a:ext cx="1572768" cy="1371600"/>
          </a:xfrm>
          <a:prstGeom prst="rect">
            <a:avLst/>
          </a:prstGeom>
          <a:solidFill>
            <a:srgbClr val="FFFFFF"/>
          </a:solidFill>
          <a:ln w="9525">
            <a:solidFill>
              <a:srgbClr val="002452"/>
            </a:solidFill>
            <a:prstDash val="solid"/>
          </a:ln>
        </p:spPr>
      </p:sp>
      <p:sp>
        <p:nvSpPr>
          <p:cNvPr id="10" name="Text 8"/>
          <p:cNvSpPr/>
          <p:nvPr/>
        </p:nvSpPr>
        <p:spPr>
          <a:xfrm>
            <a:off x="2724912" y="2935224"/>
            <a:ext cx="1353312" cy="310896"/>
          </a:xfrm>
          <a:prstGeom prst="rect">
            <a:avLst/>
          </a:prstGeom>
          <a:noFill/>
          <a:ln/>
        </p:spPr>
        <p:txBody>
          <a:bodyPr wrap="square" lIns="0" tIns="0" rIns="0" bIns="0" rtlCol="0" anchor="ctr"/>
          <a:lstStyle/>
          <a:p>
            <a:pPr indent="0" marL="0">
              <a:buNone/>
            </a:pPr>
            <a:r>
              <a:rPr lang="en-US" sz="1500" b="1" dirty="0">
                <a:solidFill>
                  <a:srgbClr val="002452"/>
                </a:solidFill>
                <a:latin typeface="Calibri" pitchFamily="34" charset="0"/>
                <a:ea typeface="Calibri" pitchFamily="34" charset="-122"/>
                <a:cs typeface="Calibri" pitchFamily="34" charset="-120"/>
              </a:rPr>
              <a:t>Extract</a:t>
            </a:r>
            <a:endParaRPr lang="en-US" sz="1500" dirty="0"/>
          </a:p>
        </p:txBody>
      </p:sp>
      <p:sp>
        <p:nvSpPr>
          <p:cNvPr id="11" name="Text 9"/>
          <p:cNvSpPr/>
          <p:nvPr/>
        </p:nvSpPr>
        <p:spPr>
          <a:xfrm>
            <a:off x="2724912" y="3291840"/>
            <a:ext cx="1353312" cy="731520"/>
          </a:xfrm>
          <a:prstGeom prst="rect">
            <a:avLst/>
          </a:prstGeom>
          <a:noFill/>
          <a:ln/>
        </p:spPr>
        <p:txBody>
          <a:bodyPr wrap="square" lIns="0" tIns="0" rIns="0" bIns="0" rtlCol="0" anchor="t"/>
          <a:lstStyle/>
          <a:p>
            <a:pPr indent="0" marL="0">
              <a:lnSpc>
                <a:spcPts val="1400"/>
              </a:lnSpc>
              <a:buNone/>
            </a:pPr>
            <a:r>
              <a:rPr lang="en-US" sz="1050" dirty="0">
                <a:solidFill>
                  <a:srgbClr val="44474F"/>
                </a:solidFill>
                <a:latin typeface="Calibri" pitchFamily="34" charset="0"/>
                <a:ea typeface="Calibri" pitchFamily="34" charset="-122"/>
                <a:cs typeface="Calibri" pitchFamily="34" charset="-120"/>
              </a:rPr>
              <a:t>qwen3-vl-4b</a:t>
            </a:r>
            <a:endParaRPr lang="en-US" sz="1050" dirty="0"/>
          </a:p>
          <a:p>
            <a:pPr indent="0" marL="0">
              <a:lnSpc>
                <a:spcPts val="1400"/>
              </a:lnSpc>
              <a:buNone/>
            </a:pPr>
            <a:r>
              <a:rPr lang="en-US" sz="1050" dirty="0">
                <a:solidFill>
                  <a:srgbClr val="44474F"/>
                </a:solidFill>
                <a:latin typeface="Calibri" pitchFamily="34" charset="0"/>
                <a:ea typeface="Calibri" pitchFamily="34" charset="-122"/>
                <a:cs typeface="Calibri" pitchFamily="34" charset="-120"/>
              </a:rPr>
              <a:t>→ JSON</a:t>
            </a:r>
            <a:endParaRPr lang="en-US" sz="1050" dirty="0"/>
          </a:p>
        </p:txBody>
      </p:sp>
      <p:sp>
        <p:nvSpPr>
          <p:cNvPr id="12" name="Shape 10"/>
          <p:cNvSpPr/>
          <p:nvPr/>
        </p:nvSpPr>
        <p:spPr>
          <a:xfrm>
            <a:off x="4224528" y="3474720"/>
            <a:ext cx="146304" cy="0"/>
          </a:xfrm>
          <a:prstGeom prst="line">
            <a:avLst/>
          </a:prstGeom>
          <a:noFill/>
          <a:ln w="12700">
            <a:solidFill>
              <a:srgbClr val="747780"/>
            </a:solidFill>
            <a:prstDash val="solid"/>
            <a:tailEnd type="triangle"/>
          </a:ln>
        </p:spPr>
      </p:sp>
      <p:sp>
        <p:nvSpPr>
          <p:cNvPr id="13" name="Shape 11"/>
          <p:cNvSpPr/>
          <p:nvPr/>
        </p:nvSpPr>
        <p:spPr>
          <a:xfrm>
            <a:off x="4407408" y="2788920"/>
            <a:ext cx="1572768" cy="1371600"/>
          </a:xfrm>
          <a:prstGeom prst="rect">
            <a:avLst/>
          </a:prstGeom>
          <a:solidFill>
            <a:srgbClr val="FFFFFF"/>
          </a:solidFill>
          <a:ln w="9525">
            <a:solidFill>
              <a:srgbClr val="002452"/>
            </a:solidFill>
            <a:prstDash val="solid"/>
          </a:ln>
        </p:spPr>
      </p:sp>
      <p:sp>
        <p:nvSpPr>
          <p:cNvPr id="14" name="Text 12"/>
          <p:cNvSpPr/>
          <p:nvPr/>
        </p:nvSpPr>
        <p:spPr>
          <a:xfrm>
            <a:off x="4517136" y="2935224"/>
            <a:ext cx="1353312" cy="310896"/>
          </a:xfrm>
          <a:prstGeom prst="rect">
            <a:avLst/>
          </a:prstGeom>
          <a:noFill/>
          <a:ln/>
        </p:spPr>
        <p:txBody>
          <a:bodyPr wrap="square" lIns="0" tIns="0" rIns="0" bIns="0" rtlCol="0" anchor="ctr"/>
          <a:lstStyle/>
          <a:p>
            <a:pPr indent="0" marL="0">
              <a:buNone/>
            </a:pPr>
            <a:r>
              <a:rPr lang="en-US" sz="1500" b="1" dirty="0">
                <a:solidFill>
                  <a:srgbClr val="002452"/>
                </a:solidFill>
                <a:latin typeface="Calibri" pitchFamily="34" charset="0"/>
                <a:ea typeface="Calibri" pitchFamily="34" charset="-122"/>
                <a:cs typeface="Calibri" pitchFamily="34" charset="-120"/>
              </a:rPr>
              <a:t>Validate</a:t>
            </a:r>
            <a:endParaRPr lang="en-US" sz="1500" dirty="0"/>
          </a:p>
        </p:txBody>
      </p:sp>
      <p:sp>
        <p:nvSpPr>
          <p:cNvPr id="15" name="Text 13"/>
          <p:cNvSpPr/>
          <p:nvPr/>
        </p:nvSpPr>
        <p:spPr>
          <a:xfrm>
            <a:off x="4517136" y="3291840"/>
            <a:ext cx="1353312" cy="731520"/>
          </a:xfrm>
          <a:prstGeom prst="rect">
            <a:avLst/>
          </a:prstGeom>
          <a:noFill/>
          <a:ln/>
        </p:spPr>
        <p:txBody>
          <a:bodyPr wrap="square" lIns="0" tIns="0" rIns="0" bIns="0" rtlCol="0" anchor="t"/>
          <a:lstStyle/>
          <a:p>
            <a:pPr indent="0" marL="0">
              <a:lnSpc>
                <a:spcPts val="1400"/>
              </a:lnSpc>
              <a:buNone/>
            </a:pPr>
            <a:r>
              <a:rPr lang="en-US" sz="1050" dirty="0">
                <a:solidFill>
                  <a:srgbClr val="44474F"/>
                </a:solidFill>
                <a:latin typeface="Calibri" pitchFamily="34" charset="0"/>
                <a:ea typeface="Calibri" pitchFamily="34" charset="-122"/>
                <a:cs typeface="Calibri" pitchFamily="34" charset="-120"/>
              </a:rPr>
              <a:t>9 business rules</a:t>
            </a:r>
            <a:endParaRPr lang="en-US" sz="1050" dirty="0"/>
          </a:p>
        </p:txBody>
      </p:sp>
      <p:sp>
        <p:nvSpPr>
          <p:cNvPr id="16" name="Shape 14"/>
          <p:cNvSpPr/>
          <p:nvPr/>
        </p:nvSpPr>
        <p:spPr>
          <a:xfrm>
            <a:off x="6016752" y="3474720"/>
            <a:ext cx="146304" cy="0"/>
          </a:xfrm>
          <a:prstGeom prst="line">
            <a:avLst/>
          </a:prstGeom>
          <a:noFill/>
          <a:ln w="12700">
            <a:solidFill>
              <a:srgbClr val="747780"/>
            </a:solidFill>
            <a:prstDash val="solid"/>
            <a:tailEnd type="triangle"/>
          </a:ln>
        </p:spPr>
      </p:sp>
      <p:sp>
        <p:nvSpPr>
          <p:cNvPr id="17" name="Shape 15"/>
          <p:cNvSpPr/>
          <p:nvPr/>
        </p:nvSpPr>
        <p:spPr>
          <a:xfrm>
            <a:off x="6199632" y="2788920"/>
            <a:ext cx="1572768" cy="1371600"/>
          </a:xfrm>
          <a:prstGeom prst="rect">
            <a:avLst/>
          </a:prstGeom>
          <a:solidFill>
            <a:srgbClr val="EDF3FF"/>
          </a:solidFill>
          <a:ln w="15875">
            <a:solidFill>
              <a:srgbClr val="0051D5"/>
            </a:solidFill>
            <a:prstDash val="solid"/>
          </a:ln>
        </p:spPr>
      </p:sp>
      <p:sp>
        <p:nvSpPr>
          <p:cNvPr id="18" name="Text 16"/>
          <p:cNvSpPr/>
          <p:nvPr/>
        </p:nvSpPr>
        <p:spPr>
          <a:xfrm>
            <a:off x="6309360" y="2935224"/>
            <a:ext cx="1353312" cy="310896"/>
          </a:xfrm>
          <a:prstGeom prst="rect">
            <a:avLst/>
          </a:prstGeom>
          <a:noFill/>
          <a:ln/>
        </p:spPr>
        <p:txBody>
          <a:bodyPr wrap="square" lIns="0" tIns="0" rIns="0" bIns="0" rtlCol="0" anchor="ctr"/>
          <a:lstStyle/>
          <a:p>
            <a:pPr indent="0" marL="0">
              <a:buNone/>
            </a:pPr>
            <a:r>
              <a:rPr lang="en-US" sz="1500" b="1" dirty="0">
                <a:solidFill>
                  <a:srgbClr val="002452"/>
                </a:solidFill>
                <a:latin typeface="Calibri" pitchFamily="34" charset="0"/>
                <a:ea typeface="Calibri" pitchFamily="34" charset="-122"/>
                <a:cs typeface="Calibri" pitchFamily="34" charset="-120"/>
              </a:rPr>
              <a:t>Review</a:t>
            </a:r>
            <a:endParaRPr lang="en-US" sz="1500" dirty="0"/>
          </a:p>
        </p:txBody>
      </p:sp>
      <p:sp>
        <p:nvSpPr>
          <p:cNvPr id="19" name="Text 17"/>
          <p:cNvSpPr/>
          <p:nvPr/>
        </p:nvSpPr>
        <p:spPr>
          <a:xfrm>
            <a:off x="6309360" y="3291840"/>
            <a:ext cx="1353312" cy="731520"/>
          </a:xfrm>
          <a:prstGeom prst="rect">
            <a:avLst/>
          </a:prstGeom>
          <a:noFill/>
          <a:ln/>
        </p:spPr>
        <p:txBody>
          <a:bodyPr wrap="square" lIns="0" tIns="0" rIns="0" bIns="0" rtlCol="0" anchor="t"/>
          <a:lstStyle/>
          <a:p>
            <a:pPr indent="0" marL="0">
              <a:lnSpc>
                <a:spcPts val="1400"/>
              </a:lnSpc>
              <a:buNone/>
            </a:pPr>
            <a:r>
              <a:rPr lang="en-US" sz="1050" dirty="0">
                <a:solidFill>
                  <a:srgbClr val="44474F"/>
                </a:solidFill>
                <a:latin typeface="Calibri" pitchFamily="34" charset="0"/>
                <a:ea typeface="Calibri" pitchFamily="34" charset="-122"/>
                <a:cs typeface="Calibri" pitchFamily="34" charset="-120"/>
              </a:rPr>
              <a:t>staff koreksi</a:t>
            </a:r>
            <a:endParaRPr lang="en-US" sz="1050" dirty="0"/>
          </a:p>
          <a:p>
            <a:pPr indent="0" marL="0">
              <a:lnSpc>
                <a:spcPts val="1400"/>
              </a:lnSpc>
              <a:buNone/>
            </a:pPr>
            <a:r>
              <a:rPr lang="en-US" sz="1050" dirty="0">
                <a:solidFill>
                  <a:srgbClr val="44474F"/>
                </a:solidFill>
                <a:latin typeface="Calibri" pitchFamily="34" charset="0"/>
                <a:ea typeface="Calibri" pitchFamily="34" charset="-122"/>
                <a:cs typeface="Calibri" pitchFamily="34" charset="-120"/>
              </a:rPr>
              <a:t>atau reject</a:t>
            </a:r>
            <a:endParaRPr lang="en-US" sz="1050" dirty="0"/>
          </a:p>
        </p:txBody>
      </p:sp>
      <p:sp>
        <p:nvSpPr>
          <p:cNvPr id="20" name="Shape 18"/>
          <p:cNvSpPr/>
          <p:nvPr/>
        </p:nvSpPr>
        <p:spPr>
          <a:xfrm>
            <a:off x="7808976" y="3474720"/>
            <a:ext cx="146304" cy="0"/>
          </a:xfrm>
          <a:prstGeom prst="line">
            <a:avLst/>
          </a:prstGeom>
          <a:noFill/>
          <a:ln w="12700">
            <a:solidFill>
              <a:srgbClr val="747780"/>
            </a:solidFill>
            <a:prstDash val="solid"/>
            <a:tailEnd type="triangle"/>
          </a:ln>
        </p:spPr>
      </p:sp>
      <p:sp>
        <p:nvSpPr>
          <p:cNvPr id="21" name="Shape 19"/>
          <p:cNvSpPr/>
          <p:nvPr/>
        </p:nvSpPr>
        <p:spPr>
          <a:xfrm>
            <a:off x="7991856" y="2788920"/>
            <a:ext cx="1572768" cy="1371600"/>
          </a:xfrm>
          <a:prstGeom prst="rect">
            <a:avLst/>
          </a:prstGeom>
          <a:solidFill>
            <a:srgbClr val="EDF3FF"/>
          </a:solidFill>
          <a:ln w="15875">
            <a:solidFill>
              <a:srgbClr val="0051D5"/>
            </a:solidFill>
            <a:prstDash val="solid"/>
          </a:ln>
        </p:spPr>
      </p:sp>
      <p:sp>
        <p:nvSpPr>
          <p:cNvPr id="22" name="Text 20"/>
          <p:cNvSpPr/>
          <p:nvPr/>
        </p:nvSpPr>
        <p:spPr>
          <a:xfrm>
            <a:off x="8101584" y="2935224"/>
            <a:ext cx="1353312" cy="310896"/>
          </a:xfrm>
          <a:prstGeom prst="rect">
            <a:avLst/>
          </a:prstGeom>
          <a:noFill/>
          <a:ln/>
        </p:spPr>
        <p:txBody>
          <a:bodyPr wrap="square" lIns="0" tIns="0" rIns="0" bIns="0" rtlCol="0" anchor="ctr"/>
          <a:lstStyle/>
          <a:p>
            <a:pPr indent="0" marL="0">
              <a:buNone/>
            </a:pPr>
            <a:r>
              <a:rPr lang="en-US" sz="1500" b="1" dirty="0">
                <a:solidFill>
                  <a:srgbClr val="002452"/>
                </a:solidFill>
                <a:latin typeface="Calibri" pitchFamily="34" charset="0"/>
                <a:ea typeface="Calibri" pitchFamily="34" charset="-122"/>
                <a:cs typeface="Calibri" pitchFamily="34" charset="-120"/>
              </a:rPr>
              <a:t>Approve</a:t>
            </a:r>
            <a:endParaRPr lang="en-US" sz="1500" dirty="0"/>
          </a:p>
        </p:txBody>
      </p:sp>
      <p:sp>
        <p:nvSpPr>
          <p:cNvPr id="23" name="Text 21"/>
          <p:cNvSpPr/>
          <p:nvPr/>
        </p:nvSpPr>
        <p:spPr>
          <a:xfrm>
            <a:off x="8101584" y="3291840"/>
            <a:ext cx="1353312" cy="731520"/>
          </a:xfrm>
          <a:prstGeom prst="rect">
            <a:avLst/>
          </a:prstGeom>
          <a:noFill/>
          <a:ln/>
        </p:spPr>
        <p:txBody>
          <a:bodyPr wrap="square" lIns="0" tIns="0" rIns="0" bIns="0" rtlCol="0" anchor="t"/>
          <a:lstStyle/>
          <a:p>
            <a:pPr indent="0" marL="0">
              <a:lnSpc>
                <a:spcPts val="1400"/>
              </a:lnSpc>
              <a:buNone/>
            </a:pPr>
            <a:r>
              <a:rPr lang="en-US" sz="1050" dirty="0">
                <a:solidFill>
                  <a:srgbClr val="44474F"/>
                </a:solidFill>
                <a:latin typeface="Calibri" pitchFamily="34" charset="0"/>
                <a:ea typeface="Calibri" pitchFamily="34" charset="-122"/>
                <a:cs typeface="Calibri" pitchFamily="34" charset="-120"/>
              </a:rPr>
              <a:t>admin only,</a:t>
            </a:r>
            <a:endParaRPr lang="en-US" sz="1050" dirty="0"/>
          </a:p>
          <a:p>
            <a:pPr indent="0" marL="0">
              <a:lnSpc>
                <a:spcPts val="1400"/>
              </a:lnSpc>
              <a:buNone/>
            </a:pPr>
            <a:r>
              <a:rPr lang="en-US" sz="1050" dirty="0">
                <a:solidFill>
                  <a:srgbClr val="44474F"/>
                </a:solidFill>
                <a:latin typeface="Calibri" pitchFamily="34" charset="0"/>
                <a:ea typeface="Calibri" pitchFamily="34" charset="-122"/>
                <a:cs typeface="Calibri" pitchFamily="34" charset="-120"/>
              </a:rPr>
              <a:t>stamp approved_at</a:t>
            </a:r>
            <a:endParaRPr lang="en-US" sz="1050" dirty="0"/>
          </a:p>
        </p:txBody>
      </p:sp>
      <p:sp>
        <p:nvSpPr>
          <p:cNvPr id="24" name="Shape 22"/>
          <p:cNvSpPr/>
          <p:nvPr/>
        </p:nvSpPr>
        <p:spPr>
          <a:xfrm>
            <a:off x="9601200" y="3474720"/>
            <a:ext cx="146304" cy="0"/>
          </a:xfrm>
          <a:prstGeom prst="line">
            <a:avLst/>
          </a:prstGeom>
          <a:noFill/>
          <a:ln w="12700">
            <a:solidFill>
              <a:srgbClr val="747780"/>
            </a:solidFill>
            <a:prstDash val="solid"/>
            <a:tailEnd type="triangle"/>
          </a:ln>
        </p:spPr>
      </p:sp>
      <p:sp>
        <p:nvSpPr>
          <p:cNvPr id="25" name="Shape 23"/>
          <p:cNvSpPr/>
          <p:nvPr/>
        </p:nvSpPr>
        <p:spPr>
          <a:xfrm>
            <a:off x="9784080" y="2788920"/>
            <a:ext cx="1572768" cy="1371600"/>
          </a:xfrm>
          <a:prstGeom prst="rect">
            <a:avLst/>
          </a:prstGeom>
          <a:solidFill>
            <a:srgbClr val="FFFFFF"/>
          </a:solidFill>
          <a:ln w="9525">
            <a:solidFill>
              <a:srgbClr val="002452"/>
            </a:solidFill>
            <a:prstDash val="solid"/>
          </a:ln>
        </p:spPr>
      </p:sp>
      <p:sp>
        <p:nvSpPr>
          <p:cNvPr id="26" name="Text 24"/>
          <p:cNvSpPr/>
          <p:nvPr/>
        </p:nvSpPr>
        <p:spPr>
          <a:xfrm>
            <a:off x="9893808" y="2935224"/>
            <a:ext cx="1353312" cy="310896"/>
          </a:xfrm>
          <a:prstGeom prst="rect">
            <a:avLst/>
          </a:prstGeom>
          <a:noFill/>
          <a:ln/>
        </p:spPr>
        <p:txBody>
          <a:bodyPr wrap="square" lIns="0" tIns="0" rIns="0" bIns="0" rtlCol="0" anchor="ctr"/>
          <a:lstStyle/>
          <a:p>
            <a:pPr indent="0" marL="0">
              <a:buNone/>
            </a:pPr>
            <a:r>
              <a:rPr lang="en-US" sz="1500" b="1" dirty="0">
                <a:solidFill>
                  <a:srgbClr val="002452"/>
                </a:solidFill>
                <a:latin typeface="Calibri" pitchFamily="34" charset="0"/>
                <a:ea typeface="Calibri" pitchFamily="34" charset="-122"/>
                <a:cs typeface="Calibri" pitchFamily="34" charset="-120"/>
              </a:rPr>
              <a:t>Export</a:t>
            </a:r>
            <a:endParaRPr lang="en-US" sz="1500" dirty="0"/>
          </a:p>
        </p:txBody>
      </p:sp>
      <p:sp>
        <p:nvSpPr>
          <p:cNvPr id="27" name="Text 25"/>
          <p:cNvSpPr/>
          <p:nvPr/>
        </p:nvSpPr>
        <p:spPr>
          <a:xfrm>
            <a:off x="9893808" y="3291840"/>
            <a:ext cx="1353312" cy="731520"/>
          </a:xfrm>
          <a:prstGeom prst="rect">
            <a:avLst/>
          </a:prstGeom>
          <a:noFill/>
          <a:ln/>
        </p:spPr>
        <p:txBody>
          <a:bodyPr wrap="square" lIns="0" tIns="0" rIns="0" bIns="0" rtlCol="0" anchor="t"/>
          <a:lstStyle/>
          <a:p>
            <a:pPr indent="0" marL="0">
              <a:lnSpc>
                <a:spcPts val="1400"/>
              </a:lnSpc>
              <a:buNone/>
            </a:pPr>
            <a:r>
              <a:rPr lang="en-US" sz="1050" dirty="0">
                <a:solidFill>
                  <a:srgbClr val="44474F"/>
                </a:solidFill>
                <a:latin typeface="Calibri" pitchFamily="34" charset="0"/>
                <a:ea typeface="Calibri" pitchFamily="34" charset="-122"/>
                <a:cs typeface="Calibri" pitchFamily="34" charset="-120"/>
              </a:rPr>
              <a:t>CSV, JSON, PDF,</a:t>
            </a:r>
            <a:endParaRPr lang="en-US" sz="1050" dirty="0"/>
          </a:p>
          <a:p>
            <a:pPr indent="0" marL="0">
              <a:lnSpc>
                <a:spcPts val="1400"/>
              </a:lnSpc>
              <a:buNone/>
            </a:pPr>
            <a:r>
              <a:rPr lang="en-US" sz="1050" dirty="0">
                <a:solidFill>
                  <a:srgbClr val="44474F"/>
                </a:solidFill>
                <a:latin typeface="Calibri" pitchFamily="34" charset="0"/>
                <a:ea typeface="Calibri" pitchFamily="34" charset="-122"/>
                <a:cs typeface="Calibri" pitchFamily="34" charset="-120"/>
              </a:rPr>
              <a:t>Word, Excel, API</a:t>
            </a:r>
            <a:endParaRPr lang="en-US" sz="1050" dirty="0"/>
          </a:p>
        </p:txBody>
      </p:sp>
      <p:sp>
        <p:nvSpPr>
          <p:cNvPr id="28" name="Text 26"/>
          <p:cNvSpPr/>
          <p:nvPr/>
        </p:nvSpPr>
        <p:spPr>
          <a:xfrm>
            <a:off x="6199632" y="4361688"/>
            <a:ext cx="4114800" cy="274320"/>
          </a:xfrm>
          <a:prstGeom prst="rect">
            <a:avLst/>
          </a:prstGeom>
          <a:noFill/>
          <a:ln/>
        </p:spPr>
        <p:txBody>
          <a:bodyPr wrap="square" lIns="0" tIns="0" rIns="0" bIns="0" rtlCol="0" anchor="ctr"/>
          <a:lstStyle/>
          <a:p>
            <a:pPr indent="0" marL="0">
              <a:buNone/>
            </a:pPr>
            <a:r>
              <a:rPr lang="en-US" sz="1150" dirty="0">
                <a:solidFill>
                  <a:srgbClr val="0051D5"/>
                </a:solidFill>
                <a:latin typeface="Calibri" pitchFamily="34" charset="0"/>
                <a:ea typeface="Calibri" pitchFamily="34" charset="-122"/>
                <a:cs typeface="Calibri" pitchFamily="34" charset="-120"/>
              </a:rPr>
              <a:t>Dua kotak biru: satu-satunya tempat manusia ikut campur.</a:t>
            </a:r>
            <a:endParaRPr lang="en-US" sz="1150" dirty="0"/>
          </a:p>
        </p:txBody>
      </p:sp>
      <p:sp>
        <p:nvSpPr>
          <p:cNvPr id="29" name="Text 27"/>
          <p:cNvSpPr/>
          <p:nvPr/>
        </p:nvSpPr>
        <p:spPr>
          <a:xfrm>
            <a:off x="822960" y="5029200"/>
            <a:ext cx="8778240" cy="1005840"/>
          </a:xfrm>
          <a:prstGeom prst="rect">
            <a:avLst/>
          </a:prstGeom>
          <a:noFill/>
          <a:ln/>
        </p:spPr>
        <p:txBody>
          <a:bodyPr wrap="square" lIns="0" tIns="0" rIns="0" bIns="0" rtlCol="0" anchor="t"/>
          <a:lstStyle/>
          <a:p>
            <a:pPr indent="0" marL="0">
              <a:lnSpc>
                <a:spcPts val="2100"/>
              </a:lnSpc>
              <a:buNone/>
            </a:pPr>
            <a:r>
              <a:rPr lang="en-US" sz="1450" dirty="0">
                <a:solidFill>
                  <a:srgbClr val="44474F"/>
                </a:solidFill>
                <a:latin typeface="Calibri" pitchFamily="34" charset="0"/>
                <a:ea typeface="Calibri" pitchFamily="34" charset="-122"/>
                <a:cs typeface="Calibri" pitchFamily="34" charset="-120"/>
              </a:rPr>
              <a:t>React + Vite + Tailwind di depan. Python + FastAPI + pydantic di belakang. Model qwen/qwen3-vl-4b dilayani LM Studio di mesin yang sama. SQLite menyimpan hasil ekstraksi dan file aslinya, jadi membuka ulang dokumen tidak menjalankan model lagi.</a:t>
            </a:r>
            <a:endParaRPr lang="en-US" sz="1450" dirty="0"/>
          </a:p>
        </p:txBody>
      </p:sp>
      <p:sp>
        <p:nvSpPr>
          <p:cNvPr id="31" name="Text 28"/>
          <p:cNvSpPr/>
          <p:nvPr/>
        </p:nvSpPr>
        <p:spPr>
          <a:xfrm>
            <a:off x="11155680" y="6327648"/>
            <a:ext cx="54864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822960" y="274320"/>
            <a:ext cx="10561320" cy="237744"/>
          </a:xfrm>
          <a:prstGeom prst="rect">
            <a:avLst/>
          </a:prstGeom>
          <a:noFill/>
          <a:ln/>
        </p:spPr>
        <p:txBody>
          <a:bodyPr wrap="square" lIns="0" tIns="0" rIns="0" bIns="0" rtlCol="0" anchor="t"/>
          <a:lstStyle/>
          <a:p>
            <a:pPr indent="0" marL="0">
              <a:buNone/>
            </a:pPr>
            <a:r>
              <a:rPr lang="en-US" sz="1100" b="1" spc="140" kern="0" dirty="0">
                <a:solidFill>
                  <a:srgbClr val="747780"/>
                </a:solidFill>
                <a:latin typeface="Calibri" pitchFamily="34" charset="0"/>
                <a:ea typeface="Calibri" pitchFamily="34" charset="-122"/>
                <a:cs typeface="Calibri" pitchFamily="34" charset="-120"/>
              </a:rPr>
              <a:t>ARSITEKTUR</a:t>
            </a:r>
            <a:endParaRPr lang="en-US" sz="1100" dirty="0"/>
          </a:p>
        </p:txBody>
      </p:sp>
      <p:sp>
        <p:nvSpPr>
          <p:cNvPr id="3" name="Text 1"/>
          <p:cNvSpPr/>
          <p:nvPr/>
        </p:nvSpPr>
        <p:spPr>
          <a:xfrm>
            <a:off x="822960" y="566928"/>
            <a:ext cx="10561320" cy="566928"/>
          </a:xfrm>
          <a:prstGeom prst="rect">
            <a:avLst/>
          </a:prstGeom>
          <a:noFill/>
          <a:ln/>
        </p:spPr>
        <p:txBody>
          <a:bodyPr wrap="square" lIns="0" tIns="0" rIns="0" bIns="0" rtlCol="0" anchor="t"/>
          <a:lstStyle/>
          <a:p>
            <a:pPr algn="l" indent="0" marL="0">
              <a:buNone/>
            </a:pPr>
            <a:r>
              <a:rPr lang="en-US" sz="3000" b="1" dirty="0">
                <a:solidFill>
                  <a:srgbClr val="002452"/>
                </a:solidFill>
                <a:latin typeface="Calibri" pitchFamily="34" charset="0"/>
                <a:ea typeface="Calibri" pitchFamily="34" charset="-122"/>
                <a:cs typeface="Calibri" pitchFamily="34" charset="-120"/>
              </a:rPr>
              <a:t>Batas yang dijaga: React tidak pernah menyentuh model</a:t>
            </a:r>
            <a:endParaRPr lang="en-US" sz="3000" dirty="0"/>
          </a:p>
        </p:txBody>
      </p:sp>
      <p:sp>
        <p:nvSpPr>
          <p:cNvPr id="4" name="Shape 2"/>
          <p:cNvSpPr/>
          <p:nvPr/>
        </p:nvSpPr>
        <p:spPr>
          <a:xfrm>
            <a:off x="822960" y="2240280"/>
            <a:ext cx="2926080" cy="1325880"/>
          </a:xfrm>
          <a:prstGeom prst="rect">
            <a:avLst/>
          </a:prstGeom>
          <a:solidFill>
            <a:srgbClr val="FFFFFF"/>
          </a:solidFill>
          <a:ln w="9525">
            <a:solidFill>
              <a:srgbClr val="002452"/>
            </a:solidFill>
            <a:prstDash val="solid"/>
          </a:ln>
        </p:spPr>
      </p:sp>
      <p:sp>
        <p:nvSpPr>
          <p:cNvPr id="5" name="Text 3"/>
          <p:cNvSpPr/>
          <p:nvPr/>
        </p:nvSpPr>
        <p:spPr>
          <a:xfrm>
            <a:off x="987552" y="2386584"/>
            <a:ext cx="2596896" cy="320040"/>
          </a:xfrm>
          <a:prstGeom prst="rect">
            <a:avLst/>
          </a:prstGeom>
          <a:noFill/>
          <a:ln/>
        </p:spPr>
        <p:txBody>
          <a:bodyPr wrap="square" lIns="0" tIns="0" rIns="0" bIns="0" rtlCol="0" anchor="ctr"/>
          <a:lstStyle/>
          <a:p>
            <a:pPr indent="0" marL="0">
              <a:buNone/>
            </a:pPr>
            <a:r>
              <a:rPr lang="en-US" sz="1600" b="1" dirty="0">
                <a:solidFill>
                  <a:srgbClr val="002452"/>
                </a:solidFill>
                <a:latin typeface="Calibri" pitchFamily="34" charset="0"/>
                <a:ea typeface="Calibri" pitchFamily="34" charset="-122"/>
                <a:cs typeface="Calibri" pitchFamily="34" charset="-120"/>
              </a:rPr>
              <a:t>React + Vite</a:t>
            </a:r>
            <a:endParaRPr lang="en-US" sz="1600" dirty="0"/>
          </a:p>
        </p:txBody>
      </p:sp>
      <p:sp>
        <p:nvSpPr>
          <p:cNvPr id="6" name="Text 4"/>
          <p:cNvSpPr/>
          <p:nvPr/>
        </p:nvSpPr>
        <p:spPr>
          <a:xfrm>
            <a:off x="987552" y="2752344"/>
            <a:ext cx="2596896" cy="731520"/>
          </a:xfrm>
          <a:prstGeom prst="rect">
            <a:avLst/>
          </a:prstGeom>
          <a:noFill/>
          <a:ln/>
        </p:spPr>
        <p:txBody>
          <a:bodyPr wrap="square" lIns="0" tIns="0" rIns="0" bIns="0" rtlCol="0" anchor="t"/>
          <a:lstStyle/>
          <a:p>
            <a:pPr indent="0" marL="0">
              <a:lnSpc>
                <a:spcPts val="1500"/>
              </a:lnSpc>
              <a:buNone/>
            </a:pPr>
            <a:r>
              <a:rPr lang="en-US" sz="1150" dirty="0">
                <a:solidFill>
                  <a:srgbClr val="44474F"/>
                </a:solidFill>
                <a:latin typeface="Calibri" pitchFamily="34" charset="0"/>
                <a:ea typeface="Calibri" pitchFamily="34" charset="-122"/>
                <a:cs typeface="Calibri" pitchFamily="34" charset="-120"/>
              </a:rPr>
              <a:t>Tailwind, DocExtract</a:t>
            </a:r>
            <a:endParaRPr lang="en-US" sz="1150" dirty="0"/>
          </a:p>
          <a:p>
            <a:pPr indent="0" marL="0">
              <a:lnSpc>
                <a:spcPts val="1500"/>
              </a:lnSpc>
              <a:buNone/>
            </a:pPr>
            <a:r>
              <a:rPr lang="en-US" sz="1150" dirty="0">
                <a:solidFill>
                  <a:srgbClr val="44474F"/>
                </a:solidFill>
                <a:latin typeface="Calibri" pitchFamily="34" charset="0"/>
                <a:ea typeface="Calibri" pitchFamily="34" charset="-122"/>
                <a:cs typeface="Calibri" pitchFamily="34" charset="-120"/>
              </a:rPr>
              <a:t>design system</a:t>
            </a:r>
            <a:endParaRPr lang="en-US" sz="1150" dirty="0"/>
          </a:p>
          <a:p>
            <a:pPr indent="0" marL="0">
              <a:lnSpc>
                <a:spcPts val="1500"/>
              </a:lnSpc>
              <a:buNone/>
            </a:pPr>
            <a:r>
              <a:rPr lang="en-US" sz="1150" dirty="0">
                <a:solidFill>
                  <a:srgbClr val="44474F"/>
                </a:solidFill>
                <a:latin typeface="Calibri" pitchFamily="34" charset="0"/>
                <a:ea typeface="Calibri" pitchFamily="34" charset="-122"/>
                <a:cs typeface="Calibri" pitchFamily="34" charset="-120"/>
              </a:rPr>
              <a:t>Upload · Review · Dashboard</a:t>
            </a:r>
            <a:endParaRPr lang="en-US" sz="1150" dirty="0"/>
          </a:p>
        </p:txBody>
      </p:sp>
      <p:sp>
        <p:nvSpPr>
          <p:cNvPr id="7" name="Shape 5"/>
          <p:cNvSpPr/>
          <p:nvPr/>
        </p:nvSpPr>
        <p:spPr>
          <a:xfrm>
            <a:off x="4617720" y="2240280"/>
            <a:ext cx="2926080" cy="1325880"/>
          </a:xfrm>
          <a:prstGeom prst="rect">
            <a:avLst/>
          </a:prstGeom>
          <a:solidFill>
            <a:srgbClr val="FFFFFF"/>
          </a:solidFill>
          <a:ln w="9525">
            <a:solidFill>
              <a:srgbClr val="002452"/>
            </a:solidFill>
            <a:prstDash val="solid"/>
          </a:ln>
        </p:spPr>
      </p:sp>
      <p:sp>
        <p:nvSpPr>
          <p:cNvPr id="8" name="Text 6"/>
          <p:cNvSpPr/>
          <p:nvPr/>
        </p:nvSpPr>
        <p:spPr>
          <a:xfrm>
            <a:off x="4782312" y="2386584"/>
            <a:ext cx="2596896" cy="320040"/>
          </a:xfrm>
          <a:prstGeom prst="rect">
            <a:avLst/>
          </a:prstGeom>
          <a:noFill/>
          <a:ln/>
        </p:spPr>
        <p:txBody>
          <a:bodyPr wrap="square" lIns="0" tIns="0" rIns="0" bIns="0" rtlCol="0" anchor="ctr"/>
          <a:lstStyle/>
          <a:p>
            <a:pPr indent="0" marL="0">
              <a:buNone/>
            </a:pPr>
            <a:r>
              <a:rPr lang="en-US" sz="1600" b="1" dirty="0">
                <a:solidFill>
                  <a:srgbClr val="002452"/>
                </a:solidFill>
                <a:latin typeface="Calibri" pitchFamily="34" charset="0"/>
                <a:ea typeface="Calibri" pitchFamily="34" charset="-122"/>
                <a:cs typeface="Calibri" pitchFamily="34" charset="-120"/>
              </a:rPr>
              <a:t>FastAPI (Python)</a:t>
            </a:r>
            <a:endParaRPr lang="en-US" sz="1600" dirty="0"/>
          </a:p>
        </p:txBody>
      </p:sp>
      <p:sp>
        <p:nvSpPr>
          <p:cNvPr id="9" name="Text 7"/>
          <p:cNvSpPr/>
          <p:nvPr/>
        </p:nvSpPr>
        <p:spPr>
          <a:xfrm>
            <a:off x="4782312" y="2752344"/>
            <a:ext cx="2596896" cy="731520"/>
          </a:xfrm>
          <a:prstGeom prst="rect">
            <a:avLst/>
          </a:prstGeom>
          <a:noFill/>
          <a:ln/>
        </p:spPr>
        <p:txBody>
          <a:bodyPr wrap="square" lIns="0" tIns="0" rIns="0" bIns="0" rtlCol="0" anchor="t"/>
          <a:lstStyle/>
          <a:p>
            <a:pPr indent="0" marL="0">
              <a:lnSpc>
                <a:spcPts val="1500"/>
              </a:lnSpc>
              <a:buNone/>
            </a:pPr>
            <a:r>
              <a:rPr lang="en-US" sz="1150" dirty="0">
                <a:solidFill>
                  <a:srgbClr val="44474F"/>
                </a:solidFill>
                <a:latin typeface="Calibri" pitchFamily="34" charset="0"/>
                <a:ea typeface="Calibri" pitchFamily="34" charset="-122"/>
                <a:cs typeface="Calibri" pitchFamily="34" charset="-120"/>
              </a:rPr>
              <a:t>extraction · validation</a:t>
            </a:r>
            <a:endParaRPr lang="en-US" sz="1150" dirty="0"/>
          </a:p>
          <a:p>
            <a:pPr indent="0" marL="0">
              <a:lnSpc>
                <a:spcPts val="1500"/>
              </a:lnSpc>
              <a:buNone/>
            </a:pPr>
            <a:r>
              <a:rPr lang="en-US" sz="1150" dirty="0">
                <a:solidFill>
                  <a:srgbClr val="44474F"/>
                </a:solidFill>
                <a:latin typeface="Calibri" pitchFamily="34" charset="0"/>
                <a:ea typeface="Calibri" pitchFamily="34" charset="-122"/>
                <a:cs typeface="Calibri" pitchFamily="34" charset="-120"/>
              </a:rPr>
              <a:t>export · eval · auth</a:t>
            </a:r>
            <a:endParaRPr lang="en-US" sz="1150" dirty="0"/>
          </a:p>
        </p:txBody>
      </p:sp>
      <p:sp>
        <p:nvSpPr>
          <p:cNvPr id="10" name="Shape 8"/>
          <p:cNvSpPr/>
          <p:nvPr/>
        </p:nvSpPr>
        <p:spPr>
          <a:xfrm>
            <a:off x="8412480" y="2240280"/>
            <a:ext cx="2926080" cy="1325880"/>
          </a:xfrm>
          <a:prstGeom prst="rect">
            <a:avLst/>
          </a:prstGeom>
          <a:solidFill>
            <a:srgbClr val="FFFFFF"/>
          </a:solidFill>
          <a:ln w="9525">
            <a:solidFill>
              <a:srgbClr val="002452"/>
            </a:solidFill>
            <a:prstDash val="solid"/>
          </a:ln>
        </p:spPr>
      </p:sp>
      <p:sp>
        <p:nvSpPr>
          <p:cNvPr id="11" name="Text 9"/>
          <p:cNvSpPr/>
          <p:nvPr/>
        </p:nvSpPr>
        <p:spPr>
          <a:xfrm>
            <a:off x="8577072" y="2386584"/>
            <a:ext cx="2596896" cy="320040"/>
          </a:xfrm>
          <a:prstGeom prst="rect">
            <a:avLst/>
          </a:prstGeom>
          <a:noFill/>
          <a:ln/>
        </p:spPr>
        <p:txBody>
          <a:bodyPr wrap="square" lIns="0" tIns="0" rIns="0" bIns="0" rtlCol="0" anchor="ctr"/>
          <a:lstStyle/>
          <a:p>
            <a:pPr indent="0" marL="0">
              <a:buNone/>
            </a:pPr>
            <a:r>
              <a:rPr lang="en-US" sz="1600" b="1" dirty="0">
                <a:solidFill>
                  <a:srgbClr val="002452"/>
                </a:solidFill>
                <a:latin typeface="Calibri" pitchFamily="34" charset="0"/>
                <a:ea typeface="Calibri" pitchFamily="34" charset="-122"/>
                <a:cs typeface="Calibri" pitchFamily="34" charset="-120"/>
              </a:rPr>
              <a:t>LM Studio</a:t>
            </a:r>
            <a:endParaRPr lang="en-US" sz="1600" dirty="0"/>
          </a:p>
        </p:txBody>
      </p:sp>
      <p:sp>
        <p:nvSpPr>
          <p:cNvPr id="12" name="Text 10"/>
          <p:cNvSpPr/>
          <p:nvPr/>
        </p:nvSpPr>
        <p:spPr>
          <a:xfrm>
            <a:off x="8577072" y="2752344"/>
            <a:ext cx="2596896" cy="731520"/>
          </a:xfrm>
          <a:prstGeom prst="rect">
            <a:avLst/>
          </a:prstGeom>
          <a:noFill/>
          <a:ln/>
        </p:spPr>
        <p:txBody>
          <a:bodyPr wrap="square" lIns="0" tIns="0" rIns="0" bIns="0" rtlCol="0" anchor="t"/>
          <a:lstStyle/>
          <a:p>
            <a:pPr indent="0" marL="0">
              <a:lnSpc>
                <a:spcPts val="1500"/>
              </a:lnSpc>
              <a:buNone/>
            </a:pPr>
            <a:r>
              <a:rPr lang="en-US" sz="1150" dirty="0">
                <a:solidFill>
                  <a:srgbClr val="44474F"/>
                </a:solidFill>
                <a:latin typeface="Calibri" pitchFamily="34" charset="0"/>
                <a:ea typeface="Calibri" pitchFamily="34" charset="-122"/>
                <a:cs typeface="Calibri" pitchFamily="34" charset="-120"/>
              </a:rPr>
              <a:t>qwen/qwen3-vl-4b</a:t>
            </a:r>
            <a:endParaRPr lang="en-US" sz="1150" dirty="0"/>
          </a:p>
          <a:p>
            <a:pPr indent="0" marL="0">
              <a:lnSpc>
                <a:spcPts val="1500"/>
              </a:lnSpc>
              <a:buNone/>
            </a:pPr>
            <a:r>
              <a:rPr lang="en-US" sz="1150" dirty="0">
                <a:solidFill>
                  <a:srgbClr val="44474F"/>
                </a:solidFill>
                <a:latin typeface="Calibri" pitchFamily="34" charset="0"/>
                <a:ea typeface="Calibri" pitchFamily="34" charset="-122"/>
                <a:cs typeface="Calibri" pitchFamily="34" charset="-120"/>
              </a:rPr>
              <a:t>OpenAI-compatible, lokal</a:t>
            </a:r>
            <a:endParaRPr lang="en-US" sz="1150" dirty="0"/>
          </a:p>
        </p:txBody>
      </p:sp>
      <p:sp>
        <p:nvSpPr>
          <p:cNvPr id="13" name="Shape 11"/>
          <p:cNvSpPr/>
          <p:nvPr/>
        </p:nvSpPr>
        <p:spPr>
          <a:xfrm>
            <a:off x="3749040" y="2903220"/>
            <a:ext cx="868680" cy="0"/>
          </a:xfrm>
          <a:prstGeom prst="line">
            <a:avLst/>
          </a:prstGeom>
          <a:noFill/>
          <a:ln w="12700">
            <a:solidFill>
              <a:srgbClr val="747780"/>
            </a:solidFill>
            <a:prstDash val="solid"/>
            <a:tailEnd type="triangle"/>
          </a:ln>
        </p:spPr>
      </p:sp>
      <p:sp>
        <p:nvSpPr>
          <p:cNvPr id="14" name="Shape 12"/>
          <p:cNvSpPr/>
          <p:nvPr/>
        </p:nvSpPr>
        <p:spPr>
          <a:xfrm>
            <a:off x="7543800" y="2903220"/>
            <a:ext cx="868680" cy="0"/>
          </a:xfrm>
          <a:prstGeom prst="line">
            <a:avLst/>
          </a:prstGeom>
          <a:noFill/>
          <a:ln w="12700">
            <a:solidFill>
              <a:srgbClr val="747780"/>
            </a:solidFill>
            <a:prstDash val="solid"/>
            <a:tailEnd type="triangle"/>
          </a:ln>
        </p:spPr>
      </p:sp>
      <p:sp>
        <p:nvSpPr>
          <p:cNvPr id="15" name="Text 13"/>
          <p:cNvSpPr/>
          <p:nvPr/>
        </p:nvSpPr>
        <p:spPr>
          <a:xfrm>
            <a:off x="3749040" y="2574036"/>
            <a:ext cx="868680" cy="256032"/>
          </a:xfrm>
          <a:prstGeom prst="rect">
            <a:avLst/>
          </a:prstGeom>
          <a:noFill/>
          <a:ln/>
        </p:spPr>
        <p:txBody>
          <a:bodyPr wrap="square" lIns="0" tIns="0" rIns="0" bIns="0" rtlCol="0" anchor="ctr"/>
          <a:lstStyle/>
          <a:p>
            <a:pPr algn="ctr" indent="0" marL="0">
              <a:buNone/>
            </a:pPr>
            <a:r>
              <a:rPr lang="en-US" sz="950" dirty="0">
                <a:solidFill>
                  <a:srgbClr val="747780"/>
                </a:solidFill>
                <a:latin typeface="Calibri" pitchFamily="34" charset="0"/>
                <a:ea typeface="Calibri" pitchFamily="34" charset="-122"/>
                <a:cs typeface="Calibri" pitchFamily="34" charset="-120"/>
              </a:rPr>
              <a:t>HTTP / JSON</a:t>
            </a:r>
            <a:endParaRPr lang="en-US" sz="950" dirty="0"/>
          </a:p>
        </p:txBody>
      </p:sp>
      <p:sp>
        <p:nvSpPr>
          <p:cNvPr id="16" name="Text 14"/>
          <p:cNvSpPr/>
          <p:nvPr/>
        </p:nvSpPr>
        <p:spPr>
          <a:xfrm>
            <a:off x="7543800" y="2574036"/>
            <a:ext cx="868680" cy="256032"/>
          </a:xfrm>
          <a:prstGeom prst="rect">
            <a:avLst/>
          </a:prstGeom>
          <a:noFill/>
          <a:ln/>
        </p:spPr>
        <p:txBody>
          <a:bodyPr wrap="square" lIns="0" tIns="0" rIns="0" bIns="0" rtlCol="0" anchor="ctr"/>
          <a:lstStyle/>
          <a:p>
            <a:pPr algn="ctr" indent="0" marL="0">
              <a:buNone/>
            </a:pPr>
            <a:r>
              <a:rPr lang="en-US" sz="950" dirty="0">
                <a:solidFill>
                  <a:srgbClr val="747780"/>
                </a:solidFill>
                <a:latin typeface="Calibri" pitchFamily="34" charset="0"/>
                <a:ea typeface="Calibri" pitchFamily="34" charset="-122"/>
                <a:cs typeface="Calibri" pitchFamily="34" charset="-120"/>
              </a:rPr>
              <a:t>base64 image</a:t>
            </a:r>
            <a:endParaRPr lang="en-US" sz="950" dirty="0"/>
          </a:p>
        </p:txBody>
      </p:sp>
      <p:sp>
        <p:nvSpPr>
          <p:cNvPr id="17" name="Shape 15"/>
          <p:cNvSpPr/>
          <p:nvPr/>
        </p:nvSpPr>
        <p:spPr>
          <a:xfrm>
            <a:off x="6080760" y="3566160"/>
            <a:ext cx="0" cy="502920"/>
          </a:xfrm>
          <a:prstGeom prst="line">
            <a:avLst/>
          </a:prstGeom>
          <a:noFill/>
          <a:ln w="12700">
            <a:solidFill>
              <a:srgbClr val="747780"/>
            </a:solidFill>
            <a:prstDash val="solid"/>
          </a:ln>
        </p:spPr>
      </p:sp>
      <p:sp>
        <p:nvSpPr>
          <p:cNvPr id="18" name="Shape 16"/>
          <p:cNvSpPr/>
          <p:nvPr/>
        </p:nvSpPr>
        <p:spPr>
          <a:xfrm>
            <a:off x="4617720" y="4069080"/>
            <a:ext cx="2926080" cy="713232"/>
          </a:xfrm>
          <a:prstGeom prst="rect">
            <a:avLst/>
          </a:prstGeom>
          <a:solidFill>
            <a:srgbClr val="FFFFFF"/>
          </a:solidFill>
          <a:ln w="9525">
            <a:solidFill>
              <a:srgbClr val="747780"/>
            </a:solidFill>
            <a:prstDash val="solid"/>
          </a:ln>
        </p:spPr>
      </p:sp>
      <p:sp>
        <p:nvSpPr>
          <p:cNvPr id="19" name="Text 17"/>
          <p:cNvSpPr/>
          <p:nvPr/>
        </p:nvSpPr>
        <p:spPr>
          <a:xfrm>
            <a:off x="4782312" y="4133088"/>
            <a:ext cx="2596896" cy="274320"/>
          </a:xfrm>
          <a:prstGeom prst="rect">
            <a:avLst/>
          </a:prstGeom>
          <a:noFill/>
          <a:ln/>
        </p:spPr>
        <p:txBody>
          <a:bodyPr wrap="square" lIns="0" tIns="0" rIns="0" bIns="0" rtlCol="0" anchor="ctr"/>
          <a:lstStyle/>
          <a:p>
            <a:pPr indent="0" marL="0">
              <a:buNone/>
            </a:pPr>
            <a:r>
              <a:rPr lang="en-US" sz="1350" b="1" dirty="0">
                <a:solidFill>
                  <a:srgbClr val="002452"/>
                </a:solidFill>
                <a:latin typeface="Calibri" pitchFamily="34" charset="0"/>
                <a:ea typeface="Calibri" pitchFamily="34" charset="-122"/>
                <a:cs typeface="Calibri" pitchFamily="34" charset="-120"/>
              </a:rPr>
              <a:t>SQLite</a:t>
            </a:r>
            <a:endParaRPr lang="en-US" sz="1350" dirty="0"/>
          </a:p>
        </p:txBody>
      </p:sp>
      <p:sp>
        <p:nvSpPr>
          <p:cNvPr id="20" name="Text 18"/>
          <p:cNvSpPr/>
          <p:nvPr/>
        </p:nvSpPr>
        <p:spPr>
          <a:xfrm>
            <a:off x="4782312" y="4407408"/>
            <a:ext cx="2596896" cy="256032"/>
          </a:xfrm>
          <a:prstGeom prst="rect">
            <a:avLst/>
          </a:prstGeom>
          <a:noFill/>
          <a:ln/>
        </p:spPr>
        <p:txBody>
          <a:bodyPr wrap="square" lIns="0" tIns="0" rIns="0" bIns="0" rtlCol="0" anchor="ctr"/>
          <a:lstStyle/>
          <a:p>
            <a:pPr indent="0" marL="0">
              <a:buNone/>
            </a:pPr>
            <a:r>
              <a:rPr lang="en-US" sz="1050" dirty="0">
                <a:solidFill>
                  <a:srgbClr val="44474F"/>
                </a:solidFill>
                <a:latin typeface="Calibri" pitchFamily="34" charset="0"/>
                <a:ea typeface="Calibri" pitchFamily="34" charset="-122"/>
                <a:cs typeface="Calibri" pitchFamily="34" charset="-120"/>
              </a:rPr>
              <a:t>cache hasil ekstraksi + file asli</a:t>
            </a:r>
            <a:endParaRPr lang="en-US" sz="1050" dirty="0"/>
          </a:p>
        </p:txBody>
      </p:sp>
      <p:sp>
        <p:nvSpPr>
          <p:cNvPr id="21" name="Text 19"/>
          <p:cNvSpPr/>
          <p:nvPr/>
        </p:nvSpPr>
        <p:spPr>
          <a:xfrm>
            <a:off x="8412480" y="4114800"/>
            <a:ext cx="2971800" cy="640080"/>
          </a:xfrm>
          <a:prstGeom prst="rect">
            <a:avLst/>
          </a:prstGeom>
          <a:noFill/>
          <a:ln/>
        </p:spPr>
        <p:txBody>
          <a:bodyPr wrap="square" lIns="0" tIns="0" rIns="0" bIns="0" rtlCol="0" anchor="t"/>
          <a:lstStyle/>
          <a:p>
            <a:pPr indent="0" marL="0">
              <a:lnSpc>
                <a:spcPts val="1500"/>
              </a:lnSpc>
              <a:buNone/>
            </a:pPr>
            <a:r>
              <a:rPr lang="en-US" sz="1100" dirty="0">
                <a:solidFill>
                  <a:srgbClr val="44474F"/>
                </a:solidFill>
                <a:latin typeface="Calibri" pitchFamily="34" charset="0"/>
                <a:ea typeface="Calibri" pitchFamily="34" charset="-122"/>
                <a:cs typeface="Calibri" pitchFamily="34" charset="-120"/>
              </a:rPr>
              <a:t>PyMuPDF merender halaman PDF ke gambar pada zoom 3.0 sebelum dikirim ke model.</a:t>
            </a:r>
            <a:endParaRPr lang="en-US" sz="1100" dirty="0"/>
          </a:p>
        </p:txBody>
      </p:sp>
      <p:sp>
        <p:nvSpPr>
          <p:cNvPr id="22" name="Text 20"/>
          <p:cNvSpPr/>
          <p:nvPr/>
        </p:nvSpPr>
        <p:spPr>
          <a:xfrm>
            <a:off x="822960" y="5074920"/>
            <a:ext cx="8138160" cy="914400"/>
          </a:xfrm>
          <a:prstGeom prst="rect">
            <a:avLst/>
          </a:prstGeom>
          <a:noFill/>
          <a:ln/>
        </p:spPr>
        <p:txBody>
          <a:bodyPr wrap="square" lIns="0" tIns="0" rIns="0" bIns="0" rtlCol="0" anchor="t"/>
          <a:lstStyle/>
          <a:p>
            <a:pPr indent="0" marL="0">
              <a:lnSpc>
                <a:spcPts val="2200"/>
              </a:lnSpc>
              <a:buNone/>
            </a:pPr>
            <a:r>
              <a:rPr lang="en-US" sz="1500" dirty="0">
                <a:solidFill>
                  <a:srgbClr val="191C1E"/>
                </a:solidFill>
                <a:latin typeface="Calibri" pitchFamily="34" charset="0"/>
                <a:ea typeface="Calibri" pitchFamily="34" charset="-122"/>
                <a:cs typeface="Calibri" pitchFamily="34" charset="-120"/>
              </a:rPr>
              <a:t>Frontend hanya bicara HTTP ke FastAPI. Semua kontak dengan model, pydantic schema, dan business rules ada di satu tempat. Konsekuensinya: ganti model tidak menyentuh satu baris pun kode React.</a:t>
            </a:r>
            <a:endParaRPr lang="en-US" sz="1500" dirty="0"/>
          </a:p>
        </p:txBody>
      </p:sp>
      <p:sp>
        <p:nvSpPr>
          <p:cNvPr id="24" name="Text 21"/>
          <p:cNvSpPr/>
          <p:nvPr/>
        </p:nvSpPr>
        <p:spPr>
          <a:xfrm>
            <a:off x="11155680" y="6327648"/>
            <a:ext cx="54864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274320"/>
            <a:ext cx="10561320" cy="237744"/>
          </a:xfrm>
          <a:prstGeom prst="rect">
            <a:avLst/>
          </a:prstGeom>
          <a:noFill/>
          <a:ln/>
        </p:spPr>
        <p:txBody>
          <a:bodyPr wrap="square" lIns="0" tIns="0" rIns="0" bIns="0" rtlCol="0" anchor="t"/>
          <a:lstStyle/>
          <a:p>
            <a:pPr indent="0" marL="0">
              <a:buNone/>
            </a:pPr>
            <a:r>
              <a:rPr lang="en-US" sz="1100" b="1" spc="140" kern="0" dirty="0">
                <a:solidFill>
                  <a:srgbClr val="747780"/>
                </a:solidFill>
                <a:latin typeface="Calibri" pitchFamily="34" charset="0"/>
                <a:ea typeface="Calibri" pitchFamily="34" charset="-122"/>
                <a:cs typeface="Calibri" pitchFamily="34" charset="-120"/>
              </a:rPr>
              <a:t>DEMO</a:t>
            </a:r>
            <a:endParaRPr lang="en-US" sz="1100" dirty="0"/>
          </a:p>
        </p:txBody>
      </p:sp>
      <p:sp>
        <p:nvSpPr>
          <p:cNvPr id="3" name="Text 1"/>
          <p:cNvSpPr/>
          <p:nvPr/>
        </p:nvSpPr>
        <p:spPr>
          <a:xfrm>
            <a:off x="822960" y="566928"/>
            <a:ext cx="10561320" cy="566928"/>
          </a:xfrm>
          <a:prstGeom prst="rect">
            <a:avLst/>
          </a:prstGeom>
          <a:noFill/>
          <a:ln/>
        </p:spPr>
        <p:txBody>
          <a:bodyPr wrap="square" lIns="0" tIns="0" rIns="0" bIns="0" rtlCol="0" anchor="t"/>
          <a:lstStyle/>
          <a:p>
            <a:pPr algn="l" indent="0" marL="0">
              <a:buNone/>
            </a:pPr>
            <a:r>
              <a:rPr lang="en-US" sz="3000" b="1" dirty="0">
                <a:solidFill>
                  <a:srgbClr val="002452"/>
                </a:solidFill>
                <a:latin typeface="Calibri" pitchFamily="34" charset="0"/>
                <a:ea typeface="Calibri" pitchFamily="34" charset="-122"/>
                <a:cs typeface="Calibri" pitchFamily="34" charset="-120"/>
              </a:rPr>
              <a:t>Dokumen masuk, field terstruktur keluar</a:t>
            </a:r>
            <a:endParaRPr lang="en-US" sz="3000" dirty="0"/>
          </a:p>
        </p:txBody>
      </p:sp>
      <p:sp>
        <p:nvSpPr>
          <p:cNvPr id="4" name="Shape 2"/>
          <p:cNvSpPr/>
          <p:nvPr/>
        </p:nvSpPr>
        <p:spPr>
          <a:xfrm>
            <a:off x="822960" y="1463040"/>
            <a:ext cx="7498080" cy="3931920"/>
          </a:xfrm>
          <a:prstGeom prst="rect">
            <a:avLst/>
          </a:prstGeom>
          <a:solidFill>
            <a:srgbClr val="F7F9FC"/>
          </a:solidFill>
          <a:ln w="12700">
            <a:solidFill>
              <a:srgbClr val="E3E8EF"/>
            </a:solidFill>
            <a:prstDash val="dash"/>
          </a:ln>
        </p:spPr>
      </p:sp>
      <p:sp>
        <p:nvSpPr>
          <p:cNvPr id="5" name="Text 3"/>
          <p:cNvSpPr/>
          <p:nvPr/>
        </p:nvSpPr>
        <p:spPr>
          <a:xfrm>
            <a:off x="1097280" y="2926080"/>
            <a:ext cx="6949440" cy="292608"/>
          </a:xfrm>
          <a:prstGeom prst="rect">
            <a:avLst/>
          </a:prstGeom>
          <a:noFill/>
          <a:ln/>
        </p:spPr>
        <p:txBody>
          <a:bodyPr wrap="square" lIns="0" tIns="0" rIns="0" bIns="0" rtlCol="0" anchor="ctr"/>
          <a:lstStyle/>
          <a:p>
            <a:pPr algn="ctr" indent="0" marL="0">
              <a:buNone/>
            </a:pPr>
            <a:r>
              <a:rPr lang="en-US" sz="1300" b="1" dirty="0">
                <a:solidFill>
                  <a:srgbClr val="44474F"/>
                </a:solidFill>
                <a:latin typeface="Calibri" pitchFamily="34" charset="0"/>
                <a:ea typeface="Calibri" pitchFamily="34" charset="-122"/>
                <a:cs typeface="Calibri" pitchFamily="34" charset="-120"/>
              </a:rPr>
              <a:t>GANTI DENGAN SCREENSHOT</a:t>
            </a:r>
            <a:endParaRPr lang="en-US" sz="1300" dirty="0"/>
          </a:p>
        </p:txBody>
      </p:sp>
      <p:sp>
        <p:nvSpPr>
          <p:cNvPr id="6" name="Text 4"/>
          <p:cNvSpPr/>
          <p:nvPr/>
        </p:nvSpPr>
        <p:spPr>
          <a:xfrm>
            <a:off x="1097280" y="3264408"/>
            <a:ext cx="6949440" cy="640080"/>
          </a:xfrm>
          <a:prstGeom prst="rect">
            <a:avLst/>
          </a:prstGeom>
          <a:noFill/>
          <a:ln/>
        </p:spPr>
        <p:txBody>
          <a:bodyPr wrap="square" lIns="0" tIns="0" rIns="0" bIns="0" rtlCol="0" anchor="t"/>
          <a:lstStyle/>
          <a:p>
            <a:pPr algn="ctr" indent="0" marL="0">
              <a:lnSpc>
                <a:spcPts val="1800"/>
              </a:lnSpc>
              <a:buNone/>
            </a:pPr>
            <a:r>
              <a:rPr lang="en-US" sz="1200" dirty="0">
                <a:solidFill>
                  <a:srgbClr val="747780"/>
                </a:solidFill>
                <a:latin typeface="Calibri" pitchFamily="34" charset="0"/>
                <a:ea typeface="Calibri" pitchFamily="34" charset="-122"/>
                <a:cs typeface="Calibri" pitchFamily="34" charset="-120"/>
              </a:rPr>
              <a:t>Halaman hasil extraction: preview dokumen di kiri,</a:t>
            </a:r>
            <a:endParaRPr lang="en-US" sz="1200" dirty="0"/>
          </a:p>
          <a:p>
            <a:pPr algn="ctr" indent="0" marL="0">
              <a:lnSpc>
                <a:spcPts val="1800"/>
              </a:lnSpc>
              <a:buNone/>
            </a:pPr>
            <a:r>
              <a:rPr lang="en-US" sz="1200" dirty="0">
                <a:solidFill>
                  <a:srgbClr val="747780"/>
                </a:solidFill>
                <a:latin typeface="Calibri" pitchFamily="34" charset="0"/>
                <a:ea typeface="Calibri" pitchFamily="34" charset="-122"/>
                <a:cs typeface="Calibri" pitchFamily="34" charset="-120"/>
              </a:rPr>
              <a:t>field hasil ekstraksi di kanan</a:t>
            </a:r>
            <a:endParaRPr lang="en-US" sz="1200" dirty="0"/>
          </a:p>
        </p:txBody>
      </p:sp>
      <p:sp>
        <p:nvSpPr>
          <p:cNvPr id="7" name="Text 5"/>
          <p:cNvSpPr/>
          <p:nvPr/>
        </p:nvSpPr>
        <p:spPr>
          <a:xfrm>
            <a:off x="822960" y="5504688"/>
            <a:ext cx="7498080" cy="502920"/>
          </a:xfrm>
          <a:prstGeom prst="rect">
            <a:avLst/>
          </a:prstGeom>
          <a:noFill/>
          <a:ln/>
        </p:spPr>
        <p:txBody>
          <a:bodyPr wrap="square" lIns="0" tIns="0" rIns="0" bIns="0" rtlCol="0" anchor="t"/>
          <a:lstStyle/>
          <a:p>
            <a:pPr indent="0" marL="0">
              <a:lnSpc>
                <a:spcPts val="1600"/>
              </a:lnSpc>
              <a:buNone/>
            </a:pPr>
            <a:r>
              <a:rPr lang="en-US" sz="1150" dirty="0">
                <a:solidFill>
                  <a:srgbClr val="44474F"/>
                </a:solidFill>
                <a:latin typeface="Calibri" pitchFamily="34" charset="0"/>
                <a:ea typeface="Calibri" pitchFamily="34" charset="-122"/>
                <a:cs typeface="Calibri" pitchFamily="34" charset="-120"/>
              </a:rPr>
              <a:t>Preview dokumen asli di kiri, field hasil ekstraksi di kanan. Angka Rupiah ditampilkan gaya Indonesia (1.812.630).</a:t>
            </a:r>
            <a:endParaRPr lang="en-US" sz="1150" dirty="0"/>
          </a:p>
        </p:txBody>
      </p:sp>
      <p:sp>
        <p:nvSpPr>
          <p:cNvPr id="8" name="Text 6"/>
          <p:cNvSpPr/>
          <p:nvPr/>
        </p:nvSpPr>
        <p:spPr>
          <a:xfrm>
            <a:off x="8686800" y="1481328"/>
            <a:ext cx="2697480" cy="292608"/>
          </a:xfrm>
          <a:prstGeom prst="rect">
            <a:avLst/>
          </a:prstGeom>
          <a:noFill/>
          <a:ln/>
        </p:spPr>
        <p:txBody>
          <a:bodyPr wrap="square" lIns="0" tIns="0" rIns="0" bIns="0" rtlCol="0" anchor="ctr"/>
          <a:lstStyle/>
          <a:p>
            <a:pPr indent="0" marL="0">
              <a:buNone/>
            </a:pPr>
            <a:r>
              <a:rPr lang="en-US" sz="1300" b="1" dirty="0">
                <a:solidFill>
                  <a:srgbClr val="002452"/>
                </a:solidFill>
                <a:latin typeface="Calibri" pitchFamily="34" charset="0"/>
                <a:ea typeface="Calibri" pitchFamily="34" charset="-122"/>
                <a:cs typeface="Calibri" pitchFamily="34" charset="-120"/>
              </a:rPr>
              <a:t>Field yang dikembalikan</a:t>
            </a:r>
            <a:endParaRPr lang="en-US" sz="1300" dirty="0"/>
          </a:p>
        </p:txBody>
      </p:sp>
      <p:sp>
        <p:nvSpPr>
          <p:cNvPr id="9" name="Text 7"/>
          <p:cNvSpPr/>
          <p:nvPr/>
        </p:nvSpPr>
        <p:spPr>
          <a:xfrm>
            <a:off x="8686800" y="1847088"/>
            <a:ext cx="2697480" cy="2194560"/>
          </a:xfrm>
          <a:prstGeom prst="rect">
            <a:avLst/>
          </a:prstGeom>
          <a:noFill/>
          <a:ln/>
        </p:spPr>
        <p:txBody>
          <a:bodyPr wrap="square" lIns="0" tIns="0" rIns="0" bIns="0" rtlCol="0" anchor="t"/>
          <a:lstStyle/>
          <a:p>
            <a:pPr indent="0" marL="0">
              <a:lnSpc>
                <a:spcPts val="1900"/>
              </a:lnSpc>
              <a:buNone/>
            </a:pPr>
            <a:r>
              <a:rPr lang="en-US" sz="1200" dirty="0">
                <a:solidFill>
                  <a:srgbClr val="191C1E"/>
                </a:solidFill>
                <a:latin typeface="Courier New" pitchFamily="34" charset="0"/>
                <a:ea typeface="Courier New" pitchFamily="34" charset="-122"/>
                <a:cs typeface="Courier New" pitchFamily="34" charset="-120"/>
              </a:rPr>
              <a:t>doc_number</a:t>
            </a:r>
            <a:endParaRPr lang="en-US" sz="1200" dirty="0"/>
          </a:p>
          <a:p>
            <a:pPr indent="0" marL="0">
              <a:lnSpc>
                <a:spcPts val="1900"/>
              </a:lnSpc>
              <a:buNone/>
            </a:pPr>
            <a:r>
              <a:rPr lang="en-US" sz="1200" dirty="0">
                <a:solidFill>
                  <a:srgbClr val="191C1E"/>
                </a:solidFill>
                <a:latin typeface="Courier New" pitchFamily="34" charset="0"/>
                <a:ea typeface="Courier New" pitchFamily="34" charset="-122"/>
                <a:cs typeface="Courier New" pitchFamily="34" charset="-120"/>
              </a:rPr>
              <a:t>vendor</a:t>
            </a:r>
            <a:endParaRPr lang="en-US" sz="1200" dirty="0"/>
          </a:p>
          <a:p>
            <a:pPr indent="0" marL="0">
              <a:lnSpc>
                <a:spcPts val="1900"/>
              </a:lnSpc>
              <a:buNone/>
            </a:pPr>
            <a:r>
              <a:rPr lang="en-US" sz="1200" dirty="0">
                <a:solidFill>
                  <a:srgbClr val="191C1E"/>
                </a:solidFill>
                <a:latin typeface="Courier New" pitchFamily="34" charset="0"/>
                <a:ea typeface="Courier New" pitchFamily="34" charset="-122"/>
                <a:cs typeface="Courier New" pitchFamily="34" charset="-120"/>
              </a:rPr>
              <a:t>buyer</a:t>
            </a:r>
            <a:endParaRPr lang="en-US" sz="1200" dirty="0"/>
          </a:p>
          <a:p>
            <a:pPr indent="0" marL="0">
              <a:lnSpc>
                <a:spcPts val="1900"/>
              </a:lnSpc>
              <a:buNone/>
            </a:pPr>
            <a:r>
              <a:rPr lang="en-US" sz="1200" dirty="0">
                <a:solidFill>
                  <a:srgbClr val="191C1E"/>
                </a:solidFill>
                <a:latin typeface="Courier New" pitchFamily="34" charset="0"/>
                <a:ea typeface="Courier New" pitchFamily="34" charset="-122"/>
                <a:cs typeface="Courier New" pitchFamily="34" charset="-120"/>
              </a:rPr>
              <a:t>doc_date</a:t>
            </a:r>
            <a:endParaRPr lang="en-US" sz="1200" dirty="0"/>
          </a:p>
          <a:p>
            <a:pPr indent="0" marL="0">
              <a:lnSpc>
                <a:spcPts val="1900"/>
              </a:lnSpc>
              <a:buNone/>
            </a:pPr>
            <a:r>
              <a:rPr lang="en-US" sz="1200" dirty="0">
                <a:solidFill>
                  <a:srgbClr val="191C1E"/>
                </a:solidFill>
                <a:latin typeface="Courier New" pitchFamily="34" charset="0"/>
                <a:ea typeface="Courier New" pitchFamily="34" charset="-122"/>
                <a:cs typeface="Courier New" pitchFamily="34" charset="-120"/>
              </a:rPr>
              <a:t>currency</a:t>
            </a:r>
            <a:endParaRPr lang="en-US" sz="1200" dirty="0"/>
          </a:p>
          <a:p>
            <a:pPr indent="0" marL="0">
              <a:lnSpc>
                <a:spcPts val="1900"/>
              </a:lnSpc>
              <a:buNone/>
            </a:pPr>
            <a:r>
              <a:rPr lang="en-US" sz="1200" dirty="0">
                <a:solidFill>
                  <a:srgbClr val="191C1E"/>
                </a:solidFill>
                <a:latin typeface="Courier New" pitchFamily="34" charset="0"/>
                <a:ea typeface="Courier New" pitchFamily="34" charset="-122"/>
                <a:cs typeface="Courier New" pitchFamily="34" charset="-120"/>
              </a:rPr>
              <a:t>subtotal</a:t>
            </a:r>
            <a:endParaRPr lang="en-US" sz="1200" dirty="0"/>
          </a:p>
          <a:p>
            <a:pPr indent="0" marL="0">
              <a:lnSpc>
                <a:spcPts val="1900"/>
              </a:lnSpc>
              <a:buNone/>
            </a:pPr>
            <a:r>
              <a:rPr lang="en-US" sz="1200" dirty="0">
                <a:solidFill>
                  <a:srgbClr val="191C1E"/>
                </a:solidFill>
                <a:latin typeface="Courier New" pitchFamily="34" charset="0"/>
                <a:ea typeface="Courier New" pitchFamily="34" charset="-122"/>
                <a:cs typeface="Courier New" pitchFamily="34" charset="-120"/>
              </a:rPr>
              <a:t>tax_amount</a:t>
            </a:r>
            <a:endParaRPr lang="en-US" sz="1200" dirty="0"/>
          </a:p>
          <a:p>
            <a:pPr indent="0" marL="0">
              <a:lnSpc>
                <a:spcPts val="1900"/>
              </a:lnSpc>
              <a:buNone/>
            </a:pPr>
            <a:r>
              <a:rPr lang="en-US" sz="1200" dirty="0">
                <a:solidFill>
                  <a:srgbClr val="191C1E"/>
                </a:solidFill>
                <a:latin typeface="Courier New" pitchFamily="34" charset="0"/>
                <a:ea typeface="Courier New" pitchFamily="34" charset="-122"/>
                <a:cs typeface="Courier New" pitchFamily="34" charset="-120"/>
              </a:rPr>
              <a:t>total_amount</a:t>
            </a:r>
            <a:endParaRPr lang="en-US" sz="1200" dirty="0"/>
          </a:p>
          <a:p>
            <a:pPr indent="0" marL="0">
              <a:lnSpc>
                <a:spcPts val="1900"/>
              </a:lnSpc>
              <a:buNone/>
            </a:pPr>
            <a:r>
              <a:rPr lang="en-US" sz="1200" dirty="0">
                <a:solidFill>
                  <a:srgbClr val="191C1E"/>
                </a:solidFill>
                <a:latin typeface="Courier New" pitchFamily="34" charset="0"/>
                <a:ea typeface="Courier New" pitchFamily="34" charset="-122"/>
                <a:cs typeface="Courier New" pitchFamily="34" charset="-120"/>
              </a:rPr>
              <a:t>line_items[]</a:t>
            </a:r>
            <a:endParaRPr lang="en-US" sz="1200" dirty="0"/>
          </a:p>
        </p:txBody>
      </p:sp>
      <p:sp>
        <p:nvSpPr>
          <p:cNvPr id="10" name="Text 8"/>
          <p:cNvSpPr/>
          <p:nvPr/>
        </p:nvSpPr>
        <p:spPr>
          <a:xfrm>
            <a:off x="8686800" y="4160520"/>
            <a:ext cx="2697480" cy="1554480"/>
          </a:xfrm>
          <a:prstGeom prst="rect">
            <a:avLst/>
          </a:prstGeom>
          <a:noFill/>
          <a:ln/>
        </p:spPr>
        <p:txBody>
          <a:bodyPr wrap="square" lIns="0" tIns="0" rIns="0" bIns="0" rtlCol="0" anchor="t"/>
          <a:lstStyle/>
          <a:p>
            <a:pPr indent="0" marL="0">
              <a:lnSpc>
                <a:spcPts val="1600"/>
              </a:lnSpc>
              <a:buNone/>
            </a:pPr>
            <a:r>
              <a:rPr lang="en-US" sz="1150" dirty="0">
                <a:solidFill>
                  <a:srgbClr val="44474F"/>
                </a:solidFill>
                <a:latin typeface="Calibri" pitchFamily="34" charset="0"/>
                <a:ea typeface="Calibri" pitchFamily="34" charset="-122"/>
                <a:cs typeface="Calibri" pitchFamily="34" charset="-120"/>
              </a:rPr>
              <a:t>Bentuknya dikunci pydantic. Model diberi Model.model_json_schema() di dalam prompt, temperature 0, dan output-nya dilewatkan model_validate_json(). Kalau tidak cocok schema, gagal di situ juga.</a:t>
            </a:r>
            <a:endParaRPr lang="en-US" sz="1150" dirty="0"/>
          </a:p>
        </p:txBody>
      </p:sp>
      <p:sp>
        <p:nvSpPr>
          <p:cNvPr id="12" name="Text 9"/>
          <p:cNvSpPr/>
          <p:nvPr/>
        </p:nvSpPr>
        <p:spPr>
          <a:xfrm>
            <a:off x="11155680" y="6327648"/>
            <a:ext cx="54864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822960" y="2377440"/>
            <a:ext cx="10058400" cy="914400"/>
          </a:xfrm>
          <a:prstGeom prst="rect">
            <a:avLst/>
          </a:prstGeom>
          <a:noFill/>
          <a:ln/>
        </p:spPr>
        <p:txBody>
          <a:bodyPr wrap="square" lIns="0" tIns="0" rIns="0" bIns="0" rtlCol="0" anchor="ctr"/>
          <a:lstStyle/>
          <a:p>
            <a:pPr indent="0" marL="0">
              <a:buNone/>
            </a:pPr>
            <a:r>
              <a:rPr lang="en-US" sz="4600" b="1" dirty="0">
                <a:solidFill>
                  <a:srgbClr val="002452"/>
                </a:solidFill>
                <a:latin typeface="Calibri" pitchFamily="34" charset="0"/>
                <a:ea typeface="Calibri" pitchFamily="34" charset="-122"/>
                <a:cs typeface="Calibri" pitchFamily="34" charset="-120"/>
              </a:rPr>
              <a:t>Vision model-nya itu OCR-nya.</a:t>
            </a:r>
            <a:endParaRPr lang="en-US" sz="4600" dirty="0"/>
          </a:p>
        </p:txBody>
      </p:sp>
      <p:sp>
        <p:nvSpPr>
          <p:cNvPr id="3" name="Text 1"/>
          <p:cNvSpPr/>
          <p:nvPr/>
        </p:nvSpPr>
        <p:spPr>
          <a:xfrm>
            <a:off x="822960" y="3429000"/>
            <a:ext cx="7863840" cy="822960"/>
          </a:xfrm>
          <a:prstGeom prst="rect">
            <a:avLst/>
          </a:prstGeom>
          <a:noFill/>
          <a:ln/>
        </p:spPr>
        <p:txBody>
          <a:bodyPr wrap="square" lIns="0" tIns="0" rIns="0" bIns="0" rtlCol="0" anchor="t"/>
          <a:lstStyle/>
          <a:p>
            <a:pPr indent="0" marL="0">
              <a:lnSpc>
                <a:spcPts val="2700"/>
              </a:lnSpc>
              <a:buNone/>
            </a:pPr>
            <a:r>
              <a:rPr lang="en-US" sz="1800" dirty="0">
                <a:solidFill>
                  <a:srgbClr val="44474F"/>
                </a:solidFill>
                <a:latin typeface="Calibri" pitchFamily="34" charset="0"/>
                <a:ea typeface="Calibri" pitchFamily="34" charset="-122"/>
                <a:cs typeface="Calibri" pitchFamily="34" charset="-120"/>
              </a:rPr>
              <a:t>Tidak ada Tesseract, tidak ada PaddleOCR, tidak ada layout parser di jalur utama. Gambar masuk, field terstruktur keluar, satu langkah.</a:t>
            </a:r>
            <a:endParaRPr lang="en-US" sz="1800" dirty="0"/>
          </a:p>
        </p:txBody>
      </p:sp>
      <p:sp>
        <p:nvSpPr>
          <p:cNvPr id="5" name="Text 2"/>
          <p:cNvSpPr/>
          <p:nvPr/>
        </p:nvSpPr>
        <p:spPr>
          <a:xfrm>
            <a:off x="11155680" y="6327648"/>
            <a:ext cx="54864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274320"/>
            <a:ext cx="10561320" cy="237744"/>
          </a:xfrm>
          <a:prstGeom prst="rect">
            <a:avLst/>
          </a:prstGeom>
          <a:noFill/>
          <a:ln/>
        </p:spPr>
        <p:txBody>
          <a:bodyPr wrap="square" lIns="0" tIns="0" rIns="0" bIns="0" rtlCol="0" anchor="t"/>
          <a:lstStyle/>
          <a:p>
            <a:pPr indent="0" marL="0">
              <a:buNone/>
            </a:pPr>
            <a:r>
              <a:rPr lang="en-US" sz="1100" b="1" spc="140" kern="0" dirty="0">
                <a:solidFill>
                  <a:srgbClr val="747780"/>
                </a:solidFill>
                <a:latin typeface="Calibri" pitchFamily="34" charset="0"/>
                <a:ea typeface="Calibri" pitchFamily="34" charset="-122"/>
                <a:cs typeface="Calibri" pitchFamily="34" charset="-120"/>
              </a:rPr>
              <a:t>VALIDATION</a:t>
            </a:r>
            <a:endParaRPr lang="en-US" sz="1100" dirty="0"/>
          </a:p>
        </p:txBody>
      </p:sp>
      <p:sp>
        <p:nvSpPr>
          <p:cNvPr id="3" name="Text 1"/>
          <p:cNvSpPr/>
          <p:nvPr/>
        </p:nvSpPr>
        <p:spPr>
          <a:xfrm>
            <a:off x="822960" y="566928"/>
            <a:ext cx="10561320" cy="566928"/>
          </a:xfrm>
          <a:prstGeom prst="rect">
            <a:avLst/>
          </a:prstGeom>
          <a:noFill/>
          <a:ln/>
        </p:spPr>
        <p:txBody>
          <a:bodyPr wrap="square" lIns="0" tIns="0" rIns="0" bIns="0" rtlCol="0" anchor="t"/>
          <a:lstStyle/>
          <a:p>
            <a:pPr algn="l" indent="0" marL="0">
              <a:buNone/>
            </a:pPr>
            <a:r>
              <a:rPr lang="en-US" sz="3000" b="1" dirty="0">
                <a:solidFill>
                  <a:srgbClr val="002452"/>
                </a:solidFill>
                <a:latin typeface="Calibri" pitchFamily="34" charset="0"/>
                <a:ea typeface="Calibri" pitchFamily="34" charset="-122"/>
                <a:cs typeface="Calibri" pitchFamily="34" charset="-120"/>
              </a:rPr>
              <a:t>Sembilan business rules yang jalan setelah setiap ekstraksi</a:t>
            </a:r>
            <a:endParaRPr lang="en-US" sz="3000" dirty="0"/>
          </a:p>
        </p:txBody>
      </p:sp>
      <p:sp>
        <p:nvSpPr>
          <p:cNvPr id="4" name="Shape 2"/>
          <p:cNvSpPr/>
          <p:nvPr/>
        </p:nvSpPr>
        <p:spPr>
          <a:xfrm>
            <a:off x="850392" y="1728216"/>
            <a:ext cx="91440" cy="91440"/>
          </a:xfrm>
          <a:prstGeom prst="ellipse">
            <a:avLst/>
          </a:prstGeom>
          <a:solidFill>
            <a:srgbClr val="B91C1C"/>
          </a:solidFill>
          <a:ln w="3175">
            <a:solidFill>
              <a:srgbClr val="B91C1C"/>
            </a:solidFill>
            <a:prstDash val="solid"/>
          </a:ln>
        </p:spPr>
      </p:sp>
      <p:sp>
        <p:nvSpPr>
          <p:cNvPr id="5" name="Text 3"/>
          <p:cNvSpPr/>
          <p:nvPr/>
        </p:nvSpPr>
        <p:spPr>
          <a:xfrm>
            <a:off x="1078992" y="1627632"/>
            <a:ext cx="5486400" cy="301752"/>
          </a:xfrm>
          <a:prstGeom prst="rect">
            <a:avLst/>
          </a:prstGeom>
          <a:noFill/>
          <a:ln/>
        </p:spPr>
        <p:txBody>
          <a:bodyPr wrap="square" lIns="0" tIns="0" rIns="0" bIns="0" rtlCol="0" anchor="ctr"/>
          <a:lstStyle/>
          <a:p>
            <a:pPr indent="0" marL="0">
              <a:buNone/>
            </a:pPr>
            <a:r>
              <a:rPr lang="en-US" sz="1350" dirty="0">
                <a:solidFill>
                  <a:srgbClr val="191C1E"/>
                </a:solidFill>
                <a:latin typeface="Calibri" pitchFamily="34" charset="0"/>
                <a:ea typeface="Calibri" pitchFamily="34" charset="-122"/>
                <a:cs typeface="Calibri" pitchFamily="34" charset="-120"/>
              </a:rPr>
              <a:t>subtotal + tax_amount = total_amount</a:t>
            </a:r>
            <a:endParaRPr lang="en-US" sz="1350" dirty="0"/>
          </a:p>
        </p:txBody>
      </p:sp>
      <p:sp>
        <p:nvSpPr>
          <p:cNvPr id="6" name="Shape 4"/>
          <p:cNvSpPr/>
          <p:nvPr/>
        </p:nvSpPr>
        <p:spPr>
          <a:xfrm>
            <a:off x="850392" y="2112264"/>
            <a:ext cx="91440" cy="91440"/>
          </a:xfrm>
          <a:prstGeom prst="ellipse">
            <a:avLst/>
          </a:prstGeom>
          <a:solidFill>
            <a:srgbClr val="B91C1C"/>
          </a:solidFill>
          <a:ln w="3175">
            <a:solidFill>
              <a:srgbClr val="B91C1C"/>
            </a:solidFill>
            <a:prstDash val="solid"/>
          </a:ln>
        </p:spPr>
      </p:sp>
      <p:sp>
        <p:nvSpPr>
          <p:cNvPr id="7" name="Text 5"/>
          <p:cNvSpPr/>
          <p:nvPr/>
        </p:nvSpPr>
        <p:spPr>
          <a:xfrm>
            <a:off x="1078992" y="2011680"/>
            <a:ext cx="5486400" cy="301752"/>
          </a:xfrm>
          <a:prstGeom prst="rect">
            <a:avLst/>
          </a:prstGeom>
          <a:noFill/>
          <a:ln/>
        </p:spPr>
        <p:txBody>
          <a:bodyPr wrap="square" lIns="0" tIns="0" rIns="0" bIns="0" rtlCol="0" anchor="ctr"/>
          <a:lstStyle/>
          <a:p>
            <a:pPr indent="0" marL="0">
              <a:buNone/>
            </a:pPr>
            <a:r>
              <a:rPr lang="en-US" sz="1350" dirty="0">
                <a:solidFill>
                  <a:srgbClr val="191C1E"/>
                </a:solidFill>
                <a:latin typeface="Calibri" pitchFamily="34" charset="0"/>
                <a:ea typeface="Calibri" pitchFamily="34" charset="-122"/>
                <a:cs typeface="Calibri" pitchFamily="34" charset="-120"/>
              </a:rPr>
              <a:t>Jumlah line_total semua baris = subtotal</a:t>
            </a:r>
            <a:endParaRPr lang="en-US" sz="1350" dirty="0"/>
          </a:p>
        </p:txBody>
      </p:sp>
      <p:sp>
        <p:nvSpPr>
          <p:cNvPr id="8" name="Shape 6"/>
          <p:cNvSpPr/>
          <p:nvPr/>
        </p:nvSpPr>
        <p:spPr>
          <a:xfrm>
            <a:off x="850392" y="2496312"/>
            <a:ext cx="91440" cy="91440"/>
          </a:xfrm>
          <a:prstGeom prst="ellipse">
            <a:avLst/>
          </a:prstGeom>
          <a:solidFill>
            <a:srgbClr val="B91C1C"/>
          </a:solidFill>
          <a:ln w="3175">
            <a:solidFill>
              <a:srgbClr val="B91C1C"/>
            </a:solidFill>
            <a:prstDash val="solid"/>
          </a:ln>
        </p:spPr>
      </p:sp>
      <p:sp>
        <p:nvSpPr>
          <p:cNvPr id="9" name="Text 7"/>
          <p:cNvSpPr/>
          <p:nvPr/>
        </p:nvSpPr>
        <p:spPr>
          <a:xfrm>
            <a:off x="1078992" y="2395728"/>
            <a:ext cx="5486400" cy="301752"/>
          </a:xfrm>
          <a:prstGeom prst="rect">
            <a:avLst/>
          </a:prstGeom>
          <a:noFill/>
          <a:ln/>
        </p:spPr>
        <p:txBody>
          <a:bodyPr wrap="square" lIns="0" tIns="0" rIns="0" bIns="0" rtlCol="0" anchor="ctr"/>
          <a:lstStyle/>
          <a:p>
            <a:pPr indent="0" marL="0">
              <a:buNone/>
            </a:pPr>
            <a:r>
              <a:rPr lang="en-US" sz="1350" dirty="0">
                <a:solidFill>
                  <a:srgbClr val="191C1E"/>
                </a:solidFill>
                <a:latin typeface="Calibri" pitchFamily="34" charset="0"/>
                <a:ea typeface="Calibri" pitchFamily="34" charset="-122"/>
                <a:cs typeface="Calibri" pitchFamily="34" charset="-120"/>
              </a:rPr>
              <a:t>qty × unit_price = line_total per baris</a:t>
            </a:r>
            <a:endParaRPr lang="en-US" sz="1350" dirty="0"/>
          </a:p>
        </p:txBody>
      </p:sp>
      <p:sp>
        <p:nvSpPr>
          <p:cNvPr id="10" name="Shape 8"/>
          <p:cNvSpPr/>
          <p:nvPr/>
        </p:nvSpPr>
        <p:spPr>
          <a:xfrm>
            <a:off x="850392" y="2880360"/>
            <a:ext cx="91440" cy="91440"/>
          </a:xfrm>
          <a:prstGeom prst="ellipse">
            <a:avLst/>
          </a:prstGeom>
          <a:solidFill>
            <a:srgbClr val="B45309"/>
          </a:solidFill>
          <a:ln w="3175">
            <a:solidFill>
              <a:srgbClr val="B45309"/>
            </a:solidFill>
            <a:prstDash val="solid"/>
          </a:ln>
        </p:spPr>
      </p:sp>
      <p:sp>
        <p:nvSpPr>
          <p:cNvPr id="11" name="Text 9"/>
          <p:cNvSpPr/>
          <p:nvPr/>
        </p:nvSpPr>
        <p:spPr>
          <a:xfrm>
            <a:off x="1078992" y="2779776"/>
            <a:ext cx="5486400" cy="301752"/>
          </a:xfrm>
          <a:prstGeom prst="rect">
            <a:avLst/>
          </a:prstGeom>
          <a:noFill/>
          <a:ln/>
        </p:spPr>
        <p:txBody>
          <a:bodyPr wrap="square" lIns="0" tIns="0" rIns="0" bIns="0" rtlCol="0" anchor="ctr"/>
          <a:lstStyle/>
          <a:p>
            <a:pPr indent="0" marL="0">
              <a:buNone/>
            </a:pPr>
            <a:r>
              <a:rPr lang="en-US" sz="1350" dirty="0">
                <a:solidFill>
                  <a:srgbClr val="191C1E"/>
                </a:solidFill>
                <a:latin typeface="Calibri" pitchFamily="34" charset="0"/>
                <a:ea typeface="Calibri" pitchFamily="34" charset="-122"/>
                <a:cs typeface="Calibri" pitchFamily="34" charset="-120"/>
              </a:rPr>
              <a:t>PPN 11% pada invoice dan purchase order</a:t>
            </a:r>
            <a:endParaRPr lang="en-US" sz="1350" dirty="0"/>
          </a:p>
        </p:txBody>
      </p:sp>
      <p:sp>
        <p:nvSpPr>
          <p:cNvPr id="12" name="Shape 10"/>
          <p:cNvSpPr/>
          <p:nvPr/>
        </p:nvSpPr>
        <p:spPr>
          <a:xfrm>
            <a:off x="850392" y="3264408"/>
            <a:ext cx="91440" cy="91440"/>
          </a:xfrm>
          <a:prstGeom prst="ellipse">
            <a:avLst/>
          </a:prstGeom>
          <a:solidFill>
            <a:srgbClr val="B45309"/>
          </a:solidFill>
          <a:ln w="3175">
            <a:solidFill>
              <a:srgbClr val="B45309"/>
            </a:solidFill>
            <a:prstDash val="solid"/>
          </a:ln>
        </p:spPr>
      </p:sp>
      <p:sp>
        <p:nvSpPr>
          <p:cNvPr id="13" name="Text 11"/>
          <p:cNvSpPr/>
          <p:nvPr/>
        </p:nvSpPr>
        <p:spPr>
          <a:xfrm>
            <a:off x="1078992" y="3163824"/>
            <a:ext cx="5486400" cy="301752"/>
          </a:xfrm>
          <a:prstGeom prst="rect">
            <a:avLst/>
          </a:prstGeom>
          <a:noFill/>
          <a:ln/>
        </p:spPr>
        <p:txBody>
          <a:bodyPr wrap="square" lIns="0" tIns="0" rIns="0" bIns="0" rtlCol="0" anchor="ctr"/>
          <a:lstStyle/>
          <a:p>
            <a:pPr indent="0" marL="0">
              <a:buNone/>
            </a:pPr>
            <a:r>
              <a:rPr lang="en-US" sz="1350" dirty="0">
                <a:solidFill>
                  <a:srgbClr val="191C1E"/>
                </a:solidFill>
                <a:latin typeface="Calibri" pitchFamily="34" charset="0"/>
                <a:ea typeface="Calibri" pitchFamily="34" charset="-122"/>
                <a:cs typeface="Calibri" pitchFamily="34" charset="-120"/>
              </a:rPr>
              <a:t>Receipt tidak boleh punya tax line</a:t>
            </a:r>
            <a:endParaRPr lang="en-US" sz="1350" dirty="0"/>
          </a:p>
        </p:txBody>
      </p:sp>
      <p:sp>
        <p:nvSpPr>
          <p:cNvPr id="14" name="Shape 12"/>
          <p:cNvSpPr/>
          <p:nvPr/>
        </p:nvSpPr>
        <p:spPr>
          <a:xfrm>
            <a:off x="850392" y="3648456"/>
            <a:ext cx="91440" cy="91440"/>
          </a:xfrm>
          <a:prstGeom prst="ellipse">
            <a:avLst/>
          </a:prstGeom>
          <a:solidFill>
            <a:srgbClr val="B91C1C"/>
          </a:solidFill>
          <a:ln w="3175">
            <a:solidFill>
              <a:srgbClr val="B91C1C"/>
            </a:solidFill>
            <a:prstDash val="solid"/>
          </a:ln>
        </p:spPr>
      </p:sp>
      <p:sp>
        <p:nvSpPr>
          <p:cNvPr id="15" name="Text 13"/>
          <p:cNvSpPr/>
          <p:nvPr/>
        </p:nvSpPr>
        <p:spPr>
          <a:xfrm>
            <a:off x="1078992" y="3547872"/>
            <a:ext cx="5486400" cy="301752"/>
          </a:xfrm>
          <a:prstGeom prst="rect">
            <a:avLst/>
          </a:prstGeom>
          <a:noFill/>
          <a:ln/>
        </p:spPr>
        <p:txBody>
          <a:bodyPr wrap="square" lIns="0" tIns="0" rIns="0" bIns="0" rtlCol="0" anchor="ctr"/>
          <a:lstStyle/>
          <a:p>
            <a:pPr indent="0" marL="0">
              <a:buNone/>
            </a:pPr>
            <a:r>
              <a:rPr lang="en-US" sz="1350" dirty="0">
                <a:solidFill>
                  <a:srgbClr val="191C1E"/>
                </a:solidFill>
                <a:latin typeface="Calibri" pitchFamily="34" charset="0"/>
                <a:ea typeface="Calibri" pitchFamily="34" charset="-122"/>
                <a:cs typeface="Calibri" pitchFamily="34" charset="-120"/>
              </a:rPr>
              <a:t>Field wajib terisi: doc_number, vendor, doc_date, total_amount</a:t>
            </a:r>
            <a:endParaRPr lang="en-US" sz="1350" dirty="0"/>
          </a:p>
        </p:txBody>
      </p:sp>
      <p:sp>
        <p:nvSpPr>
          <p:cNvPr id="16" name="Shape 14"/>
          <p:cNvSpPr/>
          <p:nvPr/>
        </p:nvSpPr>
        <p:spPr>
          <a:xfrm>
            <a:off x="850392" y="4032504"/>
            <a:ext cx="91440" cy="91440"/>
          </a:xfrm>
          <a:prstGeom prst="ellipse">
            <a:avLst/>
          </a:prstGeom>
          <a:solidFill>
            <a:srgbClr val="B91C1C"/>
          </a:solidFill>
          <a:ln w="3175">
            <a:solidFill>
              <a:srgbClr val="B91C1C"/>
            </a:solidFill>
            <a:prstDash val="solid"/>
          </a:ln>
        </p:spPr>
      </p:sp>
      <p:sp>
        <p:nvSpPr>
          <p:cNvPr id="17" name="Text 15"/>
          <p:cNvSpPr/>
          <p:nvPr/>
        </p:nvSpPr>
        <p:spPr>
          <a:xfrm>
            <a:off x="1078992" y="3931920"/>
            <a:ext cx="5486400" cy="301752"/>
          </a:xfrm>
          <a:prstGeom prst="rect">
            <a:avLst/>
          </a:prstGeom>
          <a:noFill/>
          <a:ln/>
        </p:spPr>
        <p:txBody>
          <a:bodyPr wrap="square" lIns="0" tIns="0" rIns="0" bIns="0" rtlCol="0" anchor="ctr"/>
          <a:lstStyle/>
          <a:p>
            <a:pPr indent="0" marL="0">
              <a:buNone/>
            </a:pPr>
            <a:r>
              <a:rPr lang="en-US" sz="1350" dirty="0">
                <a:solidFill>
                  <a:srgbClr val="191C1E"/>
                </a:solidFill>
                <a:latin typeface="Calibri" pitchFamily="34" charset="0"/>
                <a:ea typeface="Calibri" pitchFamily="34" charset="-122"/>
                <a:cs typeface="Calibri" pitchFamily="34" charset="-120"/>
              </a:rPr>
              <a:t>doc_date harus tanggal YYYY-MM-DD yang valid</a:t>
            </a:r>
            <a:endParaRPr lang="en-US" sz="1350" dirty="0"/>
          </a:p>
        </p:txBody>
      </p:sp>
      <p:sp>
        <p:nvSpPr>
          <p:cNvPr id="18" name="Shape 16"/>
          <p:cNvSpPr/>
          <p:nvPr/>
        </p:nvSpPr>
        <p:spPr>
          <a:xfrm>
            <a:off x="850392" y="4416552"/>
            <a:ext cx="91440" cy="91440"/>
          </a:xfrm>
          <a:prstGeom prst="ellipse">
            <a:avLst/>
          </a:prstGeom>
          <a:solidFill>
            <a:srgbClr val="B45309"/>
          </a:solidFill>
          <a:ln w="3175">
            <a:solidFill>
              <a:srgbClr val="B45309"/>
            </a:solidFill>
            <a:prstDash val="solid"/>
          </a:ln>
        </p:spPr>
      </p:sp>
      <p:sp>
        <p:nvSpPr>
          <p:cNvPr id="19" name="Text 17"/>
          <p:cNvSpPr/>
          <p:nvPr/>
        </p:nvSpPr>
        <p:spPr>
          <a:xfrm>
            <a:off x="1078992" y="4315968"/>
            <a:ext cx="5486400" cy="301752"/>
          </a:xfrm>
          <a:prstGeom prst="rect">
            <a:avLst/>
          </a:prstGeom>
          <a:noFill/>
          <a:ln/>
        </p:spPr>
        <p:txBody>
          <a:bodyPr wrap="square" lIns="0" tIns="0" rIns="0" bIns="0" rtlCol="0" anchor="ctr"/>
          <a:lstStyle/>
          <a:p>
            <a:pPr indent="0" marL="0">
              <a:buNone/>
            </a:pPr>
            <a:r>
              <a:rPr lang="en-US" sz="1350" dirty="0">
                <a:solidFill>
                  <a:srgbClr val="191C1E"/>
                </a:solidFill>
                <a:latin typeface="Calibri" pitchFamily="34" charset="0"/>
                <a:ea typeface="Calibri" pitchFamily="34" charset="-122"/>
                <a:cs typeface="Calibri" pitchFamily="34" charset="-120"/>
              </a:rPr>
              <a:t>currency tiga huruf, default IDR</a:t>
            </a:r>
            <a:endParaRPr lang="en-US" sz="1350" dirty="0"/>
          </a:p>
        </p:txBody>
      </p:sp>
      <p:sp>
        <p:nvSpPr>
          <p:cNvPr id="20" name="Shape 18"/>
          <p:cNvSpPr/>
          <p:nvPr/>
        </p:nvSpPr>
        <p:spPr>
          <a:xfrm>
            <a:off x="850392" y="4800600"/>
            <a:ext cx="91440" cy="91440"/>
          </a:xfrm>
          <a:prstGeom prst="ellipse">
            <a:avLst/>
          </a:prstGeom>
          <a:solidFill>
            <a:srgbClr val="747780"/>
          </a:solidFill>
          <a:ln w="3175">
            <a:solidFill>
              <a:srgbClr val="747780"/>
            </a:solidFill>
            <a:prstDash val="solid"/>
          </a:ln>
        </p:spPr>
      </p:sp>
      <p:sp>
        <p:nvSpPr>
          <p:cNvPr id="21" name="Text 19"/>
          <p:cNvSpPr/>
          <p:nvPr/>
        </p:nvSpPr>
        <p:spPr>
          <a:xfrm>
            <a:off x="1078992" y="4700016"/>
            <a:ext cx="5486400" cy="301752"/>
          </a:xfrm>
          <a:prstGeom prst="rect">
            <a:avLst/>
          </a:prstGeom>
          <a:noFill/>
          <a:ln/>
        </p:spPr>
        <p:txBody>
          <a:bodyPr wrap="square" lIns="0" tIns="0" rIns="0" bIns="0" rtlCol="0" anchor="ctr"/>
          <a:lstStyle/>
          <a:p>
            <a:pPr indent="0" marL="0">
              <a:buNone/>
            </a:pPr>
            <a:r>
              <a:rPr lang="en-US" sz="1350" dirty="0">
                <a:solidFill>
                  <a:srgbClr val="191C1E"/>
                </a:solidFill>
                <a:latin typeface="Calibri" pitchFamily="34" charset="0"/>
                <a:ea typeface="Calibri" pitchFamily="34" charset="-122"/>
                <a:cs typeface="Calibri" pitchFamily="34" charset="-120"/>
              </a:rPr>
              <a:t>Confidence turun kalau ada field kosong</a:t>
            </a:r>
            <a:endParaRPr lang="en-US" sz="1350" dirty="0"/>
          </a:p>
        </p:txBody>
      </p:sp>
      <p:sp>
        <p:nvSpPr>
          <p:cNvPr id="22" name="Text 20"/>
          <p:cNvSpPr/>
          <p:nvPr/>
        </p:nvSpPr>
        <p:spPr>
          <a:xfrm>
            <a:off x="1078992" y="5120640"/>
            <a:ext cx="5852160" cy="274320"/>
          </a:xfrm>
          <a:prstGeom prst="rect">
            <a:avLst/>
          </a:prstGeom>
          <a:noFill/>
          <a:ln/>
        </p:spPr>
        <p:txBody>
          <a:bodyPr wrap="square" lIns="0" tIns="0" rIns="0" bIns="0" rtlCol="0" anchor="ctr"/>
          <a:lstStyle/>
          <a:p>
            <a:pPr indent="0" marL="0">
              <a:buNone/>
            </a:pPr>
            <a:r>
              <a:rPr lang="en-US" sz="1050" dirty="0">
                <a:solidFill>
                  <a:srgbClr val="747780"/>
                </a:solidFill>
                <a:latin typeface="Calibri" pitchFamily="34" charset="0"/>
                <a:ea typeface="Calibri" pitchFamily="34" charset="-122"/>
                <a:cs typeface="Calibri" pitchFamily="34" charset="-120"/>
              </a:rPr>
              <a:t>merah = error (blokir approve)   ·   oranye = warning   ·   abu = flag</a:t>
            </a:r>
            <a:endParaRPr lang="en-US" sz="1050" dirty="0"/>
          </a:p>
        </p:txBody>
      </p:sp>
      <p:sp>
        <p:nvSpPr>
          <p:cNvPr id="23" name="Shape 21"/>
          <p:cNvSpPr/>
          <p:nvPr/>
        </p:nvSpPr>
        <p:spPr>
          <a:xfrm>
            <a:off x="6903720" y="1627632"/>
            <a:ext cx="4480560" cy="2331720"/>
          </a:xfrm>
          <a:prstGeom prst="rect">
            <a:avLst/>
          </a:prstGeom>
          <a:solidFill>
            <a:srgbClr val="F7F9FC"/>
          </a:solidFill>
          <a:ln w="9525">
            <a:solidFill>
              <a:srgbClr val="E3E8EF"/>
            </a:solidFill>
            <a:prstDash val="solid"/>
          </a:ln>
        </p:spPr>
      </p:sp>
      <p:sp>
        <p:nvSpPr>
          <p:cNvPr id="24" name="Text 22"/>
          <p:cNvSpPr/>
          <p:nvPr/>
        </p:nvSpPr>
        <p:spPr>
          <a:xfrm>
            <a:off x="7132320" y="1773936"/>
            <a:ext cx="4023360" cy="274320"/>
          </a:xfrm>
          <a:prstGeom prst="rect">
            <a:avLst/>
          </a:prstGeom>
          <a:noFill/>
          <a:ln/>
        </p:spPr>
        <p:txBody>
          <a:bodyPr wrap="square" lIns="0" tIns="0" rIns="0" bIns="0" rtlCol="0" anchor="ctr"/>
          <a:lstStyle/>
          <a:p>
            <a:pPr indent="0" marL="0">
              <a:buNone/>
            </a:pPr>
            <a:r>
              <a:rPr lang="en-US" sz="1300" b="1" dirty="0">
                <a:solidFill>
                  <a:srgbClr val="002452"/>
                </a:solidFill>
                <a:latin typeface="Calibri" pitchFamily="34" charset="0"/>
                <a:ea typeface="Calibri" pitchFamily="34" charset="-122"/>
                <a:cs typeface="Calibri" pitchFamily="34" charset="-120"/>
              </a:rPr>
              <a:t>Contoh yang gagal</a:t>
            </a:r>
            <a:endParaRPr lang="en-US" sz="1300" dirty="0"/>
          </a:p>
        </p:txBody>
      </p:sp>
      <p:sp>
        <p:nvSpPr>
          <p:cNvPr id="25" name="Text 23"/>
          <p:cNvSpPr/>
          <p:nvPr/>
        </p:nvSpPr>
        <p:spPr>
          <a:xfrm>
            <a:off x="7132320" y="2121408"/>
            <a:ext cx="4023360" cy="1280160"/>
          </a:xfrm>
          <a:prstGeom prst="rect">
            <a:avLst/>
          </a:prstGeom>
          <a:noFill/>
          <a:ln/>
        </p:spPr>
        <p:txBody>
          <a:bodyPr wrap="square" lIns="0" tIns="0" rIns="0" bIns="0" rtlCol="0" anchor="t"/>
          <a:lstStyle/>
          <a:p>
            <a:pPr indent="0" marL="0">
              <a:lnSpc>
                <a:spcPts val="2000"/>
              </a:lnSpc>
              <a:buNone/>
            </a:pPr>
            <a:r>
              <a:rPr lang="en-US" sz="1200" dirty="0">
                <a:solidFill>
                  <a:srgbClr val="191C1E"/>
                </a:solidFill>
                <a:latin typeface="Courier New" pitchFamily="34" charset="0"/>
                <a:ea typeface="Courier New" pitchFamily="34" charset="-122"/>
                <a:cs typeface="Courier New" pitchFamily="34" charset="-120"/>
              </a:rPr>
              <a:t>subtotal      1.812.630
</a:t>
            </a:r>
            <a:pPr indent="0" marL="0">
              <a:lnSpc>
                <a:spcPts val="2000"/>
              </a:lnSpc>
              <a:buNone/>
            </a:pPr>
            <a:r>
              <a:rPr lang="en-US" sz="1200" dirty="0">
                <a:solidFill>
                  <a:srgbClr val="191C1E"/>
                </a:solidFill>
                <a:latin typeface="Courier New" pitchFamily="34" charset="0"/>
                <a:ea typeface="Courier New" pitchFamily="34" charset="-122"/>
                <a:cs typeface="Courier New" pitchFamily="34" charset="-120"/>
              </a:rPr>
              <a:t>tax_amount      199.389
</a:t>
            </a:r>
            <a:pPr indent="0" marL="0">
              <a:lnSpc>
                <a:spcPts val="2000"/>
              </a:lnSpc>
              <a:buNone/>
            </a:pPr>
            <a:r>
              <a:rPr lang="en-US" sz="1200" b="1" dirty="0">
                <a:solidFill>
                  <a:srgbClr val="B91C1C"/>
                </a:solidFill>
                <a:latin typeface="Courier New" pitchFamily="34" charset="0"/>
                <a:ea typeface="Courier New" pitchFamily="34" charset="-122"/>
                <a:cs typeface="Courier New" pitchFamily="34" charset="-120"/>
              </a:rPr>
              <a:t>total_amount  2.012.020
</a:t>
            </a:r>
            <a:pPr indent="0" marL="0">
              <a:lnSpc>
                <a:spcPts val="2000"/>
              </a:lnSpc>
              <a:buNone/>
            </a:pPr>
            <a:endParaRPr lang="en-US" sz="1200" dirty="0"/>
          </a:p>
          <a:p>
            <a:pPr indent="0" marL="0">
              <a:lnSpc>
                <a:spcPts val="2000"/>
              </a:lnSpc>
              <a:buNone/>
            </a:pPr>
            <a:r>
              <a:rPr lang="en-US" sz="1200" dirty="0">
                <a:solidFill>
                  <a:srgbClr val="44474F"/>
                </a:solidFill>
                <a:latin typeface="Courier New" pitchFamily="34" charset="0"/>
                <a:ea typeface="Courier New" pitchFamily="34" charset="-122"/>
                <a:cs typeface="Courier New" pitchFamily="34" charset="-120"/>
              </a:rPr>
              <a:t>1.812.630 + 199.389 = 2.012.019</a:t>
            </a:r>
            <a:endParaRPr lang="en-US" sz="1200" dirty="0"/>
          </a:p>
        </p:txBody>
      </p:sp>
      <p:sp>
        <p:nvSpPr>
          <p:cNvPr id="26" name="Text 24"/>
          <p:cNvSpPr/>
          <p:nvPr/>
        </p:nvSpPr>
        <p:spPr>
          <a:xfrm>
            <a:off x="7132320" y="3401568"/>
            <a:ext cx="4023360" cy="457200"/>
          </a:xfrm>
          <a:prstGeom prst="rect">
            <a:avLst/>
          </a:prstGeom>
          <a:noFill/>
          <a:ln/>
        </p:spPr>
        <p:txBody>
          <a:bodyPr wrap="square" lIns="0" tIns="0" rIns="0" bIns="0" rtlCol="0" anchor="t"/>
          <a:lstStyle/>
          <a:p>
            <a:pPr indent="0" marL="0">
              <a:lnSpc>
                <a:spcPts val="1500"/>
              </a:lnSpc>
              <a:buNone/>
            </a:pPr>
            <a:r>
              <a:rPr lang="en-US" sz="1100" dirty="0">
                <a:solidFill>
                  <a:srgbClr val="44474F"/>
                </a:solidFill>
                <a:latin typeface="Calibri" pitchFamily="34" charset="0"/>
                <a:ea typeface="Calibri" pitchFamily="34" charset="-122"/>
                <a:cs typeface="Calibri" pitchFamily="34" charset="-120"/>
              </a:rPr>
              <a:t>Selisih Rp 1. Ditandai Calculation Mismatch, dokumen tidak bisa di-approve sebelum dikoreksi.</a:t>
            </a:r>
            <a:endParaRPr lang="en-US" sz="1100" dirty="0"/>
          </a:p>
        </p:txBody>
      </p:sp>
      <p:sp>
        <p:nvSpPr>
          <p:cNvPr id="27" name="Text 25"/>
          <p:cNvSpPr/>
          <p:nvPr/>
        </p:nvSpPr>
        <p:spPr>
          <a:xfrm>
            <a:off x="6903720" y="4206240"/>
            <a:ext cx="4480560" cy="640080"/>
          </a:xfrm>
          <a:prstGeom prst="rect">
            <a:avLst/>
          </a:prstGeom>
          <a:noFill/>
          <a:ln/>
        </p:spPr>
        <p:txBody>
          <a:bodyPr wrap="square" lIns="0" tIns="0" rIns="0" bIns="0" rtlCol="0" anchor="ctr"/>
          <a:lstStyle/>
          <a:p>
            <a:pPr indent="0" marL="0">
              <a:buNone/>
            </a:pPr>
            <a:r>
              <a:rPr lang="en-US" sz="4000" b="1" dirty="0">
                <a:solidFill>
                  <a:srgbClr val="002452"/>
                </a:solidFill>
                <a:latin typeface="Calibri" pitchFamily="34" charset="0"/>
                <a:ea typeface="Calibri" pitchFamily="34" charset="-122"/>
                <a:cs typeface="Calibri" pitchFamily="34" charset="-120"/>
              </a:rPr>
              <a:t>74</a:t>
            </a:r>
            <a:pPr indent="0" marL="0">
              <a:buNone/>
            </a:pPr>
            <a:r>
              <a:rPr lang="en-US" sz="1500" dirty="0">
                <a:solidFill>
                  <a:srgbClr val="44474F"/>
                </a:solidFill>
                <a:latin typeface="Calibri" pitchFamily="34" charset="0"/>
                <a:ea typeface="Calibri" pitchFamily="34" charset="-122"/>
                <a:cs typeface="Calibri" pitchFamily="34" charset="-120"/>
              </a:rPr>
              <a:t>  automated tests</a:t>
            </a:r>
            <a:endParaRPr lang="en-US" sz="4000" dirty="0"/>
          </a:p>
        </p:txBody>
      </p:sp>
      <p:sp>
        <p:nvSpPr>
          <p:cNvPr id="28" name="Text 26"/>
          <p:cNvSpPr/>
          <p:nvPr/>
        </p:nvSpPr>
        <p:spPr>
          <a:xfrm>
            <a:off x="6903720" y="4800600"/>
            <a:ext cx="4480560" cy="731520"/>
          </a:xfrm>
          <a:prstGeom prst="rect">
            <a:avLst/>
          </a:prstGeom>
          <a:noFill/>
          <a:ln/>
        </p:spPr>
        <p:txBody>
          <a:bodyPr wrap="square" lIns="0" tIns="0" rIns="0" bIns="0" rtlCol="0" anchor="t"/>
          <a:lstStyle/>
          <a:p>
            <a:pPr indent="0" marL="0">
              <a:lnSpc>
                <a:spcPts val="1700"/>
              </a:lnSpc>
              <a:buNone/>
            </a:pPr>
            <a:r>
              <a:rPr lang="en-US" sz="1200" dirty="0">
                <a:solidFill>
                  <a:srgbClr val="44474F"/>
                </a:solidFill>
                <a:latin typeface="Calibri" pitchFamily="34" charset="0"/>
                <a:ea typeface="Calibri" pitchFamily="34" charset="-122"/>
                <a:cs typeface="Calibri" pitchFamily="34" charset="-120"/>
              </a:rPr>
              <a:t>Seluruh 60 baris ground truth lolos validasi tanpa error — jadi rules-nya tidak menandai dokumen yang sebenarnya benar.</a:t>
            </a:r>
            <a:endParaRPr lang="en-US" sz="1200" dirty="0"/>
          </a:p>
        </p:txBody>
      </p:sp>
      <p:sp>
        <p:nvSpPr>
          <p:cNvPr id="29" name="Text 27"/>
          <p:cNvSpPr/>
          <p:nvPr/>
        </p:nvSpPr>
        <p:spPr>
          <a:xfrm>
            <a:off x="822960" y="5806440"/>
            <a:ext cx="9692640" cy="347472"/>
          </a:xfrm>
          <a:prstGeom prst="rect">
            <a:avLst/>
          </a:prstGeom>
          <a:noFill/>
          <a:ln/>
        </p:spPr>
        <p:txBody>
          <a:bodyPr wrap="square" lIns="0" tIns="0" rIns="0" bIns="0" rtlCol="0" anchor="t"/>
          <a:lstStyle/>
          <a:p>
            <a:pPr indent="0" marL="0">
              <a:buNone/>
            </a:pPr>
            <a:r>
              <a:rPr lang="en-US" sz="1000" dirty="0">
                <a:solidFill>
                  <a:srgbClr val="747780"/>
                </a:solidFill>
                <a:latin typeface="Calibri" pitchFamily="34" charset="0"/>
                <a:ea typeface="Calibri" pitchFamily="34" charset="-122"/>
                <a:cs typeface="Calibri" pitchFamily="34" charset="-120"/>
              </a:rPr>
              <a:t>Sumber: backend/app/validation.py · docs/PROJECT_SUMMARY.md §6</a:t>
            </a:r>
            <a:endParaRPr lang="en-US" sz="1000" dirty="0"/>
          </a:p>
        </p:txBody>
      </p:sp>
      <p:sp>
        <p:nvSpPr>
          <p:cNvPr id="31" name="Text 28"/>
          <p:cNvSpPr/>
          <p:nvPr/>
        </p:nvSpPr>
        <p:spPr>
          <a:xfrm>
            <a:off x="11155680" y="6327648"/>
            <a:ext cx="54864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274320"/>
            <a:ext cx="10561320" cy="237744"/>
          </a:xfrm>
          <a:prstGeom prst="rect">
            <a:avLst/>
          </a:prstGeom>
          <a:noFill/>
          <a:ln/>
        </p:spPr>
        <p:txBody>
          <a:bodyPr wrap="square" lIns="0" tIns="0" rIns="0" bIns="0" rtlCol="0" anchor="t"/>
          <a:lstStyle/>
          <a:p>
            <a:pPr indent="0" marL="0">
              <a:buNone/>
            </a:pPr>
            <a:r>
              <a:rPr lang="en-US" sz="1100" b="1" spc="140" kern="0" dirty="0">
                <a:solidFill>
                  <a:srgbClr val="747780"/>
                </a:solidFill>
                <a:latin typeface="Calibri" pitchFamily="34" charset="0"/>
                <a:ea typeface="Calibri" pitchFamily="34" charset="-122"/>
                <a:cs typeface="Calibri" pitchFamily="34" charset="-120"/>
              </a:rPr>
              <a:t>HUMAN-IN-THE-LOOP</a:t>
            </a:r>
            <a:endParaRPr lang="en-US" sz="1100" dirty="0"/>
          </a:p>
        </p:txBody>
      </p:sp>
      <p:sp>
        <p:nvSpPr>
          <p:cNvPr id="3" name="Text 1"/>
          <p:cNvSpPr/>
          <p:nvPr/>
        </p:nvSpPr>
        <p:spPr>
          <a:xfrm>
            <a:off x="822960" y="566928"/>
            <a:ext cx="10561320" cy="566928"/>
          </a:xfrm>
          <a:prstGeom prst="rect">
            <a:avLst/>
          </a:prstGeom>
          <a:noFill/>
          <a:ln/>
        </p:spPr>
        <p:txBody>
          <a:bodyPr wrap="square" lIns="0" tIns="0" rIns="0" bIns="0" rtlCol="0" anchor="t"/>
          <a:lstStyle/>
          <a:p>
            <a:pPr algn="l" indent="0" marL="0">
              <a:buNone/>
            </a:pPr>
            <a:r>
              <a:rPr lang="en-US" sz="3000" b="1" dirty="0">
                <a:solidFill>
                  <a:srgbClr val="002452"/>
                </a:solidFill>
                <a:latin typeface="Calibri" pitchFamily="34" charset="0"/>
                <a:ea typeface="Calibri" pitchFamily="34" charset="-122"/>
                <a:cs typeface="Calibri" pitchFamily="34" charset="-120"/>
              </a:rPr>
              <a:t>Tiga role, dan hanya satu yang boleh approve</a:t>
            </a:r>
            <a:endParaRPr lang="en-US" sz="3000" dirty="0"/>
          </a:p>
        </p:txBody>
      </p:sp>
      <p:sp>
        <p:nvSpPr>
          <p:cNvPr id="4" name="Shape 2"/>
          <p:cNvSpPr/>
          <p:nvPr/>
        </p:nvSpPr>
        <p:spPr>
          <a:xfrm>
            <a:off x="822960" y="1536192"/>
            <a:ext cx="3383280" cy="3850173"/>
          </a:xfrm>
          <a:prstGeom prst="rect">
            <a:avLst/>
          </a:prstGeom>
          <a:solidFill>
            <a:srgbClr val="002452"/>
          </a:solidFill>
          <a:ln w="3175">
            <a:solidFill>
              <a:srgbClr val="002452"/>
            </a:solidFill>
            <a:prstDash val="solid"/>
          </a:ln>
        </p:spPr>
      </p:sp>
      <p:sp>
        <p:nvSpPr>
          <p:cNvPr id="5" name="Shape 3"/>
          <p:cNvSpPr/>
          <p:nvPr/>
        </p:nvSpPr>
        <p:spPr>
          <a:xfrm>
            <a:off x="4206240" y="1536192"/>
            <a:ext cx="3383280" cy="3850173"/>
          </a:xfrm>
          <a:prstGeom prst="rect">
            <a:avLst/>
          </a:prstGeom>
          <a:solidFill>
            <a:srgbClr val="F7F9FC"/>
          </a:solidFill>
          <a:ln w="6350">
            <a:solidFill>
              <a:srgbClr val="E3E8EF"/>
            </a:solidFill>
            <a:prstDash val="solid"/>
          </a:ln>
        </p:spPr>
      </p:sp>
      <p:sp>
        <p:nvSpPr>
          <p:cNvPr id="6" name="Text 4"/>
          <p:cNvSpPr/>
          <p:nvPr/>
        </p:nvSpPr>
        <p:spPr>
          <a:xfrm>
            <a:off x="1195121" y="1745955"/>
            <a:ext cx="3044952" cy="236830"/>
          </a:xfrm>
          <a:prstGeom prst="rect">
            <a:avLst/>
          </a:prstGeom>
          <a:noFill/>
          <a:ln/>
        </p:spPr>
        <p:txBody>
          <a:bodyPr wrap="square" lIns="0" tIns="0" rIns="0" bIns="0" rtlCol="0" anchor="ctr"/>
          <a:lstStyle/>
          <a:p>
            <a:pPr indent="0" marL="0">
              <a:buNone/>
            </a:pPr>
            <a:r>
              <a:rPr lang="en-US" sz="1225" b="1" dirty="0">
                <a:solidFill>
                  <a:srgbClr val="FFFFFF"/>
                </a:solidFill>
                <a:latin typeface="Calibri" pitchFamily="34" charset="0"/>
                <a:ea typeface="Calibri" pitchFamily="34" charset="-122"/>
                <a:cs typeface="Calibri" pitchFamily="34" charset="-120"/>
              </a:rPr>
              <a:t>DocExtract</a:t>
            </a:r>
            <a:endParaRPr lang="en-US" sz="1225" dirty="0"/>
          </a:p>
        </p:txBody>
      </p:sp>
      <p:sp>
        <p:nvSpPr>
          <p:cNvPr id="7" name="Text 5"/>
          <p:cNvSpPr/>
          <p:nvPr/>
        </p:nvSpPr>
        <p:spPr>
          <a:xfrm>
            <a:off x="1025957" y="4574377"/>
            <a:ext cx="3044952" cy="209763"/>
          </a:xfrm>
          <a:prstGeom prst="rect">
            <a:avLst/>
          </a:prstGeom>
          <a:noFill/>
          <a:ln/>
        </p:spPr>
        <p:txBody>
          <a:bodyPr wrap="square" lIns="0" tIns="0" rIns="0" bIns="0" rtlCol="0" anchor="ctr"/>
          <a:lstStyle/>
          <a:p>
            <a:pPr indent="0" marL="0">
              <a:buNone/>
            </a:pPr>
            <a:r>
              <a:rPr lang="en-US" sz="1332" b="1" dirty="0">
                <a:solidFill>
                  <a:srgbClr val="FFFFFF"/>
                </a:solidFill>
                <a:latin typeface="Calibri" pitchFamily="34" charset="0"/>
                <a:ea typeface="Calibri" pitchFamily="34" charset="-122"/>
                <a:cs typeface="Calibri" pitchFamily="34" charset="-120"/>
              </a:rPr>
              <a:t>Intelligent Document Processing</a:t>
            </a:r>
            <a:endParaRPr lang="en-US" sz="1332" dirty="0"/>
          </a:p>
        </p:txBody>
      </p:sp>
      <p:sp>
        <p:nvSpPr>
          <p:cNvPr id="8" name="Text 6"/>
          <p:cNvSpPr/>
          <p:nvPr/>
        </p:nvSpPr>
        <p:spPr>
          <a:xfrm>
            <a:off x="1025957" y="4824740"/>
            <a:ext cx="2097634" cy="372161"/>
          </a:xfrm>
          <a:prstGeom prst="rect">
            <a:avLst/>
          </a:prstGeom>
          <a:noFill/>
          <a:ln/>
        </p:spPr>
        <p:txBody>
          <a:bodyPr wrap="square" lIns="0" tIns="0" rIns="0" bIns="0" rtlCol="0" anchor="t"/>
          <a:lstStyle/>
          <a:p>
            <a:pPr indent="0" marL="0">
              <a:lnSpc>
                <a:spcPts val="906"/>
              </a:lnSpc>
              <a:buNone/>
            </a:pPr>
            <a:r>
              <a:rPr lang="en-US" sz="693" dirty="0">
                <a:solidFill>
                  <a:srgbClr val="C3D1E6"/>
                </a:solidFill>
                <a:latin typeface="Calibri" pitchFamily="34" charset="0"/>
                <a:ea typeface="Calibri" pitchFamily="34" charset="-122"/>
                <a:cs typeface="Calibri" pitchFamily="34" charset="-120"/>
              </a:rPr>
              <a:t>Read, validate, and approve documents in seconds. Built for high-volume Indonesian financial operations with AI-driven precision.</a:t>
            </a:r>
            <a:endParaRPr lang="en-US" sz="693" dirty="0"/>
          </a:p>
        </p:txBody>
      </p:sp>
      <p:sp>
        <p:nvSpPr>
          <p:cNvPr id="9" name="Shape 7"/>
          <p:cNvSpPr/>
          <p:nvPr/>
        </p:nvSpPr>
        <p:spPr>
          <a:xfrm>
            <a:off x="4872746" y="2229764"/>
            <a:ext cx="2053651" cy="2469794"/>
          </a:xfrm>
          <a:prstGeom prst="rect">
            <a:avLst/>
          </a:prstGeom>
          <a:solidFill>
            <a:srgbClr val="FFFFFF"/>
          </a:solidFill>
          <a:ln w="9525">
            <a:solidFill>
              <a:srgbClr val="E3E8EF"/>
            </a:solidFill>
            <a:prstDash val="solid"/>
          </a:ln>
        </p:spPr>
      </p:sp>
      <p:sp>
        <p:nvSpPr>
          <p:cNvPr id="10" name="Text 8"/>
          <p:cNvSpPr/>
          <p:nvPr/>
        </p:nvSpPr>
        <p:spPr>
          <a:xfrm>
            <a:off x="5011461" y="2358329"/>
            <a:ext cx="1759306" cy="189464"/>
          </a:xfrm>
          <a:prstGeom prst="rect">
            <a:avLst/>
          </a:prstGeom>
          <a:noFill/>
          <a:ln/>
        </p:spPr>
        <p:txBody>
          <a:bodyPr wrap="square" lIns="0" tIns="0" rIns="0" bIns="0" rtlCol="0" anchor="ctr"/>
          <a:lstStyle/>
          <a:p>
            <a:pPr indent="0" marL="0">
              <a:buNone/>
            </a:pPr>
            <a:r>
              <a:rPr lang="en-US" sz="1172" b="1" dirty="0">
                <a:solidFill>
                  <a:srgbClr val="111827"/>
                </a:solidFill>
                <a:latin typeface="Calibri" pitchFamily="34" charset="0"/>
                <a:ea typeface="Calibri" pitchFamily="34" charset="-122"/>
                <a:cs typeface="Calibri" pitchFamily="34" charset="-120"/>
              </a:rPr>
              <a:t>Welcome back</a:t>
            </a:r>
            <a:endParaRPr lang="en-US" sz="1172" dirty="0"/>
          </a:p>
        </p:txBody>
      </p:sp>
      <p:sp>
        <p:nvSpPr>
          <p:cNvPr id="11" name="Text 9"/>
          <p:cNvSpPr/>
          <p:nvPr/>
        </p:nvSpPr>
        <p:spPr>
          <a:xfrm>
            <a:off x="5011461" y="2547793"/>
            <a:ext cx="1826971" cy="115032"/>
          </a:xfrm>
          <a:prstGeom prst="rect">
            <a:avLst/>
          </a:prstGeom>
          <a:noFill/>
          <a:ln/>
        </p:spPr>
        <p:txBody>
          <a:bodyPr wrap="square" lIns="0" tIns="0" rIns="0" bIns="0" rtlCol="0" anchor="ctr"/>
          <a:lstStyle/>
          <a:p>
            <a:pPr indent="0" marL="0">
              <a:buNone/>
            </a:pPr>
            <a:r>
              <a:rPr lang="en-US" sz="666" dirty="0">
                <a:solidFill>
                  <a:srgbClr val="44474F"/>
                </a:solidFill>
                <a:latin typeface="Calibri" pitchFamily="34" charset="0"/>
                <a:ea typeface="Calibri" pitchFamily="34" charset="-122"/>
                <a:cs typeface="Calibri" pitchFamily="34" charset="-120"/>
              </a:rPr>
              <a:t>Enter your credentials to access your workspace</a:t>
            </a:r>
            <a:endParaRPr lang="en-US" sz="666" dirty="0"/>
          </a:p>
        </p:txBody>
      </p:sp>
      <p:sp>
        <p:nvSpPr>
          <p:cNvPr id="12" name="Text 10"/>
          <p:cNvSpPr/>
          <p:nvPr/>
        </p:nvSpPr>
        <p:spPr>
          <a:xfrm>
            <a:off x="5011461" y="2740640"/>
            <a:ext cx="1353312" cy="94732"/>
          </a:xfrm>
          <a:prstGeom prst="rect">
            <a:avLst/>
          </a:prstGeom>
          <a:noFill/>
          <a:ln/>
        </p:spPr>
        <p:txBody>
          <a:bodyPr wrap="square" lIns="0" tIns="0" rIns="0" bIns="0" rtlCol="0" anchor="ctr"/>
          <a:lstStyle/>
          <a:p>
            <a:pPr indent="0" marL="0">
              <a:buNone/>
            </a:pPr>
            <a:r>
              <a:rPr lang="en-US" sz="613" b="1" dirty="0">
                <a:solidFill>
                  <a:srgbClr val="111827"/>
                </a:solidFill>
                <a:latin typeface="Calibri" pitchFamily="34" charset="0"/>
                <a:ea typeface="Calibri" pitchFamily="34" charset="-122"/>
                <a:cs typeface="Calibri" pitchFamily="34" charset="-120"/>
              </a:rPr>
              <a:t>Demo account</a:t>
            </a:r>
            <a:endParaRPr lang="en-US" sz="613" dirty="0"/>
          </a:p>
        </p:txBody>
      </p:sp>
      <p:sp>
        <p:nvSpPr>
          <p:cNvPr id="13" name="Shape 11"/>
          <p:cNvSpPr/>
          <p:nvPr/>
        </p:nvSpPr>
        <p:spPr>
          <a:xfrm>
            <a:off x="5011461" y="2862438"/>
            <a:ext cx="1766072" cy="169164"/>
          </a:xfrm>
          <a:prstGeom prst="roundRect">
            <a:avLst>
              <a:gd name="adj" fmla="val 21622"/>
            </a:avLst>
          </a:prstGeom>
          <a:solidFill>
            <a:srgbClr val="EEF1F5"/>
          </a:solidFill>
          <a:ln w="3175">
            <a:solidFill>
              <a:srgbClr val="EEF1F5"/>
            </a:solidFill>
            <a:prstDash val="solid"/>
          </a:ln>
        </p:spPr>
      </p:sp>
      <p:sp>
        <p:nvSpPr>
          <p:cNvPr id="14" name="Shape 12"/>
          <p:cNvSpPr/>
          <p:nvPr/>
        </p:nvSpPr>
        <p:spPr>
          <a:xfrm>
            <a:off x="5035144" y="2875971"/>
            <a:ext cx="575158" cy="142098"/>
          </a:xfrm>
          <a:prstGeom prst="roundRect">
            <a:avLst>
              <a:gd name="adj" fmla="val 19305"/>
            </a:avLst>
          </a:prstGeom>
          <a:solidFill>
            <a:srgbClr val="1B4FD8"/>
          </a:solidFill>
          <a:ln w="3175">
            <a:solidFill>
              <a:srgbClr val="1B4FD8"/>
            </a:solidFill>
            <a:prstDash val="solid"/>
          </a:ln>
        </p:spPr>
      </p:sp>
      <p:sp>
        <p:nvSpPr>
          <p:cNvPr id="15" name="Text 13"/>
          <p:cNvSpPr/>
          <p:nvPr/>
        </p:nvSpPr>
        <p:spPr>
          <a:xfrm>
            <a:off x="5035144" y="2875971"/>
            <a:ext cx="575158" cy="142098"/>
          </a:xfrm>
          <a:prstGeom prst="rect">
            <a:avLst/>
          </a:prstGeom>
          <a:noFill/>
          <a:ln/>
        </p:spPr>
        <p:txBody>
          <a:bodyPr wrap="square" lIns="0" tIns="0" rIns="0" bIns="0" rtlCol="0" anchor="ctr"/>
          <a:lstStyle/>
          <a:p>
            <a:pPr algn="ctr" indent="0" marL="0">
              <a:buNone/>
            </a:pPr>
            <a:r>
              <a:rPr lang="en-US" sz="639" b="1" dirty="0">
                <a:solidFill>
                  <a:srgbClr val="FFFFFF"/>
                </a:solidFill>
                <a:latin typeface="Calibri" pitchFamily="34" charset="0"/>
                <a:ea typeface="Calibri" pitchFamily="34" charset="-122"/>
                <a:cs typeface="Calibri" pitchFamily="34" charset="-120"/>
              </a:rPr>
              <a:t>User</a:t>
            </a:r>
            <a:endParaRPr lang="en-US" sz="639" dirty="0"/>
          </a:p>
        </p:txBody>
      </p:sp>
      <p:sp>
        <p:nvSpPr>
          <p:cNvPr id="16" name="Text 14"/>
          <p:cNvSpPr/>
          <p:nvPr/>
        </p:nvSpPr>
        <p:spPr>
          <a:xfrm>
            <a:off x="5610301" y="2875971"/>
            <a:ext cx="575158" cy="142098"/>
          </a:xfrm>
          <a:prstGeom prst="rect">
            <a:avLst/>
          </a:prstGeom>
          <a:noFill/>
          <a:ln/>
        </p:spPr>
        <p:txBody>
          <a:bodyPr wrap="square" lIns="0" tIns="0" rIns="0" bIns="0" rtlCol="0" anchor="ctr"/>
          <a:lstStyle/>
          <a:p>
            <a:pPr algn="ctr" indent="0" marL="0">
              <a:buNone/>
            </a:pPr>
            <a:r>
              <a:rPr lang="en-US" sz="639" b="1" dirty="0">
                <a:solidFill>
                  <a:srgbClr val="3F4756"/>
                </a:solidFill>
                <a:latin typeface="Calibri" pitchFamily="34" charset="0"/>
                <a:ea typeface="Calibri" pitchFamily="34" charset="-122"/>
                <a:cs typeface="Calibri" pitchFamily="34" charset="-120"/>
              </a:rPr>
              <a:t>Staff</a:t>
            </a:r>
            <a:endParaRPr lang="en-US" sz="639" dirty="0"/>
          </a:p>
        </p:txBody>
      </p:sp>
      <p:sp>
        <p:nvSpPr>
          <p:cNvPr id="17" name="Text 15"/>
          <p:cNvSpPr/>
          <p:nvPr/>
        </p:nvSpPr>
        <p:spPr>
          <a:xfrm>
            <a:off x="6185459" y="2875971"/>
            <a:ext cx="575158" cy="142098"/>
          </a:xfrm>
          <a:prstGeom prst="rect">
            <a:avLst/>
          </a:prstGeom>
          <a:noFill/>
          <a:ln/>
        </p:spPr>
        <p:txBody>
          <a:bodyPr wrap="square" lIns="0" tIns="0" rIns="0" bIns="0" rtlCol="0" anchor="ctr"/>
          <a:lstStyle/>
          <a:p>
            <a:pPr algn="ctr" indent="0" marL="0">
              <a:buNone/>
            </a:pPr>
            <a:r>
              <a:rPr lang="en-US" sz="639" b="1" dirty="0">
                <a:solidFill>
                  <a:srgbClr val="3F4756"/>
                </a:solidFill>
                <a:latin typeface="Calibri" pitchFamily="34" charset="0"/>
                <a:ea typeface="Calibri" pitchFamily="34" charset="-122"/>
                <a:cs typeface="Calibri" pitchFamily="34" charset="-120"/>
              </a:rPr>
              <a:t>Admin</a:t>
            </a:r>
            <a:endParaRPr lang="en-US" sz="639" dirty="0"/>
          </a:p>
        </p:txBody>
      </p:sp>
      <p:sp>
        <p:nvSpPr>
          <p:cNvPr id="18" name="Text 16"/>
          <p:cNvSpPr/>
          <p:nvPr/>
        </p:nvSpPr>
        <p:spPr>
          <a:xfrm>
            <a:off x="5011461" y="3065435"/>
            <a:ext cx="1826971" cy="101498"/>
          </a:xfrm>
          <a:prstGeom prst="rect">
            <a:avLst/>
          </a:prstGeom>
          <a:noFill/>
          <a:ln/>
        </p:spPr>
        <p:txBody>
          <a:bodyPr wrap="square" lIns="0" tIns="0" rIns="0" bIns="0" rtlCol="0" anchor="ctr"/>
          <a:lstStyle/>
          <a:p>
            <a:pPr indent="0" marL="0">
              <a:buNone/>
            </a:pPr>
            <a:r>
              <a:rPr lang="en-US" sz="586" dirty="0">
                <a:solidFill>
                  <a:srgbClr val="44474F"/>
                </a:solidFill>
                <a:latin typeface="Calibri" pitchFamily="34" charset="0"/>
                <a:ea typeface="Calibri" pitchFamily="34" charset="-122"/>
                <a:cs typeface="Calibri" pitchFamily="34" charset="-120"/>
              </a:rPr>
              <a:t>Picking a tab fills that account's credentials for you.</a:t>
            </a:r>
            <a:endParaRPr lang="en-US" sz="586" dirty="0"/>
          </a:p>
        </p:txBody>
      </p:sp>
      <p:sp>
        <p:nvSpPr>
          <p:cNvPr id="19" name="Text 17"/>
          <p:cNvSpPr/>
          <p:nvPr/>
        </p:nvSpPr>
        <p:spPr>
          <a:xfrm>
            <a:off x="5011461" y="3268431"/>
            <a:ext cx="1353312" cy="94732"/>
          </a:xfrm>
          <a:prstGeom prst="rect">
            <a:avLst/>
          </a:prstGeom>
          <a:noFill/>
          <a:ln/>
        </p:spPr>
        <p:txBody>
          <a:bodyPr wrap="square" lIns="0" tIns="0" rIns="0" bIns="0" rtlCol="0" anchor="ctr"/>
          <a:lstStyle/>
          <a:p>
            <a:pPr indent="0" marL="0">
              <a:buNone/>
            </a:pPr>
            <a:r>
              <a:rPr lang="en-US" sz="613" b="1" dirty="0">
                <a:solidFill>
                  <a:srgbClr val="111827"/>
                </a:solidFill>
                <a:latin typeface="Calibri" pitchFamily="34" charset="0"/>
                <a:ea typeface="Calibri" pitchFamily="34" charset="-122"/>
                <a:cs typeface="Calibri" pitchFamily="34" charset="-120"/>
              </a:rPr>
              <a:t>Email Address</a:t>
            </a:r>
            <a:endParaRPr lang="en-US" sz="613" dirty="0"/>
          </a:p>
        </p:txBody>
      </p:sp>
      <p:sp>
        <p:nvSpPr>
          <p:cNvPr id="20" name="Shape 18"/>
          <p:cNvSpPr/>
          <p:nvPr/>
        </p:nvSpPr>
        <p:spPr>
          <a:xfrm>
            <a:off x="5018227" y="3393613"/>
            <a:ext cx="1759306" cy="169164"/>
          </a:xfrm>
          <a:prstGeom prst="rect">
            <a:avLst/>
          </a:prstGeom>
          <a:solidFill>
            <a:srgbClr val="FFFFFF"/>
          </a:solidFill>
          <a:ln w="9525">
            <a:solidFill>
              <a:srgbClr val="D6DBE3"/>
            </a:solidFill>
            <a:prstDash val="solid"/>
          </a:ln>
        </p:spPr>
      </p:sp>
      <p:sp>
        <p:nvSpPr>
          <p:cNvPr id="21" name="Text 19"/>
          <p:cNvSpPr/>
          <p:nvPr/>
        </p:nvSpPr>
        <p:spPr>
          <a:xfrm>
            <a:off x="5079126" y="3393613"/>
            <a:ext cx="1623974" cy="169164"/>
          </a:xfrm>
          <a:prstGeom prst="rect">
            <a:avLst/>
          </a:prstGeom>
          <a:noFill/>
          <a:ln/>
        </p:spPr>
        <p:txBody>
          <a:bodyPr wrap="square" lIns="0" tIns="0" rIns="0" bIns="0" rtlCol="0" anchor="ctr"/>
          <a:lstStyle/>
          <a:p>
            <a:pPr indent="0" marL="0">
              <a:buNone/>
            </a:pPr>
            <a:r>
              <a:rPr lang="en-US" sz="666" dirty="0">
                <a:solidFill>
                  <a:srgbClr val="111827"/>
                </a:solidFill>
                <a:latin typeface="Calibri" pitchFamily="34" charset="0"/>
                <a:ea typeface="Calibri" pitchFamily="34" charset="-122"/>
                <a:cs typeface="Calibri" pitchFamily="34" charset="-120"/>
              </a:rPr>
              <a:t>user@demo</a:t>
            </a:r>
            <a:endParaRPr lang="en-US" sz="666" dirty="0"/>
          </a:p>
        </p:txBody>
      </p:sp>
      <p:sp>
        <p:nvSpPr>
          <p:cNvPr id="22" name="Text 20"/>
          <p:cNvSpPr/>
          <p:nvPr/>
        </p:nvSpPr>
        <p:spPr>
          <a:xfrm>
            <a:off x="5011461" y="3667658"/>
            <a:ext cx="1353312" cy="94732"/>
          </a:xfrm>
          <a:prstGeom prst="rect">
            <a:avLst/>
          </a:prstGeom>
          <a:noFill/>
          <a:ln/>
        </p:spPr>
        <p:txBody>
          <a:bodyPr wrap="square" lIns="0" tIns="0" rIns="0" bIns="0" rtlCol="0" anchor="ctr"/>
          <a:lstStyle/>
          <a:p>
            <a:pPr indent="0" marL="0">
              <a:buNone/>
            </a:pPr>
            <a:r>
              <a:rPr lang="en-US" sz="613" b="1" dirty="0">
                <a:solidFill>
                  <a:srgbClr val="111827"/>
                </a:solidFill>
                <a:latin typeface="Calibri" pitchFamily="34" charset="0"/>
                <a:ea typeface="Calibri" pitchFamily="34" charset="-122"/>
                <a:cs typeface="Calibri" pitchFamily="34" charset="-120"/>
              </a:rPr>
              <a:t>Password</a:t>
            </a:r>
            <a:endParaRPr lang="en-US" sz="613" dirty="0"/>
          </a:p>
        </p:txBody>
      </p:sp>
      <p:sp>
        <p:nvSpPr>
          <p:cNvPr id="23" name="Shape 21"/>
          <p:cNvSpPr/>
          <p:nvPr/>
        </p:nvSpPr>
        <p:spPr>
          <a:xfrm>
            <a:off x="5018227" y="3789456"/>
            <a:ext cx="1759306" cy="169164"/>
          </a:xfrm>
          <a:prstGeom prst="rect">
            <a:avLst/>
          </a:prstGeom>
          <a:solidFill>
            <a:srgbClr val="FFFFFF"/>
          </a:solidFill>
          <a:ln w="9525">
            <a:solidFill>
              <a:srgbClr val="D6DBE3"/>
            </a:solidFill>
            <a:prstDash val="solid"/>
          </a:ln>
        </p:spPr>
      </p:sp>
      <p:sp>
        <p:nvSpPr>
          <p:cNvPr id="24" name="Text 22"/>
          <p:cNvSpPr/>
          <p:nvPr/>
        </p:nvSpPr>
        <p:spPr>
          <a:xfrm>
            <a:off x="5079126" y="3789456"/>
            <a:ext cx="1623974" cy="169164"/>
          </a:xfrm>
          <a:prstGeom prst="rect">
            <a:avLst/>
          </a:prstGeom>
          <a:noFill/>
          <a:ln/>
        </p:spPr>
        <p:txBody>
          <a:bodyPr wrap="square" lIns="0" tIns="0" rIns="0" bIns="0" rtlCol="0" anchor="ctr"/>
          <a:lstStyle/>
          <a:p>
            <a:pPr indent="0" marL="0">
              <a:buNone/>
            </a:pPr>
            <a:r>
              <a:rPr lang="en-US" sz="799" dirty="0">
                <a:solidFill>
                  <a:srgbClr val="111827"/>
                </a:solidFill>
                <a:latin typeface="Calibri" pitchFamily="34" charset="0"/>
                <a:ea typeface="Calibri" pitchFamily="34" charset="-122"/>
                <a:cs typeface="Calibri" pitchFamily="34" charset="-120"/>
              </a:rPr>
              <a:t>•••••••</a:t>
            </a:r>
            <a:endParaRPr lang="en-US" sz="799" dirty="0"/>
          </a:p>
        </p:txBody>
      </p:sp>
      <p:sp>
        <p:nvSpPr>
          <p:cNvPr id="25" name="Shape 23"/>
          <p:cNvSpPr/>
          <p:nvPr/>
        </p:nvSpPr>
        <p:spPr>
          <a:xfrm>
            <a:off x="5018227" y="4087185"/>
            <a:ext cx="1759306" cy="189464"/>
          </a:xfrm>
          <a:prstGeom prst="rect">
            <a:avLst/>
          </a:prstGeom>
          <a:solidFill>
            <a:srgbClr val="002452"/>
          </a:solidFill>
          <a:ln w="3175">
            <a:solidFill>
              <a:srgbClr val="002452"/>
            </a:solidFill>
            <a:prstDash val="solid"/>
          </a:ln>
        </p:spPr>
      </p:sp>
      <p:sp>
        <p:nvSpPr>
          <p:cNvPr id="26" name="Text 24"/>
          <p:cNvSpPr/>
          <p:nvPr/>
        </p:nvSpPr>
        <p:spPr>
          <a:xfrm>
            <a:off x="5018227" y="4087185"/>
            <a:ext cx="1759306" cy="189464"/>
          </a:xfrm>
          <a:prstGeom prst="rect">
            <a:avLst/>
          </a:prstGeom>
          <a:noFill/>
          <a:ln/>
        </p:spPr>
        <p:txBody>
          <a:bodyPr wrap="square" lIns="0" tIns="0" rIns="0" bIns="0" rtlCol="0" anchor="ctr"/>
          <a:lstStyle/>
          <a:p>
            <a:pPr algn="ctr" indent="0" marL="0">
              <a:buNone/>
            </a:pPr>
            <a:r>
              <a:rPr lang="en-US" sz="693" b="1" dirty="0">
                <a:solidFill>
                  <a:srgbClr val="FFFFFF"/>
                </a:solidFill>
                <a:latin typeface="Calibri" pitchFamily="34" charset="0"/>
                <a:ea typeface="Calibri" pitchFamily="34" charset="-122"/>
                <a:cs typeface="Calibri" pitchFamily="34" charset="-120"/>
              </a:rPr>
              <a:t>Sign in  →</a:t>
            </a:r>
            <a:endParaRPr lang="en-US" sz="693" dirty="0"/>
          </a:p>
        </p:txBody>
      </p:sp>
      <p:sp>
        <p:nvSpPr>
          <p:cNvPr id="27" name="Text 25"/>
          <p:cNvSpPr/>
          <p:nvPr/>
        </p:nvSpPr>
        <p:spPr>
          <a:xfrm>
            <a:off x="5018227" y="4378147"/>
            <a:ext cx="1759306" cy="202997"/>
          </a:xfrm>
          <a:prstGeom prst="rect">
            <a:avLst/>
          </a:prstGeom>
          <a:noFill/>
          <a:ln/>
        </p:spPr>
        <p:txBody>
          <a:bodyPr wrap="square" lIns="0" tIns="0" rIns="0" bIns="0" rtlCol="0" anchor="t"/>
          <a:lstStyle/>
          <a:p>
            <a:pPr algn="ctr" indent="0" marL="0">
              <a:lnSpc>
                <a:spcPts val="746"/>
              </a:lnSpc>
              <a:buNone/>
            </a:pPr>
            <a:r>
              <a:rPr lang="en-US" sz="559" dirty="0">
                <a:solidFill>
                  <a:srgbClr val="44474F"/>
                </a:solidFill>
                <a:latin typeface="Calibri" pitchFamily="34" charset="0"/>
                <a:ea typeface="Calibri" pitchFamily="34" charset="-122"/>
                <a:cs typeface="Calibri" pitchFamily="34" charset="-120"/>
              </a:rPr>
              <a:t>Demo credentials: user@demo · staff@demo · admin@demo</a:t>
            </a:r>
            <a:endParaRPr lang="en-US" sz="559" dirty="0"/>
          </a:p>
          <a:p>
            <a:pPr algn="ctr" indent="0" marL="0">
              <a:lnSpc>
                <a:spcPts val="746"/>
              </a:lnSpc>
              <a:buNone/>
            </a:pPr>
            <a:r>
              <a:rPr lang="en-US" sz="559" dirty="0">
                <a:solidFill>
                  <a:srgbClr val="44474F"/>
                </a:solidFill>
                <a:latin typeface="Calibri" pitchFamily="34" charset="0"/>
                <a:ea typeface="Calibri" pitchFamily="34" charset="-122"/>
                <a:cs typeface="Calibri" pitchFamily="34" charset="-120"/>
              </a:rPr>
              <a:t>(password: role + 123)</a:t>
            </a:r>
            <a:endParaRPr lang="en-US" sz="559" dirty="0"/>
          </a:p>
        </p:txBody>
      </p:sp>
      <p:sp>
        <p:nvSpPr>
          <p:cNvPr id="28" name="Text 26"/>
          <p:cNvSpPr/>
          <p:nvPr/>
        </p:nvSpPr>
        <p:spPr>
          <a:xfrm>
            <a:off x="822960" y="5504688"/>
            <a:ext cx="6766560" cy="502920"/>
          </a:xfrm>
          <a:prstGeom prst="rect">
            <a:avLst/>
          </a:prstGeom>
          <a:noFill/>
          <a:ln/>
        </p:spPr>
        <p:txBody>
          <a:bodyPr wrap="square" lIns="0" tIns="0" rIns="0" bIns="0" rtlCol="0" anchor="t"/>
          <a:lstStyle/>
          <a:p>
            <a:pPr indent="0" marL="0">
              <a:lnSpc>
                <a:spcPts val="1600"/>
              </a:lnSpc>
              <a:buNone/>
            </a:pPr>
            <a:r>
              <a:rPr lang="en-US" sz="1150" dirty="0">
                <a:solidFill>
                  <a:srgbClr val="44474F"/>
                </a:solidFill>
                <a:latin typeface="Calibri" pitchFamily="34" charset="0"/>
                <a:ea typeface="Calibri" pitchFamily="34" charset="-122"/>
                <a:cs typeface="Calibri" pitchFamily="34" charset="-120"/>
              </a:rPr>
              <a:t>Login memilih role. Tab User, Staff, dan Admin mengisi kredensial demo — pemisahan hak akses dimulai dari sini.</a:t>
            </a:r>
            <a:endParaRPr lang="en-US" sz="1150" dirty="0"/>
          </a:p>
        </p:txBody>
      </p:sp>
      <p:sp>
        <p:nvSpPr>
          <p:cNvPr id="29" name="Text 27"/>
          <p:cNvSpPr/>
          <p:nvPr/>
        </p:nvSpPr>
        <p:spPr>
          <a:xfrm>
            <a:off x="7909560" y="1572768"/>
            <a:ext cx="3474720" cy="274320"/>
          </a:xfrm>
          <a:prstGeom prst="rect">
            <a:avLst/>
          </a:prstGeom>
          <a:noFill/>
          <a:ln/>
        </p:spPr>
        <p:txBody>
          <a:bodyPr wrap="square" lIns="0" tIns="0" rIns="0" bIns="0" rtlCol="0" anchor="ctr"/>
          <a:lstStyle/>
          <a:p>
            <a:pPr indent="0" marL="0">
              <a:buNone/>
            </a:pPr>
            <a:r>
              <a:rPr lang="en-US" sz="1400" b="1" dirty="0">
                <a:solidFill>
                  <a:srgbClr val="002452"/>
                </a:solidFill>
                <a:latin typeface="Courier New" pitchFamily="34" charset="0"/>
                <a:ea typeface="Courier New" pitchFamily="34" charset="-122"/>
                <a:cs typeface="Courier New" pitchFamily="34" charset="-120"/>
              </a:rPr>
              <a:t>user</a:t>
            </a:r>
            <a:endParaRPr lang="en-US" sz="1400" dirty="0"/>
          </a:p>
        </p:txBody>
      </p:sp>
      <p:sp>
        <p:nvSpPr>
          <p:cNvPr id="30" name="Text 28"/>
          <p:cNvSpPr/>
          <p:nvPr/>
        </p:nvSpPr>
        <p:spPr>
          <a:xfrm>
            <a:off x="7909560" y="1865376"/>
            <a:ext cx="3474720" cy="1051560"/>
          </a:xfrm>
          <a:prstGeom prst="rect">
            <a:avLst/>
          </a:prstGeom>
          <a:noFill/>
          <a:ln/>
        </p:spPr>
        <p:txBody>
          <a:bodyPr wrap="square" lIns="0" tIns="0" rIns="0" bIns="0" rtlCol="0" anchor="t"/>
          <a:lstStyle/>
          <a:p>
            <a:pPr indent="0" marL="0">
              <a:lnSpc>
                <a:spcPts val="1600"/>
              </a:lnSpc>
              <a:buNone/>
            </a:pPr>
            <a:r>
              <a:rPr lang="en-US" sz="1150" dirty="0">
                <a:solidFill>
                  <a:srgbClr val="44474F"/>
                </a:solidFill>
                <a:latin typeface="Calibri" pitchFamily="34" charset="0"/>
                <a:ea typeface="Calibri" pitchFamily="34" charset="-122"/>
                <a:cs typeface="Calibri" pitchFamily="34" charset="-120"/>
              </a:rPr>
              <a:t>Unggah dokumen, lihat status dan hasil ekstraksi miliknya sendiri.</a:t>
            </a:r>
            <a:endParaRPr lang="en-US" sz="1150" dirty="0"/>
          </a:p>
        </p:txBody>
      </p:sp>
      <p:sp>
        <p:nvSpPr>
          <p:cNvPr id="31" name="Text 29"/>
          <p:cNvSpPr/>
          <p:nvPr/>
        </p:nvSpPr>
        <p:spPr>
          <a:xfrm>
            <a:off x="7909560" y="2962656"/>
            <a:ext cx="3474720" cy="274320"/>
          </a:xfrm>
          <a:prstGeom prst="rect">
            <a:avLst/>
          </a:prstGeom>
          <a:noFill/>
          <a:ln/>
        </p:spPr>
        <p:txBody>
          <a:bodyPr wrap="square" lIns="0" tIns="0" rIns="0" bIns="0" rtlCol="0" anchor="ctr"/>
          <a:lstStyle/>
          <a:p>
            <a:pPr indent="0" marL="0">
              <a:buNone/>
            </a:pPr>
            <a:r>
              <a:rPr lang="en-US" sz="1400" b="1" dirty="0">
                <a:solidFill>
                  <a:srgbClr val="002452"/>
                </a:solidFill>
                <a:latin typeface="Courier New" pitchFamily="34" charset="0"/>
                <a:ea typeface="Courier New" pitchFamily="34" charset="-122"/>
                <a:cs typeface="Courier New" pitchFamily="34" charset="-120"/>
              </a:rPr>
              <a:t>staff</a:t>
            </a:r>
            <a:endParaRPr lang="en-US" sz="1400" dirty="0"/>
          </a:p>
        </p:txBody>
      </p:sp>
      <p:sp>
        <p:nvSpPr>
          <p:cNvPr id="32" name="Text 30"/>
          <p:cNvSpPr/>
          <p:nvPr/>
        </p:nvSpPr>
        <p:spPr>
          <a:xfrm>
            <a:off x="7909560" y="3255264"/>
            <a:ext cx="3474720" cy="1051560"/>
          </a:xfrm>
          <a:prstGeom prst="rect">
            <a:avLst/>
          </a:prstGeom>
          <a:noFill/>
          <a:ln/>
        </p:spPr>
        <p:txBody>
          <a:bodyPr wrap="square" lIns="0" tIns="0" rIns="0" bIns="0" rtlCol="0" anchor="t"/>
          <a:lstStyle/>
          <a:p>
            <a:pPr indent="0" marL="0">
              <a:lnSpc>
                <a:spcPts val="1600"/>
              </a:lnSpc>
              <a:buNone/>
            </a:pPr>
            <a:r>
              <a:rPr lang="en-US" sz="1150" dirty="0">
                <a:solidFill>
                  <a:srgbClr val="44474F"/>
                </a:solidFill>
                <a:latin typeface="Calibri" pitchFamily="34" charset="0"/>
                <a:ea typeface="Calibri" pitchFamily="34" charset="-122"/>
                <a:cs typeface="Calibri" pitchFamily="34" charset="-120"/>
              </a:rPr>
              <a:t>Reviewer. Koreksi field, Save Corrections (memicu validasi ulang), atau Reject. Tidak bisa approve.</a:t>
            </a:r>
            <a:endParaRPr lang="en-US" sz="1150" dirty="0"/>
          </a:p>
        </p:txBody>
      </p:sp>
      <p:sp>
        <p:nvSpPr>
          <p:cNvPr id="33" name="Text 31"/>
          <p:cNvSpPr/>
          <p:nvPr/>
        </p:nvSpPr>
        <p:spPr>
          <a:xfrm>
            <a:off x="7909560" y="4352544"/>
            <a:ext cx="3474720" cy="274320"/>
          </a:xfrm>
          <a:prstGeom prst="rect">
            <a:avLst/>
          </a:prstGeom>
          <a:noFill/>
          <a:ln/>
        </p:spPr>
        <p:txBody>
          <a:bodyPr wrap="square" lIns="0" tIns="0" rIns="0" bIns="0" rtlCol="0" anchor="ctr"/>
          <a:lstStyle/>
          <a:p>
            <a:pPr indent="0" marL="0">
              <a:buNone/>
            </a:pPr>
            <a:r>
              <a:rPr lang="en-US" sz="1400" b="1" dirty="0">
                <a:solidFill>
                  <a:srgbClr val="002452"/>
                </a:solidFill>
                <a:latin typeface="Courier New" pitchFamily="34" charset="0"/>
                <a:ea typeface="Courier New" pitchFamily="34" charset="-122"/>
                <a:cs typeface="Courier New" pitchFamily="34" charset="-120"/>
              </a:rPr>
              <a:t>admin</a:t>
            </a:r>
            <a:endParaRPr lang="en-US" sz="1400" dirty="0"/>
          </a:p>
        </p:txBody>
      </p:sp>
      <p:sp>
        <p:nvSpPr>
          <p:cNvPr id="34" name="Text 32"/>
          <p:cNvSpPr/>
          <p:nvPr/>
        </p:nvSpPr>
        <p:spPr>
          <a:xfrm>
            <a:off x="7909560" y="4645152"/>
            <a:ext cx="3474720" cy="1051560"/>
          </a:xfrm>
          <a:prstGeom prst="rect">
            <a:avLst/>
          </a:prstGeom>
          <a:noFill/>
          <a:ln/>
        </p:spPr>
        <p:txBody>
          <a:bodyPr wrap="square" lIns="0" tIns="0" rIns="0" bIns="0" rtlCol="0" anchor="t"/>
          <a:lstStyle/>
          <a:p>
            <a:pPr indent="0" marL="0">
              <a:lnSpc>
                <a:spcPts val="1600"/>
              </a:lnSpc>
              <a:buNone/>
            </a:pPr>
            <a:r>
              <a:rPr lang="en-US" sz="1150" dirty="0">
                <a:solidFill>
                  <a:srgbClr val="44474F"/>
                </a:solidFill>
                <a:latin typeface="Calibri" pitchFamily="34" charset="0"/>
                <a:ea typeface="Calibri" pitchFamily="34" charset="-122"/>
                <a:cs typeface="Calibri" pitchFamily="34" charset="-120"/>
              </a:rPr>
              <a:t>Satu-satunya yang bisa Approve &amp; Export. Approve menulis approved_at dan memindahkan dokumen ke Archive. Juga: dashboard, ROI calculator, menjalankan evaluasi.</a:t>
            </a:r>
            <a:endParaRPr lang="en-US" sz="1150" dirty="0"/>
          </a:p>
        </p:txBody>
      </p:sp>
      <p:sp>
        <p:nvSpPr>
          <p:cNvPr id="35" name="Text 33"/>
          <p:cNvSpPr/>
          <p:nvPr/>
        </p:nvSpPr>
        <p:spPr>
          <a:xfrm>
            <a:off x="822960" y="6144768"/>
            <a:ext cx="9692640" cy="347472"/>
          </a:xfrm>
          <a:prstGeom prst="rect">
            <a:avLst/>
          </a:prstGeom>
          <a:noFill/>
          <a:ln/>
        </p:spPr>
        <p:txBody>
          <a:bodyPr wrap="square" lIns="0" tIns="0" rIns="0" bIns="0" rtlCol="0" anchor="t"/>
          <a:lstStyle/>
          <a:p>
            <a:pPr indent="0" marL="0">
              <a:buNone/>
            </a:pPr>
            <a:r>
              <a:rPr lang="en-US" sz="1000" dirty="0">
                <a:solidFill>
                  <a:srgbClr val="747780"/>
                </a:solidFill>
                <a:latin typeface="Calibri" pitchFamily="34" charset="0"/>
                <a:ea typeface="Calibri" pitchFamily="34" charset="-122"/>
                <a:cs typeface="Calibri" pitchFamily="34" charset="-120"/>
              </a:rPr>
              <a:t>Catatan: login masih role switcher dengan akun demo, belum autentikasi sungguhan — lihat Roadmap.</a:t>
            </a:r>
            <a:endParaRPr lang="en-US" sz="1000" dirty="0"/>
          </a:p>
        </p:txBody>
      </p:sp>
      <p:sp>
        <p:nvSpPr>
          <p:cNvPr id="37" name="Text 34"/>
          <p:cNvSpPr/>
          <p:nvPr/>
        </p:nvSpPr>
        <p:spPr>
          <a:xfrm>
            <a:off x="11155680" y="6327648"/>
            <a:ext cx="54864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274320"/>
            <a:ext cx="10561320" cy="237744"/>
          </a:xfrm>
          <a:prstGeom prst="rect">
            <a:avLst/>
          </a:prstGeom>
          <a:noFill/>
          <a:ln/>
        </p:spPr>
        <p:txBody>
          <a:bodyPr wrap="square" lIns="0" tIns="0" rIns="0" bIns="0" rtlCol="0" anchor="t"/>
          <a:lstStyle/>
          <a:p>
            <a:pPr indent="0" marL="0">
              <a:buNone/>
            </a:pPr>
            <a:r>
              <a:rPr lang="en-US" sz="1100" b="1" spc="140" kern="0" dirty="0">
                <a:solidFill>
                  <a:srgbClr val="747780"/>
                </a:solidFill>
                <a:latin typeface="Calibri" pitchFamily="34" charset="0"/>
                <a:ea typeface="Calibri" pitchFamily="34" charset="-122"/>
                <a:cs typeface="Calibri" pitchFamily="34" charset="-120"/>
              </a:rPr>
              <a:t>EXPORT &amp; ARCHIVE</a:t>
            </a:r>
            <a:endParaRPr lang="en-US" sz="1100" dirty="0"/>
          </a:p>
        </p:txBody>
      </p:sp>
      <p:sp>
        <p:nvSpPr>
          <p:cNvPr id="3" name="Text 1"/>
          <p:cNvSpPr/>
          <p:nvPr/>
        </p:nvSpPr>
        <p:spPr>
          <a:xfrm>
            <a:off x="822960" y="566928"/>
            <a:ext cx="10561320" cy="566928"/>
          </a:xfrm>
          <a:prstGeom prst="rect">
            <a:avLst/>
          </a:prstGeom>
          <a:noFill/>
          <a:ln/>
        </p:spPr>
        <p:txBody>
          <a:bodyPr wrap="square" lIns="0" tIns="0" rIns="0" bIns="0" rtlCol="0" anchor="t"/>
          <a:lstStyle/>
          <a:p>
            <a:pPr algn="l" indent="0" marL="0">
              <a:buNone/>
            </a:pPr>
            <a:r>
              <a:rPr lang="en-US" sz="3000" b="1" dirty="0">
                <a:solidFill>
                  <a:srgbClr val="002452"/>
                </a:solidFill>
                <a:latin typeface="Calibri" pitchFamily="34" charset="0"/>
                <a:ea typeface="Calibri" pitchFamily="34" charset="-122"/>
                <a:cs typeface="Calibri" pitchFamily="34" charset="-120"/>
              </a:rPr>
              <a:t>Dokumen approved diarsipkan menurut tanggal persetujuan</a:t>
            </a:r>
            <a:endParaRPr lang="en-US" sz="3000" dirty="0"/>
          </a:p>
        </p:txBody>
      </p:sp>
      <p:sp>
        <p:nvSpPr>
          <p:cNvPr id="4" name="Shape 2"/>
          <p:cNvSpPr/>
          <p:nvPr/>
        </p:nvSpPr>
        <p:spPr>
          <a:xfrm>
            <a:off x="822960" y="1481328"/>
            <a:ext cx="6858000" cy="3703320"/>
          </a:xfrm>
          <a:prstGeom prst="rect">
            <a:avLst/>
          </a:prstGeom>
          <a:solidFill>
            <a:srgbClr val="F7F9FC"/>
          </a:solidFill>
          <a:ln w="12700">
            <a:solidFill>
              <a:srgbClr val="E3E8EF"/>
            </a:solidFill>
            <a:prstDash val="dash"/>
          </a:ln>
        </p:spPr>
      </p:sp>
      <p:sp>
        <p:nvSpPr>
          <p:cNvPr id="5" name="Text 3"/>
          <p:cNvSpPr/>
          <p:nvPr/>
        </p:nvSpPr>
        <p:spPr>
          <a:xfrm>
            <a:off x="1097280" y="2830068"/>
            <a:ext cx="6309360" cy="292608"/>
          </a:xfrm>
          <a:prstGeom prst="rect">
            <a:avLst/>
          </a:prstGeom>
          <a:noFill/>
          <a:ln/>
        </p:spPr>
        <p:txBody>
          <a:bodyPr wrap="square" lIns="0" tIns="0" rIns="0" bIns="0" rtlCol="0" anchor="ctr"/>
          <a:lstStyle/>
          <a:p>
            <a:pPr algn="ctr" indent="0" marL="0">
              <a:buNone/>
            </a:pPr>
            <a:r>
              <a:rPr lang="en-US" sz="1300" b="1" dirty="0">
                <a:solidFill>
                  <a:srgbClr val="44474F"/>
                </a:solidFill>
                <a:latin typeface="Calibri" pitchFamily="34" charset="0"/>
                <a:ea typeface="Calibri" pitchFamily="34" charset="-122"/>
                <a:cs typeface="Calibri" pitchFamily="34" charset="-120"/>
              </a:rPr>
              <a:t>GANTI DENGAN SCREENSHOT</a:t>
            </a:r>
            <a:endParaRPr lang="en-US" sz="1300" dirty="0"/>
          </a:p>
        </p:txBody>
      </p:sp>
      <p:sp>
        <p:nvSpPr>
          <p:cNvPr id="6" name="Text 4"/>
          <p:cNvSpPr/>
          <p:nvPr/>
        </p:nvSpPr>
        <p:spPr>
          <a:xfrm>
            <a:off x="1097280" y="3168396"/>
            <a:ext cx="6309360" cy="640080"/>
          </a:xfrm>
          <a:prstGeom prst="rect">
            <a:avLst/>
          </a:prstGeom>
          <a:noFill/>
          <a:ln/>
        </p:spPr>
        <p:txBody>
          <a:bodyPr wrap="square" lIns="0" tIns="0" rIns="0" bIns="0" rtlCol="0" anchor="t"/>
          <a:lstStyle/>
          <a:p>
            <a:pPr algn="ctr" indent="0" marL="0">
              <a:lnSpc>
                <a:spcPts val="1800"/>
              </a:lnSpc>
              <a:buNone/>
            </a:pPr>
            <a:r>
              <a:rPr lang="en-US" sz="1200" dirty="0">
                <a:solidFill>
                  <a:srgbClr val="747780"/>
                </a:solidFill>
                <a:latin typeface="Calibri" pitchFamily="34" charset="0"/>
                <a:ea typeface="Calibri" pitchFamily="34" charset="-122"/>
                <a:cs typeface="Calibri" pitchFamily="34" charset="-120"/>
              </a:rPr>
              <a:t>Halaman Archive: filter rentang tanggal</a:t>
            </a:r>
            <a:endParaRPr lang="en-US" sz="1200" dirty="0"/>
          </a:p>
          <a:p>
            <a:pPr algn="ctr" indent="0" marL="0">
              <a:lnSpc>
                <a:spcPts val="1800"/>
              </a:lnSpc>
              <a:buNone/>
            </a:pPr>
            <a:r>
              <a:rPr lang="en-US" sz="1200" dirty="0">
                <a:solidFill>
                  <a:srgbClr val="747780"/>
                </a:solidFill>
                <a:latin typeface="Calibri" pitchFamily="34" charset="0"/>
                <a:ea typeface="Calibri" pitchFamily="34" charset="-122"/>
                <a:cs typeface="Calibri" pitchFamily="34" charset="-120"/>
              </a:rPr>
              <a:t>dan tombol export</a:t>
            </a:r>
            <a:endParaRPr lang="en-US" sz="1200" dirty="0"/>
          </a:p>
        </p:txBody>
      </p:sp>
      <p:sp>
        <p:nvSpPr>
          <p:cNvPr id="7" name="Text 5"/>
          <p:cNvSpPr/>
          <p:nvPr/>
        </p:nvSpPr>
        <p:spPr>
          <a:xfrm>
            <a:off x="822960" y="5285232"/>
            <a:ext cx="6858000" cy="502920"/>
          </a:xfrm>
          <a:prstGeom prst="rect">
            <a:avLst/>
          </a:prstGeom>
          <a:noFill/>
          <a:ln/>
        </p:spPr>
        <p:txBody>
          <a:bodyPr wrap="square" lIns="0" tIns="0" rIns="0" bIns="0" rtlCol="0" anchor="t"/>
          <a:lstStyle/>
          <a:p>
            <a:pPr indent="0" marL="0">
              <a:lnSpc>
                <a:spcPts val="1600"/>
              </a:lnSpc>
              <a:buNone/>
            </a:pPr>
            <a:r>
              <a:rPr lang="en-US" sz="1150" dirty="0">
                <a:solidFill>
                  <a:srgbClr val="44474F"/>
                </a:solidFill>
                <a:latin typeface="Calibri" pitchFamily="34" charset="0"/>
                <a:ea typeface="Calibri" pitchFamily="34" charset="-122"/>
                <a:cs typeface="Calibri" pitchFamily="34" charset="-120"/>
              </a:rPr>
              <a:t>Arsip diurutkan menurut approved_at, bukan tanggal unggah — jadi laporan bulanan cocok dengan periode persetujuan.</a:t>
            </a:r>
            <a:endParaRPr lang="en-US" sz="1150" dirty="0"/>
          </a:p>
        </p:txBody>
      </p:sp>
      <p:sp>
        <p:nvSpPr>
          <p:cNvPr id="8" name="Text 6"/>
          <p:cNvSpPr/>
          <p:nvPr/>
        </p:nvSpPr>
        <p:spPr>
          <a:xfrm>
            <a:off x="8001000" y="1499616"/>
            <a:ext cx="3383280" cy="274320"/>
          </a:xfrm>
          <a:prstGeom prst="rect">
            <a:avLst/>
          </a:prstGeom>
          <a:noFill/>
          <a:ln/>
        </p:spPr>
        <p:txBody>
          <a:bodyPr wrap="square" lIns="0" tIns="0" rIns="0" bIns="0" rtlCol="0" anchor="ctr"/>
          <a:lstStyle/>
          <a:p>
            <a:pPr indent="0" marL="0">
              <a:buNone/>
            </a:pPr>
            <a:r>
              <a:rPr lang="en-US" sz="1300" b="1" dirty="0">
                <a:solidFill>
                  <a:srgbClr val="002452"/>
                </a:solidFill>
                <a:latin typeface="Calibri" pitchFamily="34" charset="0"/>
                <a:ea typeface="Calibri" pitchFamily="34" charset="-122"/>
                <a:cs typeface="Calibri" pitchFamily="34" charset="-120"/>
              </a:rPr>
              <a:t>Rentang</a:t>
            </a:r>
            <a:endParaRPr lang="en-US" sz="1300" dirty="0"/>
          </a:p>
        </p:txBody>
      </p:sp>
      <p:sp>
        <p:nvSpPr>
          <p:cNvPr id="9" name="Text 7"/>
          <p:cNvSpPr/>
          <p:nvPr/>
        </p:nvSpPr>
        <p:spPr>
          <a:xfrm>
            <a:off x="8001000" y="1792224"/>
            <a:ext cx="3383280" cy="502920"/>
          </a:xfrm>
          <a:prstGeom prst="rect">
            <a:avLst/>
          </a:prstGeom>
          <a:noFill/>
          <a:ln/>
        </p:spPr>
        <p:txBody>
          <a:bodyPr wrap="square" lIns="0" tIns="0" rIns="0" bIns="0" rtlCol="0" anchor="t"/>
          <a:lstStyle/>
          <a:p>
            <a:pPr indent="0" marL="0">
              <a:lnSpc>
                <a:spcPts val="1700"/>
              </a:lnSpc>
              <a:buNone/>
            </a:pPr>
            <a:r>
              <a:rPr lang="en-US" sz="1200" dirty="0">
                <a:solidFill>
                  <a:srgbClr val="44474F"/>
                </a:solidFill>
                <a:latin typeface="Calibri" pitchFamily="34" charset="0"/>
                <a:ea typeface="Calibri" pitchFamily="34" charset="-122"/>
                <a:cs typeface="Calibri" pitchFamily="34" charset="-120"/>
              </a:rPr>
              <a:t>Per tahun · rentang bulan · rentang tanggal</a:t>
            </a:r>
            <a:endParaRPr lang="en-US" sz="1200" dirty="0"/>
          </a:p>
        </p:txBody>
      </p:sp>
      <p:sp>
        <p:nvSpPr>
          <p:cNvPr id="10" name="Text 8"/>
          <p:cNvSpPr/>
          <p:nvPr/>
        </p:nvSpPr>
        <p:spPr>
          <a:xfrm>
            <a:off x="8001000" y="2450592"/>
            <a:ext cx="3383280" cy="274320"/>
          </a:xfrm>
          <a:prstGeom prst="rect">
            <a:avLst/>
          </a:prstGeom>
          <a:noFill/>
          <a:ln/>
        </p:spPr>
        <p:txBody>
          <a:bodyPr wrap="square" lIns="0" tIns="0" rIns="0" bIns="0" rtlCol="0" anchor="ctr"/>
          <a:lstStyle/>
          <a:p>
            <a:pPr indent="0" marL="0">
              <a:buNone/>
            </a:pPr>
            <a:r>
              <a:rPr lang="en-US" sz="1300" b="1" dirty="0">
                <a:solidFill>
                  <a:srgbClr val="002452"/>
                </a:solidFill>
                <a:latin typeface="Calibri" pitchFamily="34" charset="0"/>
                <a:ea typeface="Calibri" pitchFamily="34" charset="-122"/>
                <a:cs typeface="Calibri" pitchFamily="34" charset="-120"/>
              </a:rPr>
              <a:t>Format</a:t>
            </a:r>
            <a:endParaRPr lang="en-US" sz="1300" dirty="0"/>
          </a:p>
        </p:txBody>
      </p:sp>
      <p:sp>
        <p:nvSpPr>
          <p:cNvPr id="11" name="Shape 9"/>
          <p:cNvSpPr/>
          <p:nvPr/>
        </p:nvSpPr>
        <p:spPr>
          <a:xfrm>
            <a:off x="8001000" y="2761488"/>
            <a:ext cx="1042416" cy="365760"/>
          </a:xfrm>
          <a:prstGeom prst="rect">
            <a:avLst/>
          </a:prstGeom>
          <a:solidFill>
            <a:srgbClr val="FFFFFF"/>
          </a:solidFill>
          <a:ln w="9525">
            <a:solidFill>
              <a:srgbClr val="002452"/>
            </a:solidFill>
            <a:prstDash val="solid"/>
          </a:ln>
        </p:spPr>
      </p:sp>
      <p:sp>
        <p:nvSpPr>
          <p:cNvPr id="12" name="Text 10"/>
          <p:cNvSpPr/>
          <p:nvPr/>
        </p:nvSpPr>
        <p:spPr>
          <a:xfrm>
            <a:off x="8001000" y="2761488"/>
            <a:ext cx="1042416" cy="365760"/>
          </a:xfrm>
          <a:prstGeom prst="rect">
            <a:avLst/>
          </a:prstGeom>
          <a:noFill/>
          <a:ln/>
        </p:spPr>
        <p:txBody>
          <a:bodyPr wrap="square" lIns="0" tIns="0" rIns="0" bIns="0" rtlCol="0" anchor="ctr"/>
          <a:lstStyle/>
          <a:p>
            <a:pPr algn="ctr" indent="0" marL="0">
              <a:buNone/>
            </a:pPr>
            <a:r>
              <a:rPr lang="en-US" sz="1150" dirty="0">
                <a:solidFill>
                  <a:srgbClr val="002452"/>
                </a:solidFill>
                <a:latin typeface="Calibri" pitchFamily="34" charset="0"/>
                <a:ea typeface="Calibri" pitchFamily="34" charset="-122"/>
                <a:cs typeface="Calibri" pitchFamily="34" charset="-120"/>
              </a:rPr>
              <a:t>PDF</a:t>
            </a:r>
            <a:endParaRPr lang="en-US" sz="1150" dirty="0"/>
          </a:p>
        </p:txBody>
      </p:sp>
      <p:sp>
        <p:nvSpPr>
          <p:cNvPr id="13" name="Shape 11"/>
          <p:cNvSpPr/>
          <p:nvPr/>
        </p:nvSpPr>
        <p:spPr>
          <a:xfrm>
            <a:off x="9153144" y="2761488"/>
            <a:ext cx="1042416" cy="365760"/>
          </a:xfrm>
          <a:prstGeom prst="rect">
            <a:avLst/>
          </a:prstGeom>
          <a:solidFill>
            <a:srgbClr val="FFFFFF"/>
          </a:solidFill>
          <a:ln w="9525">
            <a:solidFill>
              <a:srgbClr val="002452"/>
            </a:solidFill>
            <a:prstDash val="solid"/>
          </a:ln>
        </p:spPr>
      </p:sp>
      <p:sp>
        <p:nvSpPr>
          <p:cNvPr id="14" name="Text 12"/>
          <p:cNvSpPr/>
          <p:nvPr/>
        </p:nvSpPr>
        <p:spPr>
          <a:xfrm>
            <a:off x="9153144" y="2761488"/>
            <a:ext cx="1042416" cy="365760"/>
          </a:xfrm>
          <a:prstGeom prst="rect">
            <a:avLst/>
          </a:prstGeom>
          <a:noFill/>
          <a:ln/>
        </p:spPr>
        <p:txBody>
          <a:bodyPr wrap="square" lIns="0" tIns="0" rIns="0" bIns="0" rtlCol="0" anchor="ctr"/>
          <a:lstStyle/>
          <a:p>
            <a:pPr algn="ctr" indent="0" marL="0">
              <a:buNone/>
            </a:pPr>
            <a:r>
              <a:rPr lang="en-US" sz="1150" dirty="0">
                <a:solidFill>
                  <a:srgbClr val="002452"/>
                </a:solidFill>
                <a:latin typeface="Calibri" pitchFamily="34" charset="0"/>
                <a:ea typeface="Calibri" pitchFamily="34" charset="-122"/>
                <a:cs typeface="Calibri" pitchFamily="34" charset="-120"/>
              </a:rPr>
              <a:t>Word</a:t>
            </a:r>
            <a:endParaRPr lang="en-US" sz="1150" dirty="0"/>
          </a:p>
        </p:txBody>
      </p:sp>
      <p:sp>
        <p:nvSpPr>
          <p:cNvPr id="15" name="Shape 13"/>
          <p:cNvSpPr/>
          <p:nvPr/>
        </p:nvSpPr>
        <p:spPr>
          <a:xfrm>
            <a:off x="10305288" y="2761488"/>
            <a:ext cx="1042416" cy="365760"/>
          </a:xfrm>
          <a:prstGeom prst="rect">
            <a:avLst/>
          </a:prstGeom>
          <a:solidFill>
            <a:srgbClr val="FFFFFF"/>
          </a:solidFill>
          <a:ln w="9525">
            <a:solidFill>
              <a:srgbClr val="002452"/>
            </a:solidFill>
            <a:prstDash val="solid"/>
          </a:ln>
        </p:spPr>
      </p:sp>
      <p:sp>
        <p:nvSpPr>
          <p:cNvPr id="16" name="Text 14"/>
          <p:cNvSpPr/>
          <p:nvPr/>
        </p:nvSpPr>
        <p:spPr>
          <a:xfrm>
            <a:off x="10305288" y="2761488"/>
            <a:ext cx="1042416" cy="365760"/>
          </a:xfrm>
          <a:prstGeom prst="rect">
            <a:avLst/>
          </a:prstGeom>
          <a:noFill/>
          <a:ln/>
        </p:spPr>
        <p:txBody>
          <a:bodyPr wrap="square" lIns="0" tIns="0" rIns="0" bIns="0" rtlCol="0" anchor="ctr"/>
          <a:lstStyle/>
          <a:p>
            <a:pPr algn="ctr" indent="0" marL="0">
              <a:buNone/>
            </a:pPr>
            <a:r>
              <a:rPr lang="en-US" sz="1150" dirty="0">
                <a:solidFill>
                  <a:srgbClr val="002452"/>
                </a:solidFill>
                <a:latin typeface="Calibri" pitchFamily="34" charset="0"/>
                <a:ea typeface="Calibri" pitchFamily="34" charset="-122"/>
                <a:cs typeface="Calibri" pitchFamily="34" charset="-120"/>
              </a:rPr>
              <a:t>Excel</a:t>
            </a:r>
            <a:endParaRPr lang="en-US" sz="1150" dirty="0"/>
          </a:p>
        </p:txBody>
      </p:sp>
      <p:sp>
        <p:nvSpPr>
          <p:cNvPr id="17" name="Shape 15"/>
          <p:cNvSpPr/>
          <p:nvPr/>
        </p:nvSpPr>
        <p:spPr>
          <a:xfrm>
            <a:off x="8001000" y="3236976"/>
            <a:ext cx="1042416" cy="365760"/>
          </a:xfrm>
          <a:prstGeom prst="rect">
            <a:avLst/>
          </a:prstGeom>
          <a:solidFill>
            <a:srgbClr val="FFFFFF"/>
          </a:solidFill>
          <a:ln w="9525">
            <a:solidFill>
              <a:srgbClr val="002452"/>
            </a:solidFill>
            <a:prstDash val="solid"/>
          </a:ln>
        </p:spPr>
      </p:sp>
      <p:sp>
        <p:nvSpPr>
          <p:cNvPr id="18" name="Text 16"/>
          <p:cNvSpPr/>
          <p:nvPr/>
        </p:nvSpPr>
        <p:spPr>
          <a:xfrm>
            <a:off x="8001000" y="3236976"/>
            <a:ext cx="1042416" cy="365760"/>
          </a:xfrm>
          <a:prstGeom prst="rect">
            <a:avLst/>
          </a:prstGeom>
          <a:noFill/>
          <a:ln/>
        </p:spPr>
        <p:txBody>
          <a:bodyPr wrap="square" lIns="0" tIns="0" rIns="0" bIns="0" rtlCol="0" anchor="ctr"/>
          <a:lstStyle/>
          <a:p>
            <a:pPr algn="ctr" indent="0" marL="0">
              <a:buNone/>
            </a:pPr>
            <a:r>
              <a:rPr lang="en-US" sz="1150" dirty="0">
                <a:solidFill>
                  <a:srgbClr val="002452"/>
                </a:solidFill>
                <a:latin typeface="Calibri" pitchFamily="34" charset="0"/>
                <a:ea typeface="Calibri" pitchFamily="34" charset="-122"/>
                <a:cs typeface="Calibri" pitchFamily="34" charset="-120"/>
              </a:rPr>
              <a:t>CSV</a:t>
            </a:r>
            <a:endParaRPr lang="en-US" sz="1150" dirty="0"/>
          </a:p>
        </p:txBody>
      </p:sp>
      <p:sp>
        <p:nvSpPr>
          <p:cNvPr id="19" name="Shape 17"/>
          <p:cNvSpPr/>
          <p:nvPr/>
        </p:nvSpPr>
        <p:spPr>
          <a:xfrm>
            <a:off x="9153144" y="3236976"/>
            <a:ext cx="1042416" cy="365760"/>
          </a:xfrm>
          <a:prstGeom prst="rect">
            <a:avLst/>
          </a:prstGeom>
          <a:solidFill>
            <a:srgbClr val="FFFFFF"/>
          </a:solidFill>
          <a:ln w="9525">
            <a:solidFill>
              <a:srgbClr val="002452"/>
            </a:solidFill>
            <a:prstDash val="solid"/>
          </a:ln>
        </p:spPr>
      </p:sp>
      <p:sp>
        <p:nvSpPr>
          <p:cNvPr id="20" name="Text 18"/>
          <p:cNvSpPr/>
          <p:nvPr/>
        </p:nvSpPr>
        <p:spPr>
          <a:xfrm>
            <a:off x="9153144" y="3236976"/>
            <a:ext cx="1042416" cy="365760"/>
          </a:xfrm>
          <a:prstGeom prst="rect">
            <a:avLst/>
          </a:prstGeom>
          <a:noFill/>
          <a:ln/>
        </p:spPr>
        <p:txBody>
          <a:bodyPr wrap="square" lIns="0" tIns="0" rIns="0" bIns="0" rtlCol="0" anchor="ctr"/>
          <a:lstStyle/>
          <a:p>
            <a:pPr algn="ctr" indent="0" marL="0">
              <a:buNone/>
            </a:pPr>
            <a:r>
              <a:rPr lang="en-US" sz="1150" dirty="0">
                <a:solidFill>
                  <a:srgbClr val="002452"/>
                </a:solidFill>
                <a:latin typeface="Calibri" pitchFamily="34" charset="0"/>
                <a:ea typeface="Calibri" pitchFamily="34" charset="-122"/>
                <a:cs typeface="Calibri" pitchFamily="34" charset="-120"/>
              </a:rPr>
              <a:t>JSON</a:t>
            </a:r>
            <a:endParaRPr lang="en-US" sz="1150" dirty="0"/>
          </a:p>
        </p:txBody>
      </p:sp>
      <p:sp>
        <p:nvSpPr>
          <p:cNvPr id="21" name="Text 19"/>
          <p:cNvSpPr/>
          <p:nvPr/>
        </p:nvSpPr>
        <p:spPr>
          <a:xfrm>
            <a:off x="8001000" y="3913632"/>
            <a:ext cx="3383280" cy="274320"/>
          </a:xfrm>
          <a:prstGeom prst="rect">
            <a:avLst/>
          </a:prstGeom>
          <a:noFill/>
          <a:ln/>
        </p:spPr>
        <p:txBody>
          <a:bodyPr wrap="square" lIns="0" tIns="0" rIns="0" bIns="0" rtlCol="0" anchor="ctr"/>
          <a:lstStyle/>
          <a:p>
            <a:pPr indent="0" marL="0">
              <a:buNone/>
            </a:pPr>
            <a:r>
              <a:rPr lang="en-US" sz="1300" b="1" dirty="0">
                <a:solidFill>
                  <a:srgbClr val="002452"/>
                </a:solidFill>
                <a:latin typeface="Calibri" pitchFamily="34" charset="0"/>
                <a:ea typeface="Calibri" pitchFamily="34" charset="-122"/>
                <a:cs typeface="Calibri" pitchFamily="34" charset="-120"/>
              </a:rPr>
              <a:t>Downstream</a:t>
            </a:r>
            <a:endParaRPr lang="en-US" sz="1300" dirty="0"/>
          </a:p>
        </p:txBody>
      </p:sp>
      <p:sp>
        <p:nvSpPr>
          <p:cNvPr id="22" name="Text 20"/>
          <p:cNvSpPr/>
          <p:nvPr/>
        </p:nvSpPr>
        <p:spPr>
          <a:xfrm>
            <a:off x="8001000" y="4206240"/>
            <a:ext cx="3383280" cy="1097280"/>
          </a:xfrm>
          <a:prstGeom prst="rect">
            <a:avLst/>
          </a:prstGeom>
          <a:noFill/>
          <a:ln/>
        </p:spPr>
        <p:txBody>
          <a:bodyPr wrap="square" lIns="0" tIns="0" rIns="0" bIns="0" rtlCol="0" anchor="t"/>
          <a:lstStyle/>
          <a:p>
            <a:pPr indent="0" marL="0">
              <a:lnSpc>
                <a:spcPts val="1700"/>
              </a:lnSpc>
              <a:buNone/>
            </a:pPr>
            <a:r>
              <a:rPr lang="en-US" sz="1200" dirty="0">
                <a:solidFill>
                  <a:srgbClr val="44474F"/>
                </a:solidFill>
                <a:latin typeface="Calibri" pitchFamily="34" charset="0"/>
                <a:ea typeface="Calibri" pitchFamily="34" charset="-122"/>
                <a:cs typeface="Calibri" pitchFamily="34" charset="-120"/>
              </a:rPr>
              <a:t>Approve &amp; Export mem-POST payload ke mock API endpoint. Ada juga bulk export CSV untuk semua dokumen approved.</a:t>
            </a:r>
            <a:endParaRPr lang="en-US" sz="1200" dirty="0"/>
          </a:p>
        </p:txBody>
      </p:sp>
      <p:sp>
        <p:nvSpPr>
          <p:cNvPr id="24" name="Text 21"/>
          <p:cNvSpPr/>
          <p:nvPr/>
        </p:nvSpPr>
        <p:spPr>
          <a:xfrm>
            <a:off x="11155680" y="6327648"/>
            <a:ext cx="54864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274320"/>
            <a:ext cx="10561320" cy="237744"/>
          </a:xfrm>
          <a:prstGeom prst="rect">
            <a:avLst/>
          </a:prstGeom>
          <a:noFill/>
          <a:ln/>
        </p:spPr>
        <p:txBody>
          <a:bodyPr wrap="square" lIns="0" tIns="0" rIns="0" bIns="0" rtlCol="0" anchor="t"/>
          <a:lstStyle/>
          <a:p>
            <a:pPr indent="0" marL="0">
              <a:buNone/>
            </a:pPr>
            <a:r>
              <a:rPr lang="en-US" sz="1100" b="1" spc="140" kern="0" dirty="0">
                <a:solidFill>
                  <a:srgbClr val="747780"/>
                </a:solidFill>
                <a:latin typeface="Calibri" pitchFamily="34" charset="0"/>
                <a:ea typeface="Calibri" pitchFamily="34" charset="-122"/>
                <a:cs typeface="Calibri" pitchFamily="34" charset="-120"/>
              </a:rPr>
              <a:t>EVALUASI</a:t>
            </a:r>
            <a:endParaRPr lang="en-US" sz="1100" dirty="0"/>
          </a:p>
        </p:txBody>
      </p:sp>
      <p:sp>
        <p:nvSpPr>
          <p:cNvPr id="3" name="Text 1"/>
          <p:cNvSpPr/>
          <p:nvPr/>
        </p:nvSpPr>
        <p:spPr>
          <a:xfrm>
            <a:off x="822960" y="566928"/>
            <a:ext cx="10561320" cy="566928"/>
          </a:xfrm>
          <a:prstGeom prst="rect">
            <a:avLst/>
          </a:prstGeom>
          <a:noFill/>
          <a:ln/>
        </p:spPr>
        <p:txBody>
          <a:bodyPr wrap="square" lIns="0" tIns="0" rIns="0" bIns="0" rtlCol="0" anchor="t"/>
          <a:lstStyle/>
          <a:p>
            <a:pPr algn="l" indent="0" marL="0">
              <a:buNone/>
            </a:pPr>
            <a:r>
              <a:rPr lang="en-US" sz="3000" b="1" dirty="0">
                <a:solidFill>
                  <a:srgbClr val="002452"/>
                </a:solidFill>
                <a:latin typeface="Calibri" pitchFamily="34" charset="0"/>
                <a:ea typeface="Calibri" pitchFamily="34" charset="-122"/>
                <a:cs typeface="Calibri" pitchFamily="34" charset="-120"/>
              </a:rPr>
              <a:t>60 dokumen, 10 field, cocok semua dengan ground_truth.csv</a:t>
            </a:r>
            <a:endParaRPr lang="en-US" sz="3000" dirty="0"/>
          </a:p>
        </p:txBody>
      </p:sp>
      <p:sp>
        <p:nvSpPr>
          <p:cNvPr id="4" name="Text 2"/>
          <p:cNvSpPr/>
          <p:nvPr/>
        </p:nvSpPr>
        <p:spPr>
          <a:xfrm>
            <a:off x="822960" y="1572768"/>
            <a:ext cx="6583680" cy="731520"/>
          </a:xfrm>
          <a:prstGeom prst="rect">
            <a:avLst/>
          </a:prstGeom>
          <a:noFill/>
          <a:ln/>
        </p:spPr>
        <p:txBody>
          <a:bodyPr wrap="square" lIns="0" tIns="0" rIns="0" bIns="0" rtlCol="0" anchor="t"/>
          <a:lstStyle/>
          <a:p>
            <a:pPr indent="0" marL="0">
              <a:lnSpc>
                <a:spcPts val="2400"/>
              </a:lnSpc>
              <a:buNone/>
            </a:pPr>
            <a:r>
              <a:rPr lang="en-US" sz="1500" dirty="0">
                <a:solidFill>
                  <a:srgbClr val="44474F"/>
                </a:solidFill>
                <a:latin typeface="Calibri" pitchFamily="34" charset="0"/>
                <a:ea typeface="Calibri" pitchFamily="34" charset="-122"/>
                <a:cs typeface="Calibri" pitchFamily="34" charset="-120"/>
              </a:rPr>
              <a:t>Harness membaca setiap dokumen berlabel, menjalankan ekstraksi, lalu membandingkan field per field dengan ground_truth.csv. Bukan penilaian manual.</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22960" y="2487168"/>
          <a:ext cx="6583680" cy="914400"/>
        </p:xfrm>
        <a:graphic>
          <a:graphicData uri="http://schemas.openxmlformats.org/drawingml/2006/table">
            <a:tbl>
              <a:tblPr/>
              <a:tblGrid>
                <a:gridCol w="2743200"/>
                <a:gridCol w="1097280"/>
                <a:gridCol w="1554480"/>
                <a:gridCol w="1188720"/>
              </a:tblGrid>
              <a:tr h="40233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Tipe dokumen</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00245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Dokumen</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00245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Field benar</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00245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Akurasi</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002452"/>
                    </a:solidFill>
                  </a:tcPr>
                </a:tc>
              </a:tr>
              <a:tr h="402336">
                <a:tc>
                  <a:txBody>
                    <a:bodyPr/>
                    <a:lstStyle/>
                    <a:p>
                      <a:pPr indent="0" marL="0">
                        <a:buNone/>
                      </a:pPr>
                      <a:r>
                        <a:rPr lang="en-US" sz="1300" dirty="0">
                          <a:solidFill>
                            <a:srgbClr val="191C1E"/>
                          </a:solidFill>
                          <a:latin typeface="Calibri" pitchFamily="34" charset="0"/>
                          <a:ea typeface="Calibri" pitchFamily="34" charset="-122"/>
                          <a:cs typeface="Calibri" pitchFamily="34" charset="-120"/>
                        </a:rPr>
                        <a:t>Invoice</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r" indent="0" marL="0">
                        <a:buNone/>
                      </a:pPr>
                      <a:r>
                        <a:rPr lang="en-US" sz="1300" dirty="0">
                          <a:solidFill>
                            <a:srgbClr val="191C1E"/>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r" indent="0" marL="0">
                        <a:buNone/>
                      </a:pPr>
                      <a:r>
                        <a:rPr lang="en-US" sz="1300" dirty="0">
                          <a:solidFill>
                            <a:srgbClr val="191C1E"/>
                          </a:solidFill>
                          <a:latin typeface="Calibri" pitchFamily="34" charset="0"/>
                          <a:ea typeface="Calibri" pitchFamily="34" charset="-122"/>
                          <a:cs typeface="Calibri" pitchFamily="34" charset="-120"/>
                        </a:rPr>
                        <a:t>250 / 250</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r" indent="0" marL="0">
                        <a:buNone/>
                      </a:pPr>
                      <a:r>
                        <a:rPr lang="en-US" sz="1300" dirty="0">
                          <a:solidFill>
                            <a:srgbClr val="191C1E"/>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r>
              <a:tr h="402336">
                <a:tc>
                  <a:txBody>
                    <a:bodyPr/>
                    <a:lstStyle/>
                    <a:p>
                      <a:pPr indent="0" marL="0">
                        <a:buNone/>
                      </a:pPr>
                      <a:r>
                        <a:rPr lang="en-US" sz="1300" dirty="0">
                          <a:solidFill>
                            <a:srgbClr val="191C1E"/>
                          </a:solidFill>
                          <a:latin typeface="Calibri" pitchFamily="34" charset="0"/>
                          <a:ea typeface="Calibri" pitchFamily="34" charset="-122"/>
                          <a:cs typeface="Calibri" pitchFamily="34" charset="-120"/>
                        </a:rPr>
                        <a:t>Purchase order</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r" indent="0" marL="0">
                        <a:buNone/>
                      </a:pPr>
                      <a:r>
                        <a:rPr lang="en-US" sz="1300" dirty="0">
                          <a:solidFill>
                            <a:srgbClr val="191C1E"/>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r" indent="0" marL="0">
                        <a:buNone/>
                      </a:pPr>
                      <a:r>
                        <a:rPr lang="en-US" sz="1300" dirty="0">
                          <a:solidFill>
                            <a:srgbClr val="191C1E"/>
                          </a:solidFill>
                          <a:latin typeface="Calibri" pitchFamily="34" charset="0"/>
                          <a:ea typeface="Calibri" pitchFamily="34" charset="-122"/>
                          <a:cs typeface="Calibri" pitchFamily="34" charset="-120"/>
                        </a:rPr>
                        <a:t>200 / 200</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r" indent="0" marL="0">
                        <a:buNone/>
                      </a:pPr>
                      <a:r>
                        <a:rPr lang="en-US" sz="1300" dirty="0">
                          <a:solidFill>
                            <a:srgbClr val="191C1E"/>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r>
              <a:tr h="402336">
                <a:tc>
                  <a:txBody>
                    <a:bodyPr/>
                    <a:lstStyle/>
                    <a:p>
                      <a:pPr indent="0" marL="0">
                        <a:buNone/>
                      </a:pPr>
                      <a:r>
                        <a:rPr lang="en-US" sz="1300" dirty="0">
                          <a:solidFill>
                            <a:srgbClr val="191C1E"/>
                          </a:solidFill>
                          <a:latin typeface="Calibri" pitchFamily="34" charset="0"/>
                          <a:ea typeface="Calibri" pitchFamily="34" charset="-122"/>
                          <a:cs typeface="Calibri" pitchFamily="34" charset="-120"/>
                        </a:rPr>
                        <a:t>Receipt</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r" indent="0" marL="0">
                        <a:buNone/>
                      </a:pPr>
                      <a:r>
                        <a:rPr lang="en-US" sz="1300" dirty="0">
                          <a:solidFill>
                            <a:srgbClr val="191C1E"/>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r" indent="0" marL="0">
                        <a:buNone/>
                      </a:pPr>
                      <a:r>
                        <a:rPr lang="en-US" sz="1300" dirty="0">
                          <a:solidFill>
                            <a:srgbClr val="191C1E"/>
                          </a:solidFill>
                          <a:latin typeface="Calibri" pitchFamily="34" charset="0"/>
                          <a:ea typeface="Calibri" pitchFamily="34" charset="-122"/>
                          <a:cs typeface="Calibri" pitchFamily="34" charset="-120"/>
                        </a:rPr>
                        <a:t>135 / 135</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r" indent="0" marL="0">
                        <a:buNone/>
                      </a:pPr>
                      <a:r>
                        <a:rPr lang="en-US" sz="1300" dirty="0">
                          <a:solidFill>
                            <a:srgbClr val="191C1E"/>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r>
              <a:tr h="402336">
                <a:tc>
                  <a:txBody>
                    <a:bodyPr/>
                    <a:lstStyle/>
                    <a:p>
                      <a:pPr indent="0" marL="0">
                        <a:buNone/>
                      </a:pPr>
                      <a:r>
                        <a:rPr lang="en-US" sz="1300" b="1" dirty="0">
                          <a:solidFill>
                            <a:srgbClr val="191C1E"/>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r" indent="0" marL="0">
                        <a:buNone/>
                      </a:pPr>
                      <a:r>
                        <a:rPr lang="en-US" sz="1300" b="1" dirty="0">
                          <a:solidFill>
                            <a:srgbClr val="191C1E"/>
                          </a:solidFill>
                          <a:latin typeface="Calibri" pitchFamily="34" charset="0"/>
                          <a:ea typeface="Calibri" pitchFamily="34" charset="-122"/>
                          <a:cs typeface="Calibri" pitchFamily="34" charset="-120"/>
                        </a:rPr>
                        <a:t>60</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r" indent="0" marL="0">
                        <a:buNone/>
                      </a:pPr>
                      <a:r>
                        <a:rPr lang="en-US" sz="1300" b="1" dirty="0">
                          <a:solidFill>
                            <a:srgbClr val="191C1E"/>
                          </a:solidFill>
                          <a:latin typeface="Calibri" pitchFamily="34" charset="0"/>
                          <a:ea typeface="Calibri" pitchFamily="34" charset="-122"/>
                          <a:cs typeface="Calibri" pitchFamily="34" charset="-120"/>
                        </a:rPr>
                        <a:t>585 / 585</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c>
                  <a:txBody>
                    <a:bodyPr/>
                    <a:lstStyle/>
                    <a:p>
                      <a:pPr algn="r" indent="0" marL="0">
                        <a:buNone/>
                      </a:pPr>
                      <a:r>
                        <a:rPr lang="en-US" sz="1300" b="1" dirty="0">
                          <a:solidFill>
                            <a:srgbClr val="191C1E"/>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101600" marR="101600" marT="50800" marB="508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tcPr>
                </a:tc>
              </a:tr>
            </a:tbl>
          </a:graphicData>
        </a:graphic>
      </p:graphicFrame>
      <p:sp>
        <p:nvSpPr>
          <p:cNvPr id="6" name="Text 3"/>
          <p:cNvSpPr/>
          <p:nvPr/>
        </p:nvSpPr>
        <p:spPr>
          <a:xfrm>
            <a:off x="8092440" y="2487168"/>
            <a:ext cx="3291840" cy="777240"/>
          </a:xfrm>
          <a:prstGeom prst="rect">
            <a:avLst/>
          </a:prstGeom>
          <a:noFill/>
          <a:ln/>
        </p:spPr>
        <p:txBody>
          <a:bodyPr wrap="square" lIns="0" tIns="0" rIns="0" bIns="0" rtlCol="0" anchor="ctr"/>
          <a:lstStyle/>
          <a:p>
            <a:pPr indent="0" marL="0">
              <a:buNone/>
            </a:pPr>
            <a:r>
              <a:rPr lang="en-US" sz="4200" b="1" dirty="0">
                <a:solidFill>
                  <a:srgbClr val="002452"/>
                </a:solidFill>
                <a:latin typeface="Calibri" pitchFamily="34" charset="0"/>
                <a:ea typeface="Calibri" pitchFamily="34" charset="-122"/>
                <a:cs typeface="Calibri" pitchFamily="34" charset="-120"/>
              </a:rPr>
              <a:t>60 / 60</a:t>
            </a:r>
            <a:endParaRPr lang="en-US" sz="4200" dirty="0"/>
          </a:p>
        </p:txBody>
      </p:sp>
      <p:sp>
        <p:nvSpPr>
          <p:cNvPr id="7" name="Text 4"/>
          <p:cNvSpPr/>
          <p:nvPr/>
        </p:nvSpPr>
        <p:spPr>
          <a:xfrm>
            <a:off x="8092440" y="3310128"/>
            <a:ext cx="3291840" cy="822960"/>
          </a:xfrm>
          <a:prstGeom prst="rect">
            <a:avLst/>
          </a:prstGeom>
          <a:noFill/>
          <a:ln/>
        </p:spPr>
        <p:txBody>
          <a:bodyPr wrap="square" lIns="0" tIns="0" rIns="0" bIns="0" rtlCol="0" anchor="t"/>
          <a:lstStyle/>
          <a:p>
            <a:pPr indent="0" marL="0">
              <a:lnSpc>
                <a:spcPts val="1800"/>
              </a:lnSpc>
              <a:buNone/>
            </a:pPr>
            <a:r>
              <a:rPr lang="en-US" sz="1250" dirty="0">
                <a:solidFill>
                  <a:srgbClr val="44474F"/>
                </a:solidFill>
                <a:latin typeface="Calibri" pitchFamily="34" charset="0"/>
                <a:ea typeface="Calibri" pitchFamily="34" charset="-122"/>
                <a:cs typeface="Calibri" pitchFamily="34" charset="-120"/>
              </a:rPr>
              <a:t>dokumen benar di seluruh 10 field-nya, tanpa satu pun koreksi manual.</a:t>
            </a:r>
            <a:endParaRPr lang="en-US" sz="1250" dirty="0"/>
          </a:p>
        </p:txBody>
      </p:sp>
      <p:sp>
        <p:nvSpPr>
          <p:cNvPr id="8" name="Text 5"/>
          <p:cNvSpPr/>
          <p:nvPr/>
        </p:nvSpPr>
        <p:spPr>
          <a:xfrm>
            <a:off x="8092440" y="4206240"/>
            <a:ext cx="3291840" cy="1097280"/>
          </a:xfrm>
          <a:prstGeom prst="rect">
            <a:avLst/>
          </a:prstGeom>
          <a:noFill/>
          <a:ln/>
        </p:spPr>
        <p:txBody>
          <a:bodyPr wrap="square" lIns="0" tIns="0" rIns="0" bIns="0" rtlCol="0" anchor="t"/>
          <a:lstStyle/>
          <a:p>
            <a:pPr indent="0" marL="0">
              <a:lnSpc>
                <a:spcPts val="1600"/>
              </a:lnSpc>
              <a:buNone/>
            </a:pPr>
            <a:r>
              <a:rPr lang="en-US" sz="1100" dirty="0">
                <a:solidFill>
                  <a:srgbClr val="747780"/>
                </a:solidFill>
                <a:latin typeface="Calibri" pitchFamily="34" charset="0"/>
                <a:ea typeface="Calibri" pitchFamily="34" charset="-122"/>
                <a:cs typeface="Calibri" pitchFamily="34" charset="-120"/>
              </a:rPr>
              <a:t>Field yang dinilai: doc_number, vendor, buyer, doc_date, currency, subtotal, tax_amount, total_amount, line_item_count, line_items.</a:t>
            </a:r>
            <a:endParaRPr lang="en-US" sz="1100" dirty="0"/>
          </a:p>
        </p:txBody>
      </p:sp>
      <p:sp>
        <p:nvSpPr>
          <p:cNvPr id="9" name="Text 6"/>
          <p:cNvSpPr/>
          <p:nvPr/>
        </p:nvSpPr>
        <p:spPr>
          <a:xfrm>
            <a:off x="822960" y="4892040"/>
            <a:ext cx="6583680" cy="914400"/>
          </a:xfrm>
          <a:prstGeom prst="rect">
            <a:avLst/>
          </a:prstGeom>
          <a:noFill/>
          <a:ln/>
        </p:spPr>
        <p:txBody>
          <a:bodyPr wrap="square" lIns="0" tIns="0" rIns="0" bIns="0" rtlCol="0" anchor="t"/>
          <a:lstStyle/>
          <a:p>
            <a:pPr indent="0" marL="0">
              <a:lnSpc>
                <a:spcPts val="1800"/>
              </a:lnSpc>
              <a:buNone/>
            </a:pPr>
            <a:r>
              <a:rPr lang="en-US" sz="1250" dirty="0">
                <a:solidFill>
                  <a:srgbClr val="44474F"/>
                </a:solidFill>
                <a:latin typeface="Calibri" pitchFamily="34" charset="0"/>
                <a:ea typeface="Calibri" pitchFamily="34" charset="-122"/>
                <a:cs typeface="Calibri" pitchFamily="34" charset="-120"/>
              </a:rPr>
              <a:t>buyer hanya dinilai pada 45 dokumen. Receipt memang tidak mencetak nama pembeli, jadi field itu ditandai N/A alih-alih dihitung salah — kalau dipaksa dinilai, model akan dihukum untuk data yang tidak ada di gambar.</a:t>
            </a:r>
            <a:endParaRPr lang="en-US" sz="1250" dirty="0"/>
          </a:p>
        </p:txBody>
      </p:sp>
      <p:sp>
        <p:nvSpPr>
          <p:cNvPr id="10" name="Text 7"/>
          <p:cNvSpPr/>
          <p:nvPr/>
        </p:nvSpPr>
        <p:spPr>
          <a:xfrm>
            <a:off x="822960" y="6035040"/>
            <a:ext cx="9692640" cy="347472"/>
          </a:xfrm>
          <a:prstGeom prst="rect">
            <a:avLst/>
          </a:prstGeom>
          <a:noFill/>
          <a:ln/>
        </p:spPr>
        <p:txBody>
          <a:bodyPr wrap="square" lIns="0" tIns="0" rIns="0" bIns="0" rtlCol="0" anchor="t"/>
          <a:lstStyle/>
          <a:p>
            <a:pPr indent="0" marL="0">
              <a:buNone/>
            </a:pPr>
            <a:r>
              <a:rPr lang="en-US" sz="1000" dirty="0">
                <a:solidFill>
                  <a:srgbClr val="747780"/>
                </a:solidFill>
                <a:latin typeface="Calibri" pitchFamily="34" charset="0"/>
                <a:ea typeface="Calibri" pitchFamily="34" charset="-122"/>
                <a:cs typeface="Calibri" pitchFamily="34" charset="-120"/>
              </a:rPr>
              <a:t>Sumber: data/eval_summary.json, run 8 Juli 2026 pukul 03.04. Angka ini punya batasan penting — slide berikutnya.</a:t>
            </a:r>
            <a:endParaRPr lang="en-US" sz="1000" dirty="0"/>
          </a:p>
        </p:txBody>
      </p:sp>
      <p:sp>
        <p:nvSpPr>
          <p:cNvPr id="12" name="Text 8"/>
          <p:cNvSpPr/>
          <p:nvPr/>
        </p:nvSpPr>
        <p:spPr>
          <a:xfrm>
            <a:off x="11155680" y="6327648"/>
            <a:ext cx="54864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822960" y="274320"/>
            <a:ext cx="10561320" cy="237744"/>
          </a:xfrm>
          <a:prstGeom prst="rect">
            <a:avLst/>
          </a:prstGeom>
          <a:noFill/>
          <a:ln/>
        </p:spPr>
        <p:txBody>
          <a:bodyPr wrap="square" lIns="0" tIns="0" rIns="0" bIns="0" rtlCol="0" anchor="t"/>
          <a:lstStyle/>
          <a:p>
            <a:pPr indent="0" marL="0">
              <a:buNone/>
            </a:pPr>
            <a:r>
              <a:rPr lang="en-US" sz="1100" b="1" spc="140" kern="0" dirty="0">
                <a:solidFill>
                  <a:srgbClr val="B91C1C"/>
                </a:solidFill>
                <a:latin typeface="Calibri" pitchFamily="34" charset="0"/>
                <a:ea typeface="Calibri" pitchFamily="34" charset="-122"/>
                <a:cs typeface="Calibri" pitchFamily="34" charset="-120"/>
              </a:rPr>
              <a:t>KETERBATASAN</a:t>
            </a:r>
            <a:endParaRPr lang="en-US" sz="1100" dirty="0"/>
          </a:p>
        </p:txBody>
      </p:sp>
      <p:sp>
        <p:nvSpPr>
          <p:cNvPr id="3" name="Text 1"/>
          <p:cNvSpPr/>
          <p:nvPr/>
        </p:nvSpPr>
        <p:spPr>
          <a:xfrm>
            <a:off x="822960" y="566928"/>
            <a:ext cx="10561320" cy="566928"/>
          </a:xfrm>
          <a:prstGeom prst="rect">
            <a:avLst/>
          </a:prstGeom>
          <a:noFill/>
          <a:ln/>
        </p:spPr>
        <p:txBody>
          <a:bodyPr wrap="square" lIns="0" tIns="0" rIns="0" bIns="0" rtlCol="0" anchor="t"/>
          <a:lstStyle/>
          <a:p>
            <a:pPr algn="l" indent="0" marL="0">
              <a:buNone/>
            </a:pPr>
            <a:r>
              <a:rPr lang="en-US" sz="3000" b="1" dirty="0">
                <a:solidFill>
                  <a:srgbClr val="002452"/>
                </a:solidFill>
                <a:latin typeface="Calibri" pitchFamily="34" charset="0"/>
                <a:ea typeface="Calibri" pitchFamily="34" charset="-122"/>
                <a:cs typeface="Calibri" pitchFamily="34" charset="-120"/>
              </a:rPr>
              <a:t>Kenapa 100% itu batas atas, bukan performa dunia nyata</a:t>
            </a:r>
            <a:endParaRPr lang="en-US" sz="3000" dirty="0"/>
          </a:p>
        </p:txBody>
      </p:sp>
      <p:sp>
        <p:nvSpPr>
          <p:cNvPr id="4" name="Text 2"/>
          <p:cNvSpPr/>
          <p:nvPr/>
        </p:nvSpPr>
        <p:spPr>
          <a:xfrm>
            <a:off x="822960" y="1600200"/>
            <a:ext cx="6492240" cy="1371600"/>
          </a:xfrm>
          <a:prstGeom prst="rect">
            <a:avLst/>
          </a:prstGeom>
          <a:noFill/>
          <a:ln/>
        </p:spPr>
        <p:txBody>
          <a:bodyPr wrap="square" lIns="0" tIns="0" rIns="0" bIns="0" rtlCol="0" anchor="t"/>
          <a:lstStyle/>
          <a:p>
            <a:pPr indent="0" marL="0">
              <a:lnSpc>
                <a:spcPts val="2400"/>
              </a:lnSpc>
              <a:buNone/>
            </a:pPr>
            <a:r>
              <a:rPr lang="en-US" sz="1550" b="1" dirty="0">
                <a:solidFill>
                  <a:srgbClr val="191C1E"/>
                </a:solidFill>
                <a:latin typeface="Calibri" pitchFamily="34" charset="0"/>
                <a:ea typeface="Calibri" pitchFamily="34" charset="-122"/>
                <a:cs typeface="Calibri" pitchFamily="34" charset="-120"/>
              </a:rPr>
              <a:t>60 dokumen itu dataset yang sama yang kami pakai saat menyusun prompt-nya.</a:t>
            </a:r>
            <a:pPr indent="0" marL="0">
              <a:lnSpc>
                <a:spcPts val="2400"/>
              </a:lnSpc>
              <a:buNone/>
            </a:pPr>
            <a:r>
              <a:rPr lang="en-US" sz="1550" dirty="0">
                <a:solidFill>
                  <a:srgbClr val="191C1E"/>
                </a:solidFill>
                <a:latin typeface="Calibri" pitchFamily="34" charset="0"/>
                <a:ea typeface="Calibri" pitchFamily="34" charset="-122"/>
                <a:cs typeface="Calibri" pitchFamily="34" charset="-120"/>
              </a:rPr>
              <a:t> Setiap kali model salah baca, kami memperbaiki prompt dan menjalankan ulang. Jadi angka 100% mengukur seberapa baik prompt cocok dengan dataset ini, bukan seberapa baik sistem menghadapi dokumen yang belum pernah dilihat. Tidak ada held-out set.</a:t>
            </a:r>
            <a:endParaRPr lang="en-US" sz="1550" dirty="0"/>
          </a:p>
        </p:txBody>
      </p:sp>
      <p:sp>
        <p:nvSpPr>
          <p:cNvPr id="5" name="Text 3"/>
          <p:cNvSpPr/>
          <p:nvPr/>
        </p:nvSpPr>
        <p:spPr>
          <a:xfrm>
            <a:off x="822960" y="3291840"/>
            <a:ext cx="6492240" cy="292608"/>
          </a:xfrm>
          <a:prstGeom prst="rect">
            <a:avLst/>
          </a:prstGeom>
          <a:noFill/>
          <a:ln/>
        </p:spPr>
        <p:txBody>
          <a:bodyPr wrap="square" lIns="0" tIns="0" rIns="0" bIns="0" rtlCol="0" anchor="ctr"/>
          <a:lstStyle/>
          <a:p>
            <a:pPr indent="0" marL="0">
              <a:buNone/>
            </a:pPr>
            <a:r>
              <a:rPr lang="en-US" sz="1400" b="1" dirty="0">
                <a:solidFill>
                  <a:srgbClr val="002452"/>
                </a:solidFill>
                <a:latin typeface="Calibri" pitchFamily="34" charset="0"/>
                <a:ea typeface="Calibri" pitchFamily="34" charset="-122"/>
                <a:cs typeface="Calibri" pitchFamily="34" charset="-120"/>
              </a:rPr>
              <a:t>Belum diuji sama sekali</a:t>
            </a:r>
            <a:endParaRPr lang="en-US" sz="1400" dirty="0"/>
          </a:p>
        </p:txBody>
      </p:sp>
      <p:sp>
        <p:nvSpPr>
          <p:cNvPr id="6" name="Shape 4"/>
          <p:cNvSpPr/>
          <p:nvPr/>
        </p:nvSpPr>
        <p:spPr>
          <a:xfrm>
            <a:off x="859536" y="3794760"/>
            <a:ext cx="109728" cy="0"/>
          </a:xfrm>
          <a:prstGeom prst="line">
            <a:avLst/>
          </a:prstGeom>
          <a:noFill/>
          <a:ln w="12700">
            <a:solidFill>
              <a:srgbClr val="747780"/>
            </a:solidFill>
            <a:prstDash val="solid"/>
          </a:ln>
        </p:spPr>
      </p:sp>
      <p:sp>
        <p:nvSpPr>
          <p:cNvPr id="7" name="Text 5"/>
          <p:cNvSpPr/>
          <p:nvPr/>
        </p:nvSpPr>
        <p:spPr>
          <a:xfrm>
            <a:off x="1097280" y="3639312"/>
            <a:ext cx="6217920" cy="310896"/>
          </a:xfrm>
          <a:prstGeom prst="rect">
            <a:avLst/>
          </a:prstGeom>
          <a:noFill/>
          <a:ln/>
        </p:spPr>
        <p:txBody>
          <a:bodyPr wrap="square" lIns="0" tIns="0" rIns="0" bIns="0" rtlCol="0" anchor="ctr"/>
          <a:lstStyle/>
          <a:p>
            <a:pPr indent="0" marL="0">
              <a:buNone/>
            </a:pPr>
            <a:r>
              <a:rPr lang="en-US" sz="1300" dirty="0">
                <a:solidFill>
                  <a:srgbClr val="191C1E"/>
                </a:solidFill>
                <a:latin typeface="Calibri" pitchFamily="34" charset="0"/>
                <a:ea typeface="Calibri" pitchFamily="34" charset="-122"/>
                <a:cs typeface="Calibri" pitchFamily="34" charset="-120"/>
              </a:rPr>
              <a:t>Hasil scan yang miring, buram, atau difoto pakai kamera ponsel</a:t>
            </a:r>
            <a:endParaRPr lang="en-US" sz="1300" dirty="0"/>
          </a:p>
        </p:txBody>
      </p:sp>
      <p:sp>
        <p:nvSpPr>
          <p:cNvPr id="8" name="Shape 6"/>
          <p:cNvSpPr/>
          <p:nvPr/>
        </p:nvSpPr>
        <p:spPr>
          <a:xfrm>
            <a:off x="859536" y="4197096"/>
            <a:ext cx="109728" cy="0"/>
          </a:xfrm>
          <a:prstGeom prst="line">
            <a:avLst/>
          </a:prstGeom>
          <a:noFill/>
          <a:ln w="12700">
            <a:solidFill>
              <a:srgbClr val="747780"/>
            </a:solidFill>
            <a:prstDash val="solid"/>
          </a:ln>
        </p:spPr>
      </p:sp>
      <p:sp>
        <p:nvSpPr>
          <p:cNvPr id="9" name="Text 7"/>
          <p:cNvSpPr/>
          <p:nvPr/>
        </p:nvSpPr>
        <p:spPr>
          <a:xfrm>
            <a:off x="1097280" y="4041648"/>
            <a:ext cx="6217920" cy="310896"/>
          </a:xfrm>
          <a:prstGeom prst="rect">
            <a:avLst/>
          </a:prstGeom>
          <a:noFill/>
          <a:ln/>
        </p:spPr>
        <p:txBody>
          <a:bodyPr wrap="square" lIns="0" tIns="0" rIns="0" bIns="0" rtlCol="0" anchor="ctr"/>
          <a:lstStyle/>
          <a:p>
            <a:pPr indent="0" marL="0">
              <a:buNone/>
            </a:pPr>
            <a:r>
              <a:rPr lang="en-US" sz="1300" dirty="0">
                <a:solidFill>
                  <a:srgbClr val="191C1E"/>
                </a:solidFill>
                <a:latin typeface="Calibri" pitchFamily="34" charset="0"/>
                <a:ea typeface="Calibri" pitchFamily="34" charset="-122"/>
                <a:cs typeface="Calibri" pitchFamily="34" charset="-120"/>
              </a:rPr>
              <a:t>Vendor dan tata letak tabel di luar generator dataset kami</a:t>
            </a:r>
            <a:endParaRPr lang="en-US" sz="1300" dirty="0"/>
          </a:p>
        </p:txBody>
      </p:sp>
      <p:sp>
        <p:nvSpPr>
          <p:cNvPr id="10" name="Shape 8"/>
          <p:cNvSpPr/>
          <p:nvPr/>
        </p:nvSpPr>
        <p:spPr>
          <a:xfrm>
            <a:off x="859536" y="4599432"/>
            <a:ext cx="109728" cy="0"/>
          </a:xfrm>
          <a:prstGeom prst="line">
            <a:avLst/>
          </a:prstGeom>
          <a:noFill/>
          <a:ln w="12700">
            <a:solidFill>
              <a:srgbClr val="747780"/>
            </a:solidFill>
            <a:prstDash val="solid"/>
          </a:ln>
        </p:spPr>
      </p:sp>
      <p:sp>
        <p:nvSpPr>
          <p:cNvPr id="11" name="Text 9"/>
          <p:cNvSpPr/>
          <p:nvPr/>
        </p:nvSpPr>
        <p:spPr>
          <a:xfrm>
            <a:off x="1097280" y="4443984"/>
            <a:ext cx="6217920" cy="310896"/>
          </a:xfrm>
          <a:prstGeom prst="rect">
            <a:avLst/>
          </a:prstGeom>
          <a:noFill/>
          <a:ln/>
        </p:spPr>
        <p:txBody>
          <a:bodyPr wrap="square" lIns="0" tIns="0" rIns="0" bIns="0" rtlCol="0" anchor="ctr"/>
          <a:lstStyle/>
          <a:p>
            <a:pPr indent="0" marL="0">
              <a:buNone/>
            </a:pPr>
            <a:r>
              <a:rPr lang="en-US" sz="1300" dirty="0">
                <a:solidFill>
                  <a:srgbClr val="191C1E"/>
                </a:solidFill>
                <a:latin typeface="Calibri" pitchFamily="34" charset="0"/>
                <a:ea typeface="Calibri" pitchFamily="34" charset="-122"/>
                <a:cs typeface="Calibri" pitchFamily="34" charset="-120"/>
              </a:rPr>
              <a:t>Dokumen lebih dari satu halaman</a:t>
            </a:r>
            <a:endParaRPr lang="en-US" sz="1300" dirty="0"/>
          </a:p>
        </p:txBody>
      </p:sp>
      <p:sp>
        <p:nvSpPr>
          <p:cNvPr id="12" name="Shape 10"/>
          <p:cNvSpPr/>
          <p:nvPr/>
        </p:nvSpPr>
        <p:spPr>
          <a:xfrm>
            <a:off x="859536" y="5001768"/>
            <a:ext cx="109728" cy="0"/>
          </a:xfrm>
          <a:prstGeom prst="line">
            <a:avLst/>
          </a:prstGeom>
          <a:noFill/>
          <a:ln w="12700">
            <a:solidFill>
              <a:srgbClr val="747780"/>
            </a:solidFill>
            <a:prstDash val="solid"/>
          </a:ln>
        </p:spPr>
      </p:sp>
      <p:sp>
        <p:nvSpPr>
          <p:cNvPr id="13" name="Text 11"/>
          <p:cNvSpPr/>
          <p:nvPr/>
        </p:nvSpPr>
        <p:spPr>
          <a:xfrm>
            <a:off x="1097280" y="4846320"/>
            <a:ext cx="6217920" cy="310896"/>
          </a:xfrm>
          <a:prstGeom prst="rect">
            <a:avLst/>
          </a:prstGeom>
          <a:noFill/>
          <a:ln/>
        </p:spPr>
        <p:txBody>
          <a:bodyPr wrap="square" lIns="0" tIns="0" rIns="0" bIns="0" rtlCol="0" anchor="ctr"/>
          <a:lstStyle/>
          <a:p>
            <a:pPr indent="0" marL="0">
              <a:buNone/>
            </a:pPr>
            <a:r>
              <a:rPr lang="en-US" sz="1300" dirty="0">
                <a:solidFill>
                  <a:srgbClr val="191C1E"/>
                </a:solidFill>
                <a:latin typeface="Calibri" pitchFamily="34" charset="0"/>
                <a:ea typeface="Calibri" pitchFamily="34" charset="-122"/>
                <a:cs typeface="Calibri" pitchFamily="34" charset="-120"/>
              </a:rPr>
              <a:t>Tulisan tangan, stempel, atau coretan di atas angka</a:t>
            </a:r>
            <a:endParaRPr lang="en-US" sz="1300" dirty="0"/>
          </a:p>
        </p:txBody>
      </p:sp>
      <p:sp>
        <p:nvSpPr>
          <p:cNvPr id="14" name="Shape 12"/>
          <p:cNvSpPr/>
          <p:nvPr/>
        </p:nvSpPr>
        <p:spPr>
          <a:xfrm>
            <a:off x="859536" y="5404104"/>
            <a:ext cx="109728" cy="0"/>
          </a:xfrm>
          <a:prstGeom prst="line">
            <a:avLst/>
          </a:prstGeom>
          <a:noFill/>
          <a:ln w="12700">
            <a:solidFill>
              <a:srgbClr val="747780"/>
            </a:solidFill>
            <a:prstDash val="solid"/>
          </a:ln>
        </p:spPr>
      </p:sp>
      <p:sp>
        <p:nvSpPr>
          <p:cNvPr id="15" name="Text 13"/>
          <p:cNvSpPr/>
          <p:nvPr/>
        </p:nvSpPr>
        <p:spPr>
          <a:xfrm>
            <a:off x="1097280" y="5248656"/>
            <a:ext cx="6217920" cy="310896"/>
          </a:xfrm>
          <a:prstGeom prst="rect">
            <a:avLst/>
          </a:prstGeom>
          <a:noFill/>
          <a:ln/>
        </p:spPr>
        <p:txBody>
          <a:bodyPr wrap="square" lIns="0" tIns="0" rIns="0" bIns="0" rtlCol="0" anchor="ctr"/>
          <a:lstStyle/>
          <a:p>
            <a:pPr indent="0" marL="0">
              <a:buNone/>
            </a:pPr>
            <a:r>
              <a:rPr lang="en-US" sz="1300" dirty="0">
                <a:solidFill>
                  <a:srgbClr val="191C1E"/>
                </a:solidFill>
                <a:latin typeface="Calibri" pitchFamily="34" charset="0"/>
                <a:ea typeface="Calibri" pitchFamily="34" charset="-122"/>
                <a:cs typeface="Calibri" pitchFamily="34" charset="-120"/>
              </a:rPr>
              <a:t>Volume produksi — 60 dokumen bukan 1.000 per bulan</a:t>
            </a:r>
            <a:endParaRPr lang="en-US" sz="1300" dirty="0"/>
          </a:p>
        </p:txBody>
      </p:sp>
      <p:sp>
        <p:nvSpPr>
          <p:cNvPr id="16" name="Shape 14"/>
          <p:cNvSpPr/>
          <p:nvPr/>
        </p:nvSpPr>
        <p:spPr>
          <a:xfrm>
            <a:off x="7589520" y="1600200"/>
            <a:ext cx="3794760" cy="2880360"/>
          </a:xfrm>
          <a:prstGeom prst="rect">
            <a:avLst/>
          </a:prstGeom>
          <a:solidFill>
            <a:srgbClr val="FFFFFF"/>
          </a:solidFill>
          <a:ln w="9525">
            <a:solidFill>
              <a:srgbClr val="E3E8EF"/>
            </a:solidFill>
            <a:prstDash val="solid"/>
          </a:ln>
        </p:spPr>
      </p:sp>
      <p:sp>
        <p:nvSpPr>
          <p:cNvPr id="17" name="Text 15"/>
          <p:cNvSpPr/>
          <p:nvPr/>
        </p:nvSpPr>
        <p:spPr>
          <a:xfrm>
            <a:off x="7818120" y="1773936"/>
            <a:ext cx="3337560" cy="292608"/>
          </a:xfrm>
          <a:prstGeom prst="rect">
            <a:avLst/>
          </a:prstGeom>
          <a:noFill/>
          <a:ln/>
        </p:spPr>
        <p:txBody>
          <a:bodyPr wrap="square" lIns="0" tIns="0" rIns="0" bIns="0" rtlCol="0" anchor="ctr"/>
          <a:lstStyle/>
          <a:p>
            <a:pPr indent="0" marL="0">
              <a:buNone/>
            </a:pPr>
            <a:r>
              <a:rPr lang="en-US" sz="1300" b="1" dirty="0">
                <a:solidFill>
                  <a:srgbClr val="002452"/>
                </a:solidFill>
                <a:latin typeface="Calibri" pitchFamily="34" charset="0"/>
                <a:ea typeface="Calibri" pitchFamily="34" charset="-122"/>
                <a:cs typeface="Calibri" pitchFamily="34" charset="-120"/>
              </a:rPr>
              <a:t>Yang jujur bisa kami klaim</a:t>
            </a:r>
            <a:endParaRPr lang="en-US" sz="1300" dirty="0"/>
          </a:p>
        </p:txBody>
      </p:sp>
      <p:sp>
        <p:nvSpPr>
          <p:cNvPr id="18" name="Text 16"/>
          <p:cNvSpPr/>
          <p:nvPr/>
        </p:nvSpPr>
        <p:spPr>
          <a:xfrm>
            <a:off x="7818120" y="2139696"/>
            <a:ext cx="3337560" cy="2194560"/>
          </a:xfrm>
          <a:prstGeom prst="rect">
            <a:avLst/>
          </a:prstGeom>
          <a:noFill/>
          <a:ln/>
        </p:spPr>
        <p:txBody>
          <a:bodyPr wrap="square" lIns="0" tIns="0" rIns="0" bIns="0" rtlCol="0" anchor="t"/>
          <a:lstStyle/>
          <a:p>
            <a:pPr indent="0" marL="0">
              <a:lnSpc>
                <a:spcPts val="1800"/>
              </a:lnSpc>
              <a:buNone/>
            </a:pPr>
            <a:r>
              <a:rPr lang="en-US" sz="1250" dirty="0">
                <a:solidFill>
                  <a:srgbClr val="191C1E"/>
                </a:solidFill>
                <a:latin typeface="Calibri" pitchFamily="34" charset="0"/>
                <a:ea typeface="Calibri" pitchFamily="34" charset="-122"/>
                <a:cs typeface="Calibri" pitchFamily="34" charset="-120"/>
              </a:rPr>
              <a:t>Pada dokumen Indonesia yang bersih dan digital dengan tata letak seperti dataset kami, pipeline ini mengekstrak sepuluh field tanpa kesalahan dan validation layer tidak menghasilkan false positive.</a:t>
            </a:r>
            <a:endParaRPr lang="en-US" sz="1250" dirty="0"/>
          </a:p>
          <a:p>
            <a:pPr indent="0" marL="0">
              <a:lnSpc>
                <a:spcPts val="1800"/>
              </a:lnSpc>
              <a:buNone/>
            </a:pPr>
            <a:endParaRPr lang="en-US" sz="1250" dirty="0"/>
          </a:p>
          <a:p>
            <a:pPr indent="0" marL="0">
              <a:lnSpc>
                <a:spcPts val="1800"/>
              </a:lnSpc>
              <a:buNone/>
            </a:pPr>
            <a:r>
              <a:rPr lang="en-US" sz="1250" dirty="0">
                <a:solidFill>
                  <a:srgbClr val="191C1E"/>
                </a:solidFill>
                <a:latin typeface="Calibri" pitchFamily="34" charset="0"/>
                <a:ea typeface="Calibri" pitchFamily="34" charset="-122"/>
                <a:cs typeface="Calibri" pitchFamily="34" charset="-120"/>
              </a:rPr>
              <a:t>Di luar itu, kami belum punya bukti.</a:t>
            </a:r>
            <a:endParaRPr lang="en-US" sz="1250" dirty="0"/>
          </a:p>
        </p:txBody>
      </p:sp>
      <p:sp>
        <p:nvSpPr>
          <p:cNvPr id="19" name="Text 17"/>
          <p:cNvSpPr/>
          <p:nvPr/>
        </p:nvSpPr>
        <p:spPr>
          <a:xfrm>
            <a:off x="822960" y="5715000"/>
            <a:ext cx="10332720" cy="731520"/>
          </a:xfrm>
          <a:prstGeom prst="rect">
            <a:avLst/>
          </a:prstGeom>
          <a:noFill/>
          <a:ln/>
        </p:spPr>
        <p:txBody>
          <a:bodyPr wrap="square" lIns="0" tIns="0" rIns="0" bIns="0" rtlCol="0" anchor="t"/>
          <a:lstStyle/>
          <a:p>
            <a:pPr indent="0" marL="0">
              <a:lnSpc>
                <a:spcPts val="1900"/>
              </a:lnSpc>
              <a:buNone/>
            </a:pPr>
            <a:r>
              <a:rPr lang="en-US" sz="1250" dirty="0">
                <a:solidFill>
                  <a:srgbClr val="44474F"/>
                </a:solidFill>
                <a:latin typeface="Calibri" pitchFamily="34" charset="0"/>
                <a:ea typeface="Calibri" pitchFamily="34" charset="-122"/>
                <a:cs typeface="Calibri" pitchFamily="34" charset="-120"/>
              </a:rPr>
              <a:t>Langkah berikutnya yang benar: kumpulkan 100–200 dokumen baru yang belum pernah menyentuh prompt, jalankan eval yang sama, dan pakai angka itu untuk menyetel needs_review_fraction di business case.</a:t>
            </a:r>
            <a:endParaRPr lang="en-US" sz="1250" dirty="0"/>
          </a:p>
        </p:txBody>
      </p:sp>
      <p:sp>
        <p:nvSpPr>
          <p:cNvPr id="21" name="Text 18"/>
          <p:cNvSpPr/>
          <p:nvPr/>
        </p:nvSpPr>
        <p:spPr>
          <a:xfrm>
            <a:off x="11155680" y="6327648"/>
            <a:ext cx="54864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274320"/>
            <a:ext cx="10561320" cy="237744"/>
          </a:xfrm>
          <a:prstGeom prst="rect">
            <a:avLst/>
          </a:prstGeom>
          <a:noFill/>
          <a:ln/>
        </p:spPr>
        <p:txBody>
          <a:bodyPr wrap="square" lIns="0" tIns="0" rIns="0" bIns="0" rtlCol="0" anchor="t"/>
          <a:lstStyle/>
          <a:p>
            <a:pPr indent="0" marL="0">
              <a:buNone/>
            </a:pPr>
            <a:r>
              <a:rPr lang="en-US" sz="1100" b="1" spc="140" kern="0" dirty="0">
                <a:solidFill>
                  <a:srgbClr val="747780"/>
                </a:solidFill>
                <a:latin typeface="Calibri" pitchFamily="34" charset="0"/>
                <a:ea typeface="Calibri" pitchFamily="34" charset="-122"/>
                <a:cs typeface="Calibri" pitchFamily="34" charset="-120"/>
              </a:rPr>
              <a:t>BUSINESS CASE</a:t>
            </a:r>
            <a:endParaRPr lang="en-US" sz="1100" dirty="0"/>
          </a:p>
        </p:txBody>
      </p:sp>
      <p:sp>
        <p:nvSpPr>
          <p:cNvPr id="3" name="Text 1"/>
          <p:cNvSpPr/>
          <p:nvPr/>
        </p:nvSpPr>
        <p:spPr>
          <a:xfrm>
            <a:off x="822960" y="566928"/>
            <a:ext cx="10561320" cy="566928"/>
          </a:xfrm>
          <a:prstGeom prst="rect">
            <a:avLst/>
          </a:prstGeom>
          <a:noFill/>
          <a:ln/>
        </p:spPr>
        <p:txBody>
          <a:bodyPr wrap="square" lIns="0" tIns="0" rIns="0" bIns="0" rtlCol="0" anchor="t"/>
          <a:lstStyle/>
          <a:p>
            <a:pPr algn="l" indent="0" marL="0">
              <a:buNone/>
            </a:pPr>
            <a:r>
              <a:rPr lang="en-US" sz="3000" b="1" dirty="0">
                <a:solidFill>
                  <a:srgbClr val="002452"/>
                </a:solidFill>
                <a:latin typeface="Calibri" pitchFamily="34" charset="0"/>
                <a:ea typeface="Calibri" pitchFamily="34" charset="-122"/>
                <a:cs typeface="Calibri" pitchFamily="34" charset="-120"/>
              </a:rPr>
              <a:t>Biaya hanya tumbuh mengikuti porsi review, bukan total volume</a:t>
            </a:r>
            <a:endParaRPr lang="en-US" sz="3000" dirty="0"/>
          </a:p>
        </p:txBody>
      </p:sp>
      <p:sp>
        <p:nvSpPr>
          <p:cNvPr id="4" name="Shape 2"/>
          <p:cNvSpPr/>
          <p:nvPr/>
        </p:nvSpPr>
        <p:spPr>
          <a:xfrm>
            <a:off x="822960" y="1645920"/>
            <a:ext cx="3200400" cy="2286000"/>
          </a:xfrm>
          <a:prstGeom prst="rect">
            <a:avLst/>
          </a:prstGeom>
          <a:solidFill>
            <a:srgbClr val="F7F9FC"/>
          </a:solidFill>
          <a:ln w="9525">
            <a:solidFill>
              <a:srgbClr val="E3E8EF"/>
            </a:solidFill>
            <a:prstDash val="solid"/>
          </a:ln>
        </p:spPr>
      </p:sp>
      <p:sp>
        <p:nvSpPr>
          <p:cNvPr id="5" name="Text 3"/>
          <p:cNvSpPr/>
          <p:nvPr/>
        </p:nvSpPr>
        <p:spPr>
          <a:xfrm>
            <a:off x="1051560" y="1810512"/>
            <a:ext cx="2743200" cy="274320"/>
          </a:xfrm>
          <a:prstGeom prst="rect">
            <a:avLst/>
          </a:prstGeom>
          <a:noFill/>
          <a:ln/>
        </p:spPr>
        <p:txBody>
          <a:bodyPr wrap="square" lIns="0" tIns="0" rIns="0" bIns="0" rtlCol="0" anchor="ctr"/>
          <a:lstStyle/>
          <a:p>
            <a:pPr indent="0" marL="0">
              <a:buNone/>
            </a:pPr>
            <a:r>
              <a:rPr lang="en-US" sz="1300" b="1" dirty="0">
                <a:solidFill>
                  <a:srgbClr val="44474F"/>
                </a:solidFill>
                <a:latin typeface="Calibri" pitchFamily="34" charset="0"/>
                <a:ea typeface="Calibri" pitchFamily="34" charset="-122"/>
                <a:cs typeface="Calibri" pitchFamily="34" charset="-120"/>
              </a:rPr>
              <a:t>Manual</a:t>
            </a:r>
            <a:endParaRPr lang="en-US" sz="1300" dirty="0"/>
          </a:p>
        </p:txBody>
      </p:sp>
      <p:sp>
        <p:nvSpPr>
          <p:cNvPr id="6" name="Text 4"/>
          <p:cNvSpPr/>
          <p:nvPr/>
        </p:nvSpPr>
        <p:spPr>
          <a:xfrm>
            <a:off x="1051560" y="2148840"/>
            <a:ext cx="2743200" cy="502920"/>
          </a:xfrm>
          <a:prstGeom prst="rect">
            <a:avLst/>
          </a:prstGeom>
          <a:noFill/>
          <a:ln/>
        </p:spPr>
        <p:txBody>
          <a:bodyPr wrap="square" lIns="0" tIns="0" rIns="0" bIns="0" rtlCol="0" anchor="ctr"/>
          <a:lstStyle/>
          <a:p>
            <a:pPr indent="0" marL="0">
              <a:buNone/>
            </a:pPr>
            <a:r>
              <a:rPr lang="en-US" sz="2600" b="1" dirty="0">
                <a:solidFill>
                  <a:srgbClr val="191C1E"/>
                </a:solidFill>
                <a:latin typeface="Calibri" pitchFamily="34" charset="0"/>
                <a:ea typeface="Calibri" pitchFamily="34" charset="-122"/>
                <a:cs typeface="Calibri" pitchFamily="34" charset="-120"/>
              </a:rPr>
              <a:t>Rp 5.000.000</a:t>
            </a:r>
            <a:endParaRPr lang="en-US" sz="2600" dirty="0"/>
          </a:p>
        </p:txBody>
      </p:sp>
      <p:sp>
        <p:nvSpPr>
          <p:cNvPr id="7" name="Text 5"/>
          <p:cNvSpPr/>
          <p:nvPr/>
        </p:nvSpPr>
        <p:spPr>
          <a:xfrm>
            <a:off x="1051560" y="2697480"/>
            <a:ext cx="2743200" cy="1097280"/>
          </a:xfrm>
          <a:prstGeom prst="rect">
            <a:avLst/>
          </a:prstGeom>
          <a:noFill/>
          <a:ln/>
        </p:spPr>
        <p:txBody>
          <a:bodyPr wrap="square" lIns="0" tIns="0" rIns="0" bIns="0" rtlCol="0" anchor="t"/>
          <a:lstStyle/>
          <a:p>
            <a:pPr indent="0" marL="0">
              <a:lnSpc>
                <a:spcPts val="1700"/>
              </a:lnSpc>
              <a:buNone/>
            </a:pPr>
            <a:r>
              <a:rPr lang="en-US" sz="1200" dirty="0">
                <a:solidFill>
                  <a:srgbClr val="44474F"/>
                </a:solidFill>
                <a:latin typeface="Calibri" pitchFamily="34" charset="0"/>
                <a:ea typeface="Calibri" pitchFamily="34" charset="-122"/>
                <a:cs typeface="Calibri" pitchFamily="34" charset="-120"/>
              </a:rPr>
              <a:t>per bulan</a:t>
            </a:r>
            <a:endParaRPr lang="en-US" sz="1200" dirty="0"/>
          </a:p>
          <a:p>
            <a:pPr indent="0" marL="0">
              <a:lnSpc>
                <a:spcPts val="1700"/>
              </a:lnSpc>
              <a:buNone/>
            </a:pPr>
            <a:endParaRPr lang="en-US" sz="1200" dirty="0"/>
          </a:p>
          <a:p>
            <a:pPr indent="0" marL="0">
              <a:lnSpc>
                <a:spcPts val="1700"/>
              </a:lnSpc>
              <a:buNone/>
            </a:pPr>
            <a:r>
              <a:rPr lang="en-US" sz="1200" dirty="0">
                <a:solidFill>
                  <a:srgbClr val="44474F"/>
                </a:solidFill>
                <a:latin typeface="Calibri" pitchFamily="34" charset="0"/>
                <a:ea typeface="Calibri" pitchFamily="34" charset="-122"/>
                <a:cs typeface="Calibri" pitchFamily="34" charset="-120"/>
              </a:rPr>
              <a:t>1.000 dokumen disentuh manusia</a:t>
            </a:r>
            <a:endParaRPr lang="en-US" sz="1200" dirty="0"/>
          </a:p>
          <a:p>
            <a:pPr indent="0" marL="0">
              <a:lnSpc>
                <a:spcPts val="1700"/>
              </a:lnSpc>
              <a:buNone/>
            </a:pPr>
            <a:r>
              <a:rPr lang="en-US" sz="1200" dirty="0">
                <a:solidFill>
                  <a:srgbClr val="44474F"/>
                </a:solidFill>
                <a:latin typeface="Calibri" pitchFamily="34" charset="0"/>
                <a:ea typeface="Calibri" pitchFamily="34" charset="-122"/>
                <a:cs typeface="Calibri" pitchFamily="34" charset="-120"/>
              </a:rPr>
              <a:t>6 menit per dokumen</a:t>
            </a:r>
            <a:endParaRPr lang="en-US" sz="1200" dirty="0"/>
          </a:p>
        </p:txBody>
      </p:sp>
      <p:sp>
        <p:nvSpPr>
          <p:cNvPr id="8" name="Shape 6"/>
          <p:cNvSpPr/>
          <p:nvPr/>
        </p:nvSpPr>
        <p:spPr>
          <a:xfrm>
            <a:off x="4251960" y="1645920"/>
            <a:ext cx="3200400" cy="2286000"/>
          </a:xfrm>
          <a:prstGeom prst="rect">
            <a:avLst/>
          </a:prstGeom>
          <a:solidFill>
            <a:srgbClr val="EDF3FF"/>
          </a:solidFill>
          <a:ln w="15875">
            <a:solidFill>
              <a:srgbClr val="0051D5"/>
            </a:solidFill>
            <a:prstDash val="solid"/>
          </a:ln>
        </p:spPr>
      </p:sp>
      <p:sp>
        <p:nvSpPr>
          <p:cNvPr id="9" name="Text 7"/>
          <p:cNvSpPr/>
          <p:nvPr/>
        </p:nvSpPr>
        <p:spPr>
          <a:xfrm>
            <a:off x="4480560" y="1810512"/>
            <a:ext cx="2743200" cy="274320"/>
          </a:xfrm>
          <a:prstGeom prst="rect">
            <a:avLst/>
          </a:prstGeom>
          <a:noFill/>
          <a:ln/>
        </p:spPr>
        <p:txBody>
          <a:bodyPr wrap="square" lIns="0" tIns="0" rIns="0" bIns="0" rtlCol="0" anchor="ctr"/>
          <a:lstStyle/>
          <a:p>
            <a:pPr indent="0" marL="0">
              <a:buNone/>
            </a:pPr>
            <a:r>
              <a:rPr lang="en-US" sz="1300" b="1" dirty="0">
                <a:solidFill>
                  <a:srgbClr val="0051D5"/>
                </a:solidFill>
                <a:latin typeface="Calibri" pitchFamily="34" charset="0"/>
                <a:ea typeface="Calibri" pitchFamily="34" charset="-122"/>
                <a:cs typeface="Calibri" pitchFamily="34" charset="-120"/>
              </a:rPr>
              <a:t>DocExtract</a:t>
            </a:r>
            <a:endParaRPr lang="en-US" sz="1300" dirty="0"/>
          </a:p>
        </p:txBody>
      </p:sp>
      <p:sp>
        <p:nvSpPr>
          <p:cNvPr id="10" name="Text 8"/>
          <p:cNvSpPr/>
          <p:nvPr/>
        </p:nvSpPr>
        <p:spPr>
          <a:xfrm>
            <a:off x="4480560" y="2148840"/>
            <a:ext cx="2743200" cy="502920"/>
          </a:xfrm>
          <a:prstGeom prst="rect">
            <a:avLst/>
          </a:prstGeom>
          <a:noFill/>
          <a:ln/>
        </p:spPr>
        <p:txBody>
          <a:bodyPr wrap="square" lIns="0" tIns="0" rIns="0" bIns="0" rtlCol="0" anchor="ctr"/>
          <a:lstStyle/>
          <a:p>
            <a:pPr indent="0" marL="0">
              <a:buNone/>
            </a:pPr>
            <a:r>
              <a:rPr lang="en-US" sz="2600" b="1" dirty="0">
                <a:solidFill>
                  <a:srgbClr val="002452"/>
                </a:solidFill>
                <a:latin typeface="Calibri" pitchFamily="34" charset="0"/>
                <a:ea typeface="Calibri" pitchFamily="34" charset="-122"/>
                <a:cs typeface="Calibri" pitchFamily="34" charset="-120"/>
              </a:rPr>
              <a:t>Rp 500.000</a:t>
            </a:r>
            <a:endParaRPr lang="en-US" sz="2600" dirty="0"/>
          </a:p>
        </p:txBody>
      </p:sp>
      <p:sp>
        <p:nvSpPr>
          <p:cNvPr id="11" name="Text 9"/>
          <p:cNvSpPr/>
          <p:nvPr/>
        </p:nvSpPr>
        <p:spPr>
          <a:xfrm>
            <a:off x="4480560" y="2697480"/>
            <a:ext cx="2743200" cy="1188720"/>
          </a:xfrm>
          <a:prstGeom prst="rect">
            <a:avLst/>
          </a:prstGeom>
          <a:noFill/>
          <a:ln/>
        </p:spPr>
        <p:txBody>
          <a:bodyPr wrap="square" lIns="0" tIns="0" rIns="0" bIns="0" rtlCol="0" anchor="t"/>
          <a:lstStyle/>
          <a:p>
            <a:pPr indent="0" marL="0">
              <a:lnSpc>
                <a:spcPts val="1700"/>
              </a:lnSpc>
              <a:buNone/>
            </a:pPr>
            <a:r>
              <a:rPr lang="en-US" sz="1200" dirty="0">
                <a:solidFill>
                  <a:srgbClr val="44474F"/>
                </a:solidFill>
                <a:latin typeface="Calibri" pitchFamily="34" charset="0"/>
                <a:ea typeface="Calibri" pitchFamily="34" charset="-122"/>
                <a:cs typeface="Calibri" pitchFamily="34" charset="-120"/>
              </a:rPr>
              <a:t>per bulan</a:t>
            </a:r>
            <a:endParaRPr lang="en-US" sz="1200" dirty="0"/>
          </a:p>
          <a:p>
            <a:pPr indent="0" marL="0">
              <a:lnSpc>
                <a:spcPts val="1700"/>
              </a:lnSpc>
              <a:buNone/>
            </a:pPr>
            <a:endParaRPr lang="en-US" sz="1200" dirty="0"/>
          </a:p>
          <a:p>
            <a:pPr indent="0" marL="0">
              <a:lnSpc>
                <a:spcPts val="1700"/>
              </a:lnSpc>
              <a:buNone/>
            </a:pPr>
            <a:r>
              <a:rPr lang="en-US" sz="1200" dirty="0">
                <a:solidFill>
                  <a:srgbClr val="44474F"/>
                </a:solidFill>
                <a:latin typeface="Calibri" pitchFamily="34" charset="0"/>
                <a:ea typeface="Calibri" pitchFamily="34" charset="-122"/>
                <a:cs typeface="Calibri" pitchFamily="34" charset="-120"/>
              </a:rPr>
              <a:t>200 dokumen flagged saja</a:t>
            </a:r>
            <a:endParaRPr lang="en-US" sz="1200" dirty="0"/>
          </a:p>
          <a:p>
            <a:pPr indent="0" marL="0">
              <a:lnSpc>
                <a:spcPts val="1700"/>
              </a:lnSpc>
              <a:buNone/>
            </a:pPr>
            <a:r>
              <a:rPr lang="en-US" sz="1200" dirty="0">
                <a:solidFill>
                  <a:srgbClr val="44474F"/>
                </a:solidFill>
                <a:latin typeface="Calibri" pitchFamily="34" charset="0"/>
                <a:ea typeface="Calibri" pitchFamily="34" charset="-122"/>
                <a:cs typeface="Calibri" pitchFamily="34" charset="-120"/>
              </a:rPr>
              <a:t>3 menit per dokumen</a:t>
            </a:r>
            <a:endParaRPr lang="en-US" sz="1200" dirty="0"/>
          </a:p>
          <a:p>
            <a:pPr indent="0" marL="0">
              <a:lnSpc>
                <a:spcPts val="1700"/>
              </a:lnSpc>
              <a:buNone/>
            </a:pPr>
            <a:r>
              <a:rPr lang="en-US" sz="1200" dirty="0">
                <a:solidFill>
                  <a:srgbClr val="44474F"/>
                </a:solidFill>
                <a:latin typeface="Calibri" pitchFamily="34" charset="0"/>
                <a:ea typeface="Calibri" pitchFamily="34" charset="-122"/>
                <a:cs typeface="Calibri" pitchFamily="34" charset="-120"/>
              </a:rPr>
              <a:t>compute lokal, biaya ≈ 0</a:t>
            </a:r>
            <a:endParaRPr lang="en-US" sz="1200" dirty="0"/>
          </a:p>
        </p:txBody>
      </p:sp>
      <p:sp>
        <p:nvSpPr>
          <p:cNvPr id="12" name="Text 10"/>
          <p:cNvSpPr/>
          <p:nvPr/>
        </p:nvSpPr>
        <p:spPr>
          <a:xfrm>
            <a:off x="7955280" y="1965960"/>
            <a:ext cx="3429000" cy="1645920"/>
          </a:xfrm>
          <a:prstGeom prst="rect">
            <a:avLst/>
          </a:prstGeom>
          <a:noFill/>
          <a:ln/>
        </p:spPr>
        <p:txBody>
          <a:bodyPr wrap="square" lIns="0" tIns="0" rIns="0" bIns="0" rtlCol="0" anchor="t"/>
          <a:lstStyle/>
          <a:p>
            <a:pPr indent="0" marL="0">
              <a:lnSpc>
                <a:spcPts val="2200"/>
              </a:lnSpc>
              <a:buNone/>
            </a:pPr>
            <a:r>
              <a:rPr lang="en-US" sz="3400" b="1" dirty="0">
                <a:solidFill>
                  <a:srgbClr val="002452"/>
                </a:solidFill>
                <a:latin typeface="Calibri" pitchFamily="34" charset="0"/>
                <a:ea typeface="Calibri" pitchFamily="34" charset="-122"/>
                <a:cs typeface="Calibri" pitchFamily="34" charset="-120"/>
              </a:rPr>
              <a:t>Rp 54.000.000
</a:t>
            </a:r>
            <a:pPr indent="0" marL="0">
              <a:lnSpc>
                <a:spcPts val="2200"/>
              </a:lnSpc>
              <a:buNone/>
            </a:pPr>
            <a:r>
              <a:rPr lang="en-US" sz="1350" dirty="0">
                <a:solidFill>
                  <a:srgbClr val="44474F"/>
                </a:solidFill>
                <a:latin typeface="Calibri" pitchFamily="34" charset="0"/>
                <a:ea typeface="Calibri" pitchFamily="34" charset="-122"/>
                <a:cs typeface="Calibri" pitchFamily="34" charset="-120"/>
              </a:rPr>
              <a:t>hemat per tahun, sekitar 90%.</a:t>
            </a:r>
            <a:endParaRPr lang="en-US" sz="3400" dirty="0"/>
          </a:p>
          <a:p>
            <a:pPr indent="0" marL="0">
              <a:lnSpc>
                <a:spcPts val="2200"/>
              </a:lnSpc>
              <a:buNone/>
            </a:pPr>
            <a:r>
              <a:rPr lang="en-US" sz="1350" dirty="0">
                <a:solidFill>
                  <a:srgbClr val="44474F"/>
                </a:solidFill>
                <a:latin typeface="Calibri" pitchFamily="34" charset="0"/>
                <a:ea typeface="Calibri" pitchFamily="34" charset="-122"/>
                <a:cs typeface="Calibri" pitchFamily="34" charset="-120"/>
              </a:rPr>
              <a:t>Payback atas setup Rp 15.000.000: </a:t>
            </a:r>
            <a:endParaRPr lang="en-US" sz="3400" dirty="0"/>
          </a:p>
          <a:p>
            <a:pPr indent="0" marL="0">
              <a:lnSpc>
                <a:spcPts val="2200"/>
              </a:lnSpc>
              <a:buNone/>
            </a:pPr>
            <a:r>
              <a:rPr lang="en-US" sz="1350" b="1" dirty="0">
                <a:solidFill>
                  <a:srgbClr val="002452"/>
                </a:solidFill>
                <a:latin typeface="Calibri" pitchFamily="34" charset="0"/>
                <a:ea typeface="Calibri" pitchFamily="34" charset="-122"/>
                <a:cs typeface="Calibri" pitchFamily="34" charset="-120"/>
              </a:rPr>
              <a:t>3,3 bulan</a:t>
            </a:r>
            <a:pPr indent="0" marL="0">
              <a:lnSpc>
                <a:spcPts val="2200"/>
              </a:lnSpc>
              <a:buNone/>
            </a:pPr>
            <a:r>
              <a:rPr lang="en-US" sz="1350" dirty="0">
                <a:solidFill>
                  <a:srgbClr val="44474F"/>
                </a:solidFill>
                <a:latin typeface="Calibri" pitchFamily="34" charset="0"/>
                <a:ea typeface="Calibri" pitchFamily="34" charset="-122"/>
                <a:cs typeface="Calibri" pitchFamily="34" charset="-120"/>
              </a:rPr>
              <a:t>.</a:t>
            </a:r>
            <a:endParaRPr lang="en-US" sz="3400" dirty="0"/>
          </a:p>
        </p:txBody>
      </p:sp>
      <p:sp>
        <p:nvSpPr>
          <p:cNvPr id="13" name="Shape 11"/>
          <p:cNvSpPr/>
          <p:nvPr/>
        </p:nvSpPr>
        <p:spPr>
          <a:xfrm>
            <a:off x="822960" y="4224528"/>
            <a:ext cx="10561320" cy="0"/>
          </a:xfrm>
          <a:prstGeom prst="line">
            <a:avLst/>
          </a:prstGeom>
          <a:noFill/>
          <a:ln w="9525">
            <a:solidFill>
              <a:srgbClr val="E3E8EF"/>
            </a:solidFill>
            <a:prstDash val="solid"/>
          </a:ln>
        </p:spPr>
      </p:sp>
      <p:sp>
        <p:nvSpPr>
          <p:cNvPr id="14" name="Text 12"/>
          <p:cNvSpPr/>
          <p:nvPr/>
        </p:nvSpPr>
        <p:spPr>
          <a:xfrm>
            <a:off x="822960" y="4389120"/>
            <a:ext cx="3200400" cy="274320"/>
          </a:xfrm>
          <a:prstGeom prst="rect">
            <a:avLst/>
          </a:prstGeom>
          <a:noFill/>
          <a:ln/>
        </p:spPr>
        <p:txBody>
          <a:bodyPr wrap="square" lIns="0" tIns="0" rIns="0" bIns="0" rtlCol="0" anchor="ctr"/>
          <a:lstStyle/>
          <a:p>
            <a:pPr indent="0" marL="0">
              <a:buNone/>
            </a:pPr>
            <a:r>
              <a:rPr lang="en-US" sz="1300" b="1" dirty="0">
                <a:solidFill>
                  <a:srgbClr val="002452"/>
                </a:solidFill>
                <a:latin typeface="Calibri" pitchFamily="34" charset="0"/>
                <a:ea typeface="Calibri" pitchFamily="34" charset="-122"/>
                <a:cs typeface="Calibri" pitchFamily="34" charset="-120"/>
              </a:rPr>
              <a:t>Skenario pesimis</a:t>
            </a:r>
            <a:endParaRPr lang="en-US" sz="1300" dirty="0"/>
          </a:p>
        </p:txBody>
      </p:sp>
      <p:sp>
        <p:nvSpPr>
          <p:cNvPr id="15" name="Text 13"/>
          <p:cNvSpPr/>
          <p:nvPr/>
        </p:nvSpPr>
        <p:spPr>
          <a:xfrm>
            <a:off x="822960" y="4700016"/>
            <a:ext cx="3200400" cy="822960"/>
          </a:xfrm>
          <a:prstGeom prst="rect">
            <a:avLst/>
          </a:prstGeom>
          <a:noFill/>
          <a:ln/>
        </p:spPr>
        <p:txBody>
          <a:bodyPr wrap="square" lIns="0" tIns="0" rIns="0" bIns="0" rtlCol="0" anchor="t"/>
          <a:lstStyle/>
          <a:p>
            <a:pPr indent="0" marL="0">
              <a:lnSpc>
                <a:spcPts val="1800"/>
              </a:lnSpc>
              <a:buNone/>
            </a:pPr>
            <a:r>
              <a:rPr lang="en-US" sz="1250" dirty="0">
                <a:solidFill>
                  <a:srgbClr val="44474F"/>
                </a:solidFill>
                <a:latin typeface="Calibri" pitchFamily="34" charset="0"/>
                <a:ea typeface="Calibri" pitchFamily="34" charset="-122"/>
                <a:cs typeface="Calibri" pitchFamily="34" charset="-120"/>
              </a:rPr>
              <a:t>Kalau ternyata 50% dokumen butuh review, bukan 20%: Rp 1.250.000 per bulan. Masih turun 75%.</a:t>
            </a:r>
            <a:endParaRPr lang="en-US" sz="1250" dirty="0"/>
          </a:p>
        </p:txBody>
      </p:sp>
      <p:sp>
        <p:nvSpPr>
          <p:cNvPr id="16" name="Text 14"/>
          <p:cNvSpPr/>
          <p:nvPr/>
        </p:nvSpPr>
        <p:spPr>
          <a:xfrm>
            <a:off x="4251960" y="4389120"/>
            <a:ext cx="3200400" cy="274320"/>
          </a:xfrm>
          <a:prstGeom prst="rect">
            <a:avLst/>
          </a:prstGeom>
          <a:noFill/>
          <a:ln/>
        </p:spPr>
        <p:txBody>
          <a:bodyPr wrap="square" lIns="0" tIns="0" rIns="0" bIns="0" rtlCol="0" anchor="ctr"/>
          <a:lstStyle/>
          <a:p>
            <a:pPr indent="0" marL="0">
              <a:buNone/>
            </a:pPr>
            <a:r>
              <a:rPr lang="en-US" sz="1300" b="1" dirty="0">
                <a:solidFill>
                  <a:srgbClr val="002452"/>
                </a:solidFill>
                <a:latin typeface="Calibri" pitchFamily="34" charset="0"/>
                <a:ea typeface="Calibri" pitchFamily="34" charset="-122"/>
                <a:cs typeface="Calibri" pitchFamily="34" charset="-120"/>
              </a:rPr>
              <a:t>Kenapa angkanya beda jauh</a:t>
            </a:r>
            <a:endParaRPr lang="en-US" sz="1300" dirty="0"/>
          </a:p>
        </p:txBody>
      </p:sp>
      <p:sp>
        <p:nvSpPr>
          <p:cNvPr id="17" name="Text 15"/>
          <p:cNvSpPr/>
          <p:nvPr/>
        </p:nvSpPr>
        <p:spPr>
          <a:xfrm>
            <a:off x="4251960" y="4700016"/>
            <a:ext cx="3200400" cy="1097280"/>
          </a:xfrm>
          <a:prstGeom prst="rect">
            <a:avLst/>
          </a:prstGeom>
          <a:noFill/>
          <a:ln/>
        </p:spPr>
        <p:txBody>
          <a:bodyPr wrap="square" lIns="0" tIns="0" rIns="0" bIns="0" rtlCol="0" anchor="t"/>
          <a:lstStyle/>
          <a:p>
            <a:pPr indent="0" marL="0">
              <a:lnSpc>
                <a:spcPts val="1800"/>
              </a:lnSpc>
              <a:buNone/>
            </a:pPr>
            <a:r>
              <a:rPr lang="en-US" sz="1250" dirty="0">
                <a:solidFill>
                  <a:srgbClr val="44474F"/>
                </a:solidFill>
                <a:latin typeface="Calibri" pitchFamily="34" charset="0"/>
                <a:ea typeface="Calibri" pitchFamily="34" charset="-122"/>
                <a:cs typeface="Calibri" pitchFamily="34" charset="-120"/>
              </a:rPr>
              <a:t>Inference jalan lokal di LM Studio, di hardware yang sudah ada. Biaya compute per dokumen diperlakukan mendekati nol. Solusi berbasis API cloud membayar per halaman, setiap bulan, selamanya.</a:t>
            </a:r>
            <a:endParaRPr lang="en-US" sz="1250" dirty="0"/>
          </a:p>
        </p:txBody>
      </p:sp>
      <p:sp>
        <p:nvSpPr>
          <p:cNvPr id="18" name="Text 16"/>
          <p:cNvSpPr/>
          <p:nvPr/>
        </p:nvSpPr>
        <p:spPr>
          <a:xfrm>
            <a:off x="7955280" y="4389120"/>
            <a:ext cx="3429000" cy="274320"/>
          </a:xfrm>
          <a:prstGeom prst="rect">
            <a:avLst/>
          </a:prstGeom>
          <a:noFill/>
          <a:ln/>
        </p:spPr>
        <p:txBody>
          <a:bodyPr wrap="square" lIns="0" tIns="0" rIns="0" bIns="0" rtlCol="0" anchor="ctr"/>
          <a:lstStyle/>
          <a:p>
            <a:pPr indent="0" marL="0">
              <a:buNone/>
            </a:pPr>
            <a:r>
              <a:rPr lang="en-US" sz="1300" b="1" dirty="0">
                <a:solidFill>
                  <a:srgbClr val="002452"/>
                </a:solidFill>
                <a:latin typeface="Calibri" pitchFamily="34" charset="0"/>
                <a:ea typeface="Calibri" pitchFamily="34" charset="-122"/>
                <a:cs typeface="Calibri" pitchFamily="34" charset="-120"/>
              </a:rPr>
              <a:t>Semua asumsi bisa diubah</a:t>
            </a:r>
            <a:endParaRPr lang="en-US" sz="1300" dirty="0"/>
          </a:p>
        </p:txBody>
      </p:sp>
      <p:sp>
        <p:nvSpPr>
          <p:cNvPr id="19" name="Text 17"/>
          <p:cNvSpPr/>
          <p:nvPr/>
        </p:nvSpPr>
        <p:spPr>
          <a:xfrm>
            <a:off x="7955280" y="4700016"/>
            <a:ext cx="3429000" cy="1097280"/>
          </a:xfrm>
          <a:prstGeom prst="rect">
            <a:avLst/>
          </a:prstGeom>
          <a:noFill/>
          <a:ln/>
        </p:spPr>
        <p:txBody>
          <a:bodyPr wrap="square" lIns="0" tIns="0" rIns="0" bIns="0" rtlCol="0" anchor="t"/>
          <a:lstStyle/>
          <a:p>
            <a:pPr indent="0" marL="0">
              <a:lnSpc>
                <a:spcPts val="1800"/>
              </a:lnSpc>
              <a:buNone/>
            </a:pPr>
            <a:r>
              <a:rPr lang="en-US" sz="1250" dirty="0">
                <a:solidFill>
                  <a:srgbClr val="44474F"/>
                </a:solidFill>
                <a:latin typeface="Calibri" pitchFamily="34" charset="0"/>
                <a:ea typeface="Calibri" pitchFamily="34" charset="-122"/>
                <a:cs typeface="Calibri" pitchFamily="34" charset="-120"/>
              </a:rPr>
              <a:t>ROI calculator di dashboard admin memakai model yang sama, jadi stakeholder bisa memasukkan volume dan upah mereka sendiri saat presentasi berlangsung.</a:t>
            </a:r>
            <a:endParaRPr lang="en-US" sz="1250" dirty="0"/>
          </a:p>
        </p:txBody>
      </p:sp>
      <p:sp>
        <p:nvSpPr>
          <p:cNvPr id="20" name="Text 18"/>
          <p:cNvSpPr/>
          <p:nvPr/>
        </p:nvSpPr>
        <p:spPr>
          <a:xfrm>
            <a:off x="822960" y="6199632"/>
            <a:ext cx="9692640" cy="347472"/>
          </a:xfrm>
          <a:prstGeom prst="rect">
            <a:avLst/>
          </a:prstGeom>
          <a:noFill/>
          <a:ln/>
        </p:spPr>
        <p:txBody>
          <a:bodyPr wrap="square" lIns="0" tIns="0" rIns="0" bIns="0" rtlCol="0" anchor="t"/>
          <a:lstStyle/>
          <a:p>
            <a:pPr indent="0" marL="0">
              <a:buNone/>
            </a:pPr>
            <a:r>
              <a:rPr lang="en-US" sz="1000" dirty="0">
                <a:solidFill>
                  <a:srgbClr val="747780"/>
                </a:solidFill>
                <a:latin typeface="Calibri" pitchFamily="34" charset="0"/>
                <a:ea typeface="Calibri" pitchFamily="34" charset="-122"/>
                <a:cs typeface="Calibri" pitchFamily="34" charset="-120"/>
              </a:rPr>
              <a:t>Sumber: docs/BUSINESS_CASE.md, asumsi default, review rate konservatif 20%. Angka ilustratif — perlu disetel ke volume dan upah klien sebenarnya.</a:t>
            </a:r>
            <a:endParaRPr lang="en-US" sz="1000" dirty="0"/>
          </a:p>
        </p:txBody>
      </p:sp>
      <p:sp>
        <p:nvSpPr>
          <p:cNvPr id="22" name="Text 19"/>
          <p:cNvSpPr/>
          <p:nvPr/>
        </p:nvSpPr>
        <p:spPr>
          <a:xfrm>
            <a:off x="11155680" y="6327648"/>
            <a:ext cx="54864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274320"/>
            <a:ext cx="10561320" cy="237744"/>
          </a:xfrm>
          <a:prstGeom prst="rect">
            <a:avLst/>
          </a:prstGeom>
          <a:noFill/>
          <a:ln/>
        </p:spPr>
        <p:txBody>
          <a:bodyPr wrap="square" lIns="0" tIns="0" rIns="0" bIns="0" rtlCol="0" anchor="t"/>
          <a:lstStyle/>
          <a:p>
            <a:pPr indent="0" marL="0">
              <a:buNone/>
            </a:pPr>
            <a:r>
              <a:rPr lang="en-US" sz="1100" b="1" spc="140" kern="0" dirty="0">
                <a:solidFill>
                  <a:srgbClr val="747780"/>
                </a:solidFill>
                <a:latin typeface="Calibri" pitchFamily="34" charset="0"/>
                <a:ea typeface="Calibri" pitchFamily="34" charset="-122"/>
                <a:cs typeface="Calibri" pitchFamily="34" charset="-120"/>
              </a:rPr>
              <a:t>CATATAN DEBUGGING</a:t>
            </a:r>
            <a:endParaRPr lang="en-US" sz="1100" dirty="0"/>
          </a:p>
        </p:txBody>
      </p:sp>
      <p:sp>
        <p:nvSpPr>
          <p:cNvPr id="3" name="Text 1"/>
          <p:cNvSpPr/>
          <p:nvPr/>
        </p:nvSpPr>
        <p:spPr>
          <a:xfrm>
            <a:off x="822960" y="566928"/>
            <a:ext cx="10561320" cy="566928"/>
          </a:xfrm>
          <a:prstGeom prst="rect">
            <a:avLst/>
          </a:prstGeom>
          <a:noFill/>
          <a:ln/>
        </p:spPr>
        <p:txBody>
          <a:bodyPr wrap="square" lIns="0" tIns="0" rIns="0" bIns="0" rtlCol="0" anchor="t"/>
          <a:lstStyle/>
          <a:p>
            <a:pPr algn="l" indent="0" marL="0">
              <a:buNone/>
            </a:pPr>
            <a:r>
              <a:rPr lang="en-US" sz="3000" b="1" dirty="0">
                <a:solidFill>
                  <a:srgbClr val="002452"/>
                </a:solidFill>
                <a:latin typeface="Calibri" pitchFamily="34" charset="0"/>
                <a:ea typeface="Calibri" pitchFamily="34" charset="-122"/>
                <a:cs typeface="Calibri" pitchFamily="34" charset="-120"/>
              </a:rPr>
              <a:t>Model membaca Rp 240.000 sebagai 240</a:t>
            </a:r>
            <a:endParaRPr lang="en-US" sz="3000" dirty="0"/>
          </a:p>
        </p:txBody>
      </p:sp>
      <p:sp>
        <p:nvSpPr>
          <p:cNvPr id="4" name="Shape 2"/>
          <p:cNvSpPr/>
          <p:nvPr/>
        </p:nvSpPr>
        <p:spPr>
          <a:xfrm>
            <a:off x="822960" y="1600200"/>
            <a:ext cx="5120640" cy="1234440"/>
          </a:xfrm>
          <a:prstGeom prst="rect">
            <a:avLst/>
          </a:prstGeom>
          <a:solidFill>
            <a:srgbClr val="F7F9FC"/>
          </a:solidFill>
          <a:ln w="9525">
            <a:solidFill>
              <a:srgbClr val="E3E8EF"/>
            </a:solidFill>
            <a:prstDash val="solid"/>
          </a:ln>
        </p:spPr>
      </p:sp>
      <p:sp>
        <p:nvSpPr>
          <p:cNvPr id="5" name="Text 3"/>
          <p:cNvSpPr/>
          <p:nvPr/>
        </p:nvSpPr>
        <p:spPr>
          <a:xfrm>
            <a:off x="1097280" y="1783080"/>
            <a:ext cx="4572000" cy="868680"/>
          </a:xfrm>
          <a:prstGeom prst="rect">
            <a:avLst/>
          </a:prstGeom>
          <a:noFill/>
          <a:ln/>
        </p:spPr>
        <p:txBody>
          <a:bodyPr wrap="square" lIns="0" tIns="0" rIns="0" bIns="0" rtlCol="0" anchor="t"/>
          <a:lstStyle/>
          <a:p>
            <a:pPr indent="0" marL="0">
              <a:lnSpc>
                <a:spcPts val="2600"/>
              </a:lnSpc>
              <a:buNone/>
            </a:pPr>
            <a:r>
              <a:rPr lang="en-US" sz="1400" dirty="0">
                <a:solidFill>
                  <a:srgbClr val="44474F"/>
                </a:solidFill>
                <a:latin typeface="Courier New" pitchFamily="34" charset="0"/>
                <a:ea typeface="Courier New" pitchFamily="34" charset="-122"/>
                <a:cs typeface="Courier New" pitchFamily="34" charset="-120"/>
              </a:rPr>
              <a:t>di dokumen   </a:t>
            </a:r>
            <a:pPr indent="0" marL="0">
              <a:lnSpc>
                <a:spcPts val="2600"/>
              </a:lnSpc>
              <a:buNone/>
            </a:pPr>
            <a:r>
              <a:rPr lang="en-US" sz="1400" b="1" dirty="0">
                <a:solidFill>
                  <a:srgbClr val="191C1E"/>
                </a:solidFill>
                <a:latin typeface="Courier New" pitchFamily="34" charset="0"/>
                <a:ea typeface="Courier New" pitchFamily="34" charset="-122"/>
                <a:cs typeface="Courier New" pitchFamily="34" charset="-120"/>
              </a:rPr>
              <a:t>Rp 240.000
</a:t>
            </a:r>
            <a:pPr indent="0" marL="0">
              <a:lnSpc>
                <a:spcPts val="2600"/>
              </a:lnSpc>
              <a:buNone/>
            </a:pPr>
            <a:r>
              <a:rPr lang="en-US" sz="1400" dirty="0">
                <a:solidFill>
                  <a:srgbClr val="44474F"/>
                </a:solidFill>
                <a:latin typeface="Courier New" pitchFamily="34" charset="0"/>
                <a:ea typeface="Courier New" pitchFamily="34" charset="-122"/>
                <a:cs typeface="Courier New" pitchFamily="34" charset="-120"/>
              </a:rPr>
              <a:t>keluar dari model   </a:t>
            </a:r>
            <a:pPr indent="0" marL="0">
              <a:lnSpc>
                <a:spcPts val="2600"/>
              </a:lnSpc>
              <a:buNone/>
            </a:pPr>
            <a:r>
              <a:rPr lang="en-US" sz="1400" b="1" dirty="0">
                <a:solidFill>
                  <a:srgbClr val="B91C1C"/>
                </a:solidFill>
                <a:latin typeface="Courier New" pitchFamily="34" charset="0"/>
                <a:ea typeface="Courier New" pitchFamily="34" charset="-122"/>
                <a:cs typeface="Courier New" pitchFamily="34" charset="-120"/>
              </a:rPr>
              <a:t>240.0</a:t>
            </a:r>
            <a:endParaRPr lang="en-US" sz="1400" dirty="0"/>
          </a:p>
        </p:txBody>
      </p:sp>
      <p:sp>
        <p:nvSpPr>
          <p:cNvPr id="6" name="Text 4"/>
          <p:cNvSpPr/>
          <p:nvPr/>
        </p:nvSpPr>
        <p:spPr>
          <a:xfrm>
            <a:off x="822960" y="3017520"/>
            <a:ext cx="5120640" cy="1371600"/>
          </a:xfrm>
          <a:prstGeom prst="rect">
            <a:avLst/>
          </a:prstGeom>
          <a:noFill/>
          <a:ln/>
        </p:spPr>
        <p:txBody>
          <a:bodyPr wrap="square" lIns="0" tIns="0" rIns="0" bIns="0" rtlCol="0" anchor="t"/>
          <a:lstStyle/>
          <a:p>
            <a:pPr indent="0" marL="0">
              <a:lnSpc>
                <a:spcPts val="2100"/>
              </a:lnSpc>
              <a:buNone/>
            </a:pPr>
            <a:r>
              <a:rPr lang="en-US" sz="1400" dirty="0">
                <a:solidFill>
                  <a:srgbClr val="191C1E"/>
                </a:solidFill>
                <a:latin typeface="Calibri" pitchFamily="34" charset="0"/>
                <a:ea typeface="Calibri" pitchFamily="34" charset="-122"/>
                <a:cs typeface="Calibri" pitchFamily="34" charset="-120"/>
              </a:rPr>
              <a:t>Titik dibaca sebagai pemisah desimal, bukan pemisah ribuan. Kesalahannya seribu kali lipat dan tidak selalu tertangkap validation, karena kalau semua angka salah dengan cara yang sama, subtotal plus pajak tetap sama dengan total.</a:t>
            </a:r>
            <a:endParaRPr lang="en-US" sz="1400" dirty="0"/>
          </a:p>
        </p:txBody>
      </p:sp>
      <p:sp>
        <p:nvSpPr>
          <p:cNvPr id="7" name="Text 5"/>
          <p:cNvSpPr/>
          <p:nvPr/>
        </p:nvSpPr>
        <p:spPr>
          <a:xfrm>
            <a:off x="6446520" y="1600200"/>
            <a:ext cx="4937760" cy="274320"/>
          </a:xfrm>
          <a:prstGeom prst="rect">
            <a:avLst/>
          </a:prstGeom>
          <a:noFill/>
          <a:ln/>
        </p:spPr>
        <p:txBody>
          <a:bodyPr wrap="square" lIns="0" tIns="0" rIns="0" bIns="0" rtlCol="0" anchor="ctr"/>
          <a:lstStyle/>
          <a:p>
            <a:pPr indent="0" marL="0">
              <a:buNone/>
            </a:pPr>
            <a:r>
              <a:rPr lang="en-US" sz="1300" b="1" dirty="0">
                <a:solidFill>
                  <a:srgbClr val="002452"/>
                </a:solidFill>
                <a:latin typeface="Calibri" pitchFamily="34" charset="0"/>
                <a:ea typeface="Calibri" pitchFamily="34" charset="-122"/>
                <a:cs typeface="Calibri" pitchFamily="34" charset="-120"/>
              </a:rPr>
              <a:t>Yang kami coba</a:t>
            </a:r>
            <a:endParaRPr lang="en-US" sz="1300" dirty="0"/>
          </a:p>
        </p:txBody>
      </p:sp>
      <p:sp>
        <p:nvSpPr>
          <p:cNvPr id="8" name="Shape 6"/>
          <p:cNvSpPr/>
          <p:nvPr/>
        </p:nvSpPr>
        <p:spPr>
          <a:xfrm>
            <a:off x="6473952" y="2039112"/>
            <a:ext cx="109728" cy="109728"/>
          </a:xfrm>
          <a:prstGeom prst="ellipse">
            <a:avLst/>
          </a:prstGeom>
          <a:solidFill>
            <a:srgbClr val="B91C1C"/>
          </a:solidFill>
          <a:ln w="3175">
            <a:solidFill>
              <a:srgbClr val="B91C1C"/>
            </a:solidFill>
            <a:prstDash val="solid"/>
          </a:ln>
        </p:spPr>
      </p:sp>
      <p:sp>
        <p:nvSpPr>
          <p:cNvPr id="9" name="Text 7"/>
          <p:cNvSpPr/>
          <p:nvPr/>
        </p:nvSpPr>
        <p:spPr>
          <a:xfrm>
            <a:off x="6748272" y="1965960"/>
            <a:ext cx="4617720" cy="274320"/>
          </a:xfrm>
          <a:prstGeom prst="rect">
            <a:avLst/>
          </a:prstGeom>
          <a:noFill/>
          <a:ln/>
        </p:spPr>
        <p:txBody>
          <a:bodyPr wrap="square" lIns="0" tIns="0" rIns="0" bIns="0" rtlCol="0" anchor="ctr"/>
          <a:lstStyle/>
          <a:p>
            <a:pPr indent="0" marL="0">
              <a:buNone/>
            </a:pPr>
            <a:r>
              <a:rPr lang="en-US" sz="1350" b="1" dirty="0">
                <a:solidFill>
                  <a:srgbClr val="191C1E"/>
                </a:solidFill>
                <a:latin typeface="Calibri" pitchFamily="34" charset="0"/>
                <a:ea typeface="Calibri" pitchFamily="34" charset="-122"/>
                <a:cs typeface="Calibri" pitchFamily="34" charset="-120"/>
              </a:rPr>
              <a:t>Regex post-processing</a:t>
            </a:r>
            <a:endParaRPr lang="en-US" sz="1350" dirty="0"/>
          </a:p>
        </p:txBody>
      </p:sp>
      <p:sp>
        <p:nvSpPr>
          <p:cNvPr id="10" name="Text 8"/>
          <p:cNvSpPr/>
          <p:nvPr/>
        </p:nvSpPr>
        <p:spPr>
          <a:xfrm>
            <a:off x="6748272" y="2258568"/>
            <a:ext cx="4617720" cy="822960"/>
          </a:xfrm>
          <a:prstGeom prst="rect">
            <a:avLst/>
          </a:prstGeom>
          <a:noFill/>
          <a:ln/>
        </p:spPr>
        <p:txBody>
          <a:bodyPr wrap="square" lIns="0" tIns="0" rIns="0" bIns="0" rtlCol="0" anchor="t"/>
          <a:lstStyle/>
          <a:p>
            <a:pPr indent="0" marL="0">
              <a:lnSpc>
                <a:spcPts val="1700"/>
              </a:lnSpc>
              <a:buNone/>
            </a:pPr>
            <a:r>
              <a:rPr lang="en-US" sz="1200" dirty="0">
                <a:solidFill>
                  <a:srgbClr val="44474F"/>
                </a:solidFill>
                <a:latin typeface="Calibri" pitchFamily="34" charset="0"/>
                <a:ea typeface="Calibri" pitchFamily="34" charset="-122"/>
                <a:cs typeface="Calibri" pitchFamily="34" charset="-120"/>
              </a:rPr>
              <a:t>Ditolak. Menebak-nebak niat penulis dokumen: 240.00 itu dua desimal atau ribuan yang terpotong? Menambal gejala, bukan penyebab.</a:t>
            </a:r>
            <a:endParaRPr lang="en-US" sz="1200" dirty="0"/>
          </a:p>
        </p:txBody>
      </p:sp>
      <p:sp>
        <p:nvSpPr>
          <p:cNvPr id="11" name="Shape 9"/>
          <p:cNvSpPr/>
          <p:nvPr/>
        </p:nvSpPr>
        <p:spPr>
          <a:xfrm>
            <a:off x="6473952" y="3246120"/>
            <a:ext cx="109728" cy="109728"/>
          </a:xfrm>
          <a:prstGeom prst="ellipse">
            <a:avLst/>
          </a:prstGeom>
          <a:solidFill>
            <a:srgbClr val="15803D"/>
          </a:solidFill>
          <a:ln w="3175">
            <a:solidFill>
              <a:srgbClr val="15803D"/>
            </a:solidFill>
            <a:prstDash val="solid"/>
          </a:ln>
        </p:spPr>
      </p:sp>
      <p:sp>
        <p:nvSpPr>
          <p:cNvPr id="12" name="Text 10"/>
          <p:cNvSpPr/>
          <p:nvPr/>
        </p:nvSpPr>
        <p:spPr>
          <a:xfrm>
            <a:off x="6748272" y="3172968"/>
            <a:ext cx="4617720" cy="274320"/>
          </a:xfrm>
          <a:prstGeom prst="rect">
            <a:avLst/>
          </a:prstGeom>
          <a:noFill/>
          <a:ln/>
        </p:spPr>
        <p:txBody>
          <a:bodyPr wrap="square" lIns="0" tIns="0" rIns="0" bIns="0" rtlCol="0" anchor="ctr"/>
          <a:lstStyle/>
          <a:p>
            <a:pPr indent="0" marL="0">
              <a:buNone/>
            </a:pPr>
            <a:r>
              <a:rPr lang="en-US" sz="1350" b="1" dirty="0">
                <a:solidFill>
                  <a:srgbClr val="191C1E"/>
                </a:solidFill>
                <a:latin typeface="Calibri" pitchFamily="34" charset="0"/>
                <a:ea typeface="Calibri" pitchFamily="34" charset="-122"/>
                <a:cs typeface="Calibri" pitchFamily="34" charset="-120"/>
              </a:rPr>
              <a:t>Prompt eksplisit + contoh nyata</a:t>
            </a:r>
            <a:endParaRPr lang="en-US" sz="1350" dirty="0"/>
          </a:p>
        </p:txBody>
      </p:sp>
      <p:sp>
        <p:nvSpPr>
          <p:cNvPr id="13" name="Text 11"/>
          <p:cNvSpPr/>
          <p:nvPr/>
        </p:nvSpPr>
        <p:spPr>
          <a:xfrm>
            <a:off x="6748272" y="3465576"/>
            <a:ext cx="4617720" cy="822960"/>
          </a:xfrm>
          <a:prstGeom prst="rect">
            <a:avLst/>
          </a:prstGeom>
          <a:noFill/>
          <a:ln/>
        </p:spPr>
        <p:txBody>
          <a:bodyPr wrap="square" lIns="0" tIns="0" rIns="0" bIns="0" rtlCol="0" anchor="t"/>
          <a:lstStyle/>
          <a:p>
            <a:pPr indent="0" marL="0">
              <a:lnSpc>
                <a:spcPts val="1700"/>
              </a:lnSpc>
              <a:buNone/>
            </a:pPr>
            <a:r>
              <a:rPr lang="en-US" sz="1200" dirty="0">
                <a:solidFill>
                  <a:srgbClr val="44474F"/>
                </a:solidFill>
                <a:latin typeface="Calibri" pitchFamily="34" charset="0"/>
                <a:ea typeface="Calibri" pitchFamily="34" charset="-122"/>
                <a:cs typeface="Calibri" pitchFamily="34" charset="-120"/>
              </a:rPr>
              <a:t>Berhasil. Prompt menyatakan bahwa titik adalah pemisah ribuan dalam format Indonesia, disertai contoh yang dikerjakan: Rp 240.000 → 240000. Model berhenti salah baca.</a:t>
            </a:r>
            <a:endParaRPr lang="en-US" sz="1200" dirty="0"/>
          </a:p>
        </p:txBody>
      </p:sp>
      <p:sp>
        <p:nvSpPr>
          <p:cNvPr id="14" name="Shape 12"/>
          <p:cNvSpPr/>
          <p:nvPr/>
        </p:nvSpPr>
        <p:spPr>
          <a:xfrm>
            <a:off x="6473952" y="4453128"/>
            <a:ext cx="109728" cy="109728"/>
          </a:xfrm>
          <a:prstGeom prst="ellipse">
            <a:avLst/>
          </a:prstGeom>
          <a:solidFill>
            <a:srgbClr val="15803D"/>
          </a:solidFill>
          <a:ln w="3175">
            <a:solidFill>
              <a:srgbClr val="15803D"/>
            </a:solidFill>
            <a:prstDash val="solid"/>
          </a:ln>
        </p:spPr>
      </p:sp>
      <p:sp>
        <p:nvSpPr>
          <p:cNvPr id="15" name="Text 13"/>
          <p:cNvSpPr/>
          <p:nvPr/>
        </p:nvSpPr>
        <p:spPr>
          <a:xfrm>
            <a:off x="6748272" y="4379976"/>
            <a:ext cx="4617720" cy="274320"/>
          </a:xfrm>
          <a:prstGeom prst="rect">
            <a:avLst/>
          </a:prstGeom>
          <a:noFill/>
          <a:ln/>
        </p:spPr>
        <p:txBody>
          <a:bodyPr wrap="square" lIns="0" tIns="0" rIns="0" bIns="0" rtlCol="0" anchor="ctr"/>
          <a:lstStyle/>
          <a:p>
            <a:pPr indent="0" marL="0">
              <a:buNone/>
            </a:pPr>
            <a:r>
              <a:rPr lang="en-US" sz="1350" b="1" dirty="0">
                <a:solidFill>
                  <a:srgbClr val="191C1E"/>
                </a:solidFill>
                <a:latin typeface="Calibri" pitchFamily="34" charset="0"/>
                <a:ea typeface="Calibri" pitchFamily="34" charset="-122"/>
                <a:cs typeface="Calibri" pitchFamily="34" charset="-120"/>
              </a:rPr>
              <a:t>Naikkan render ke zoom 3.0</a:t>
            </a:r>
            <a:endParaRPr lang="en-US" sz="1350" dirty="0"/>
          </a:p>
        </p:txBody>
      </p:sp>
      <p:sp>
        <p:nvSpPr>
          <p:cNvPr id="16" name="Text 14"/>
          <p:cNvSpPr/>
          <p:nvPr/>
        </p:nvSpPr>
        <p:spPr>
          <a:xfrm>
            <a:off x="6748272" y="4672584"/>
            <a:ext cx="4617720" cy="822960"/>
          </a:xfrm>
          <a:prstGeom prst="rect">
            <a:avLst/>
          </a:prstGeom>
          <a:noFill/>
          <a:ln/>
        </p:spPr>
        <p:txBody>
          <a:bodyPr wrap="square" lIns="0" tIns="0" rIns="0" bIns="0" rtlCol="0" anchor="t"/>
          <a:lstStyle/>
          <a:p>
            <a:pPr indent="0" marL="0">
              <a:lnSpc>
                <a:spcPts val="1700"/>
              </a:lnSpc>
              <a:buNone/>
            </a:pPr>
            <a:r>
              <a:rPr lang="en-US" sz="1200" dirty="0">
                <a:solidFill>
                  <a:srgbClr val="44474F"/>
                </a:solidFill>
                <a:latin typeface="Calibri" pitchFamily="34" charset="0"/>
                <a:ea typeface="Calibri" pitchFamily="34" charset="-122"/>
                <a:cs typeface="Calibri" pitchFamily="34" charset="-120"/>
              </a:rPr>
              <a:t>Berhasil. Pada resolusi lebih rendah, digit di dalam tabel padat memang tidak terbaca dengan benar — masalah piksel, bukan masalah prompt.</a:t>
            </a:r>
            <a:endParaRPr lang="en-US" sz="1200" dirty="0"/>
          </a:p>
        </p:txBody>
      </p:sp>
      <p:sp>
        <p:nvSpPr>
          <p:cNvPr id="17" name="Shape 15"/>
          <p:cNvSpPr/>
          <p:nvPr/>
        </p:nvSpPr>
        <p:spPr>
          <a:xfrm>
            <a:off x="822960" y="4892040"/>
            <a:ext cx="5120640" cy="0"/>
          </a:xfrm>
          <a:prstGeom prst="line">
            <a:avLst/>
          </a:prstGeom>
          <a:noFill/>
          <a:ln w="9525">
            <a:solidFill>
              <a:srgbClr val="E3E8EF"/>
            </a:solidFill>
            <a:prstDash val="solid"/>
          </a:ln>
        </p:spPr>
      </p:sp>
      <p:sp>
        <p:nvSpPr>
          <p:cNvPr id="18" name="Text 16"/>
          <p:cNvSpPr/>
          <p:nvPr/>
        </p:nvSpPr>
        <p:spPr>
          <a:xfrm>
            <a:off x="822960" y="5029200"/>
            <a:ext cx="5120640" cy="274320"/>
          </a:xfrm>
          <a:prstGeom prst="rect">
            <a:avLst/>
          </a:prstGeom>
          <a:noFill/>
          <a:ln/>
        </p:spPr>
        <p:txBody>
          <a:bodyPr wrap="square" lIns="0" tIns="0" rIns="0" bIns="0" rtlCol="0" anchor="ctr"/>
          <a:lstStyle/>
          <a:p>
            <a:pPr indent="0" marL="0">
              <a:buNone/>
            </a:pPr>
            <a:r>
              <a:rPr lang="en-US" sz="1300" b="1" dirty="0">
                <a:solidFill>
                  <a:srgbClr val="002452"/>
                </a:solidFill>
                <a:latin typeface="Calibri" pitchFamily="34" charset="0"/>
                <a:ea typeface="Calibri" pitchFamily="34" charset="-122"/>
                <a:cs typeface="Calibri" pitchFamily="34" charset="-120"/>
              </a:rPr>
              <a:t>Jejak model sebelum ini</a:t>
            </a:r>
            <a:endParaRPr lang="en-US" sz="1300" dirty="0"/>
          </a:p>
        </p:txBody>
      </p:sp>
      <p:sp>
        <p:nvSpPr>
          <p:cNvPr id="19" name="Text 17"/>
          <p:cNvSpPr/>
          <p:nvPr/>
        </p:nvSpPr>
        <p:spPr>
          <a:xfrm>
            <a:off x="822960" y="5340096"/>
            <a:ext cx="5120640" cy="1097280"/>
          </a:xfrm>
          <a:prstGeom prst="rect">
            <a:avLst/>
          </a:prstGeom>
          <a:noFill/>
          <a:ln/>
        </p:spPr>
        <p:txBody>
          <a:bodyPr wrap="square" lIns="0" tIns="0" rIns="0" bIns="0" rtlCol="0" anchor="t"/>
          <a:lstStyle/>
          <a:p>
            <a:pPr indent="0" marL="0">
              <a:lnSpc>
                <a:spcPts val="1600"/>
              </a:lnSpc>
              <a:buNone/>
            </a:pPr>
            <a:r>
              <a:rPr lang="en-US" sz="1150" dirty="0">
                <a:solidFill>
                  <a:srgbClr val="44474F"/>
                </a:solidFill>
                <a:latin typeface="Calibri" pitchFamily="34" charset="0"/>
                <a:ea typeface="Calibri" pitchFamily="34" charset="-122"/>
                <a:cs typeface="Calibri" pitchFamily="34" charset="-120"/>
              </a:rPr>
              <a:t>gemma4:e4b-mlx ternyata tidak punya vision. gemma4:e2b-qat punya, tapi salah baca angka Rupiah. qwen2.5vl:3b lewat Ollama lebih baik tapi belum stabil. Akhirnya qwen/qwen3-vl-4b di LM Studio, dimuat dengan konteks ~16k karena satu halaman yang diraster memakan 4–5k token.</a:t>
            </a:r>
            <a:endParaRPr lang="en-US" sz="1150" dirty="0"/>
          </a:p>
        </p:txBody>
      </p:sp>
      <p:sp>
        <p:nvSpPr>
          <p:cNvPr id="21" name="Text 18"/>
          <p:cNvSpPr/>
          <p:nvPr/>
        </p:nvSpPr>
        <p:spPr>
          <a:xfrm>
            <a:off x="11155680" y="6327648"/>
            <a:ext cx="54864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2452"/>
        </a:solidFill>
      </p:bgPr>
    </p:bg>
    <p:spTree>
      <p:nvGrpSpPr>
        <p:cNvPr id="1" name=""/>
        <p:cNvGrpSpPr/>
        <p:nvPr/>
      </p:nvGrpSpPr>
      <p:grpSpPr>
        <a:xfrm>
          <a:off x="0" y="0"/>
          <a:ext cx="0" cy="0"/>
          <a:chOff x="0" y="0"/>
          <a:chExt cx="0" cy="0"/>
        </a:xfrm>
      </p:grpSpPr>
      <p:sp>
        <p:nvSpPr>
          <p:cNvPr id="2" name="Text 0"/>
          <p:cNvSpPr/>
          <p:nvPr/>
        </p:nvSpPr>
        <p:spPr>
          <a:xfrm>
            <a:off x="822960" y="658368"/>
            <a:ext cx="10058400" cy="274320"/>
          </a:xfrm>
          <a:prstGeom prst="rect">
            <a:avLst/>
          </a:prstGeom>
          <a:noFill/>
          <a:ln/>
        </p:spPr>
        <p:txBody>
          <a:bodyPr wrap="square" lIns="0" tIns="0" rIns="0" bIns="0" rtlCol="0" anchor="ctr"/>
          <a:lstStyle/>
          <a:p>
            <a:pPr indent="0" marL="0">
              <a:buNone/>
            </a:pPr>
            <a:r>
              <a:rPr lang="en-US" sz="1100" b="1" spc="140" kern="0" dirty="0">
                <a:solidFill>
                  <a:srgbClr val="8FA6C6"/>
                </a:solidFill>
                <a:latin typeface="Calibri" pitchFamily="34" charset="0"/>
                <a:ea typeface="Calibri" pitchFamily="34" charset="-122"/>
                <a:cs typeface="Calibri" pitchFamily="34" charset="-120"/>
              </a:rPr>
              <a:t>ROADMAP</a:t>
            </a:r>
            <a:endParaRPr lang="en-US" sz="1100" dirty="0"/>
          </a:p>
        </p:txBody>
      </p:sp>
      <p:sp>
        <p:nvSpPr>
          <p:cNvPr id="3" name="Text 1"/>
          <p:cNvSpPr/>
          <p:nvPr/>
        </p:nvSpPr>
        <p:spPr>
          <a:xfrm>
            <a:off x="822960" y="960120"/>
            <a:ext cx="10058400" cy="5486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Yang dikerjakan berikutnya</a:t>
            </a:r>
            <a:endParaRPr lang="en-US" sz="3000" dirty="0"/>
          </a:p>
        </p:txBody>
      </p:sp>
      <p:sp>
        <p:nvSpPr>
          <p:cNvPr id="4" name="Text 2"/>
          <p:cNvSpPr/>
          <p:nvPr/>
        </p:nvSpPr>
        <p:spPr>
          <a:xfrm>
            <a:off x="822960" y="1965960"/>
            <a:ext cx="548640" cy="274320"/>
          </a:xfrm>
          <a:prstGeom prst="rect">
            <a:avLst/>
          </a:prstGeom>
          <a:noFill/>
          <a:ln/>
        </p:spPr>
        <p:txBody>
          <a:bodyPr wrap="square" lIns="0" tIns="0" rIns="0" bIns="0" rtlCol="0" anchor="ctr"/>
          <a:lstStyle/>
          <a:p>
            <a:pPr indent="0" marL="0">
              <a:buNone/>
            </a:pPr>
            <a:r>
              <a:rPr lang="en-US" sz="1300" dirty="0">
                <a:solidFill>
                  <a:srgbClr val="5C7BAA"/>
                </a:solidFill>
                <a:latin typeface="Courier New" pitchFamily="34" charset="0"/>
                <a:ea typeface="Courier New" pitchFamily="34" charset="-122"/>
                <a:cs typeface="Courier New" pitchFamily="34" charset="-120"/>
              </a:rPr>
              <a:t>01</a:t>
            </a:r>
            <a:endParaRPr lang="en-US" sz="1300" dirty="0"/>
          </a:p>
        </p:txBody>
      </p:sp>
      <p:sp>
        <p:nvSpPr>
          <p:cNvPr id="5" name="Text 3"/>
          <p:cNvSpPr/>
          <p:nvPr/>
        </p:nvSpPr>
        <p:spPr>
          <a:xfrm>
            <a:off x="1463040" y="1965960"/>
            <a:ext cx="42062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Evaluasi held-out</a:t>
            </a:r>
            <a:endParaRPr lang="en-US" sz="1500" dirty="0"/>
          </a:p>
        </p:txBody>
      </p:sp>
      <p:sp>
        <p:nvSpPr>
          <p:cNvPr id="6" name="Text 4"/>
          <p:cNvSpPr/>
          <p:nvPr/>
        </p:nvSpPr>
        <p:spPr>
          <a:xfrm>
            <a:off x="6035040" y="1929384"/>
            <a:ext cx="5349240" cy="777240"/>
          </a:xfrm>
          <a:prstGeom prst="rect">
            <a:avLst/>
          </a:prstGeom>
          <a:noFill/>
          <a:ln/>
        </p:spPr>
        <p:txBody>
          <a:bodyPr wrap="square" lIns="0" tIns="0" rIns="0" bIns="0" rtlCol="0" anchor="t"/>
          <a:lstStyle/>
          <a:p>
            <a:pPr indent="0" marL="0">
              <a:lnSpc>
                <a:spcPts val="1800"/>
              </a:lnSpc>
              <a:buNone/>
            </a:pPr>
            <a:r>
              <a:rPr lang="en-US" sz="1250" dirty="0">
                <a:solidFill>
                  <a:srgbClr val="9FB4D4"/>
                </a:solidFill>
                <a:latin typeface="Calibri" pitchFamily="34" charset="0"/>
                <a:ea typeface="Calibri" pitchFamily="34" charset="-122"/>
                <a:cs typeface="Calibri" pitchFamily="34" charset="-120"/>
              </a:rPr>
              <a:t>100–200 dokumen baru yang belum pernah menyentuh prompt. Angka dari sini yang menggantikan needs_review_fraction 20% di business case.</a:t>
            </a:r>
            <a:endParaRPr lang="en-US" sz="1250" dirty="0"/>
          </a:p>
        </p:txBody>
      </p:sp>
      <p:sp>
        <p:nvSpPr>
          <p:cNvPr id="7" name="Text 5"/>
          <p:cNvSpPr/>
          <p:nvPr/>
        </p:nvSpPr>
        <p:spPr>
          <a:xfrm>
            <a:off x="822960" y="2898648"/>
            <a:ext cx="548640" cy="274320"/>
          </a:xfrm>
          <a:prstGeom prst="rect">
            <a:avLst/>
          </a:prstGeom>
          <a:noFill/>
          <a:ln/>
        </p:spPr>
        <p:txBody>
          <a:bodyPr wrap="square" lIns="0" tIns="0" rIns="0" bIns="0" rtlCol="0" anchor="ctr"/>
          <a:lstStyle/>
          <a:p>
            <a:pPr indent="0" marL="0">
              <a:buNone/>
            </a:pPr>
            <a:r>
              <a:rPr lang="en-US" sz="1300" dirty="0">
                <a:solidFill>
                  <a:srgbClr val="5C7BAA"/>
                </a:solidFill>
                <a:latin typeface="Courier New" pitchFamily="34" charset="0"/>
                <a:ea typeface="Courier New" pitchFamily="34" charset="-122"/>
                <a:cs typeface="Courier New" pitchFamily="34" charset="-120"/>
              </a:rPr>
              <a:t>02</a:t>
            </a:r>
            <a:endParaRPr lang="en-US" sz="1300" dirty="0"/>
          </a:p>
        </p:txBody>
      </p:sp>
      <p:sp>
        <p:nvSpPr>
          <p:cNvPr id="8" name="Text 6"/>
          <p:cNvSpPr/>
          <p:nvPr/>
        </p:nvSpPr>
        <p:spPr>
          <a:xfrm>
            <a:off x="1463040" y="2898648"/>
            <a:ext cx="42062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Autentikasi sungguhan</a:t>
            </a:r>
            <a:endParaRPr lang="en-US" sz="1500" dirty="0"/>
          </a:p>
        </p:txBody>
      </p:sp>
      <p:sp>
        <p:nvSpPr>
          <p:cNvPr id="9" name="Text 7"/>
          <p:cNvSpPr/>
          <p:nvPr/>
        </p:nvSpPr>
        <p:spPr>
          <a:xfrm>
            <a:off x="6035040" y="2862072"/>
            <a:ext cx="5349240" cy="777240"/>
          </a:xfrm>
          <a:prstGeom prst="rect">
            <a:avLst/>
          </a:prstGeom>
          <a:noFill/>
          <a:ln/>
        </p:spPr>
        <p:txBody>
          <a:bodyPr wrap="square" lIns="0" tIns="0" rIns="0" bIns="0" rtlCol="0" anchor="t"/>
          <a:lstStyle/>
          <a:p>
            <a:pPr indent="0" marL="0">
              <a:lnSpc>
                <a:spcPts val="1800"/>
              </a:lnSpc>
              <a:buNone/>
            </a:pPr>
            <a:r>
              <a:rPr lang="en-US" sz="1250" dirty="0">
                <a:solidFill>
                  <a:srgbClr val="9FB4D4"/>
                </a:solidFill>
                <a:latin typeface="Calibri" pitchFamily="34" charset="0"/>
                <a:ea typeface="Calibri" pitchFamily="34" charset="-122"/>
                <a:cs typeface="Calibri" pitchFamily="34" charset="-120"/>
              </a:rPr>
              <a:t>Mengganti role switcher demo dengan login berbasis sesi, plus manajemen user di admin.</a:t>
            </a:r>
            <a:endParaRPr lang="en-US" sz="1250" dirty="0"/>
          </a:p>
        </p:txBody>
      </p:sp>
      <p:sp>
        <p:nvSpPr>
          <p:cNvPr id="10" name="Text 8"/>
          <p:cNvSpPr/>
          <p:nvPr/>
        </p:nvSpPr>
        <p:spPr>
          <a:xfrm>
            <a:off x="822960" y="3831336"/>
            <a:ext cx="548640" cy="274320"/>
          </a:xfrm>
          <a:prstGeom prst="rect">
            <a:avLst/>
          </a:prstGeom>
          <a:noFill/>
          <a:ln/>
        </p:spPr>
        <p:txBody>
          <a:bodyPr wrap="square" lIns="0" tIns="0" rIns="0" bIns="0" rtlCol="0" anchor="ctr"/>
          <a:lstStyle/>
          <a:p>
            <a:pPr indent="0" marL="0">
              <a:buNone/>
            </a:pPr>
            <a:r>
              <a:rPr lang="en-US" sz="1300" dirty="0">
                <a:solidFill>
                  <a:srgbClr val="5C7BAA"/>
                </a:solidFill>
                <a:latin typeface="Courier New" pitchFamily="34" charset="0"/>
                <a:ea typeface="Courier New" pitchFamily="34" charset="-122"/>
                <a:cs typeface="Courier New" pitchFamily="34" charset="-120"/>
              </a:rPr>
              <a:t>03</a:t>
            </a:r>
            <a:endParaRPr lang="en-US" sz="1300" dirty="0"/>
          </a:p>
        </p:txBody>
      </p:sp>
      <p:sp>
        <p:nvSpPr>
          <p:cNvPr id="11" name="Text 9"/>
          <p:cNvSpPr/>
          <p:nvPr/>
        </p:nvSpPr>
        <p:spPr>
          <a:xfrm>
            <a:off x="1463040" y="3831336"/>
            <a:ext cx="42062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Confidence dari logprobs</a:t>
            </a:r>
            <a:endParaRPr lang="en-US" sz="1500" dirty="0"/>
          </a:p>
        </p:txBody>
      </p:sp>
      <p:sp>
        <p:nvSpPr>
          <p:cNvPr id="12" name="Text 10"/>
          <p:cNvSpPr/>
          <p:nvPr/>
        </p:nvSpPr>
        <p:spPr>
          <a:xfrm>
            <a:off x="6035040" y="3794760"/>
            <a:ext cx="5349240" cy="777240"/>
          </a:xfrm>
          <a:prstGeom prst="rect">
            <a:avLst/>
          </a:prstGeom>
          <a:noFill/>
          <a:ln/>
        </p:spPr>
        <p:txBody>
          <a:bodyPr wrap="square" lIns="0" tIns="0" rIns="0" bIns="0" rtlCol="0" anchor="t"/>
          <a:lstStyle/>
          <a:p>
            <a:pPr indent="0" marL="0">
              <a:lnSpc>
                <a:spcPts val="1800"/>
              </a:lnSpc>
              <a:buNone/>
            </a:pPr>
            <a:r>
              <a:rPr lang="en-US" sz="1250" dirty="0">
                <a:solidFill>
                  <a:srgbClr val="9FB4D4"/>
                </a:solidFill>
                <a:latin typeface="Calibri" pitchFamily="34" charset="0"/>
                <a:ea typeface="Calibri" pitchFamily="34" charset="-122"/>
                <a:cs typeface="Calibri" pitchFamily="34" charset="-120"/>
              </a:rPr>
              <a:t>Sekarang confidence turun berdasarkan field kosong. Logprobs per token akan memberi sinyal ketidakpastian yang sebenarnya.</a:t>
            </a:r>
            <a:endParaRPr lang="en-US" sz="1250" dirty="0"/>
          </a:p>
        </p:txBody>
      </p:sp>
      <p:sp>
        <p:nvSpPr>
          <p:cNvPr id="13" name="Text 11"/>
          <p:cNvSpPr/>
          <p:nvPr/>
        </p:nvSpPr>
        <p:spPr>
          <a:xfrm>
            <a:off x="822960" y="4764024"/>
            <a:ext cx="548640" cy="274320"/>
          </a:xfrm>
          <a:prstGeom prst="rect">
            <a:avLst/>
          </a:prstGeom>
          <a:noFill/>
          <a:ln/>
        </p:spPr>
        <p:txBody>
          <a:bodyPr wrap="square" lIns="0" tIns="0" rIns="0" bIns="0" rtlCol="0" anchor="ctr"/>
          <a:lstStyle/>
          <a:p>
            <a:pPr indent="0" marL="0">
              <a:buNone/>
            </a:pPr>
            <a:r>
              <a:rPr lang="en-US" sz="1300" dirty="0">
                <a:solidFill>
                  <a:srgbClr val="5C7BAA"/>
                </a:solidFill>
                <a:latin typeface="Courier New" pitchFamily="34" charset="0"/>
                <a:ea typeface="Courier New" pitchFamily="34" charset="-122"/>
                <a:cs typeface="Courier New" pitchFamily="34" charset="-120"/>
              </a:rPr>
              <a:t>04</a:t>
            </a:r>
            <a:endParaRPr lang="en-US" sz="1300" dirty="0"/>
          </a:p>
        </p:txBody>
      </p:sp>
      <p:sp>
        <p:nvSpPr>
          <p:cNvPr id="14" name="Text 12"/>
          <p:cNvSpPr/>
          <p:nvPr/>
        </p:nvSpPr>
        <p:spPr>
          <a:xfrm>
            <a:off x="1463040" y="4764024"/>
            <a:ext cx="42062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Rules yang bisa dikonfigurasi</a:t>
            </a:r>
            <a:endParaRPr lang="en-US" sz="1500" dirty="0"/>
          </a:p>
        </p:txBody>
      </p:sp>
      <p:sp>
        <p:nvSpPr>
          <p:cNvPr id="15" name="Text 13"/>
          <p:cNvSpPr/>
          <p:nvPr/>
        </p:nvSpPr>
        <p:spPr>
          <a:xfrm>
            <a:off x="6035040" y="4727448"/>
            <a:ext cx="5349240" cy="777240"/>
          </a:xfrm>
          <a:prstGeom prst="rect">
            <a:avLst/>
          </a:prstGeom>
          <a:noFill/>
          <a:ln/>
        </p:spPr>
        <p:txBody>
          <a:bodyPr wrap="square" lIns="0" tIns="0" rIns="0" bIns="0" rtlCol="0" anchor="t"/>
          <a:lstStyle/>
          <a:p>
            <a:pPr indent="0" marL="0">
              <a:lnSpc>
                <a:spcPts val="1800"/>
              </a:lnSpc>
              <a:buNone/>
            </a:pPr>
            <a:r>
              <a:rPr lang="en-US" sz="1250" dirty="0">
                <a:solidFill>
                  <a:srgbClr val="9FB4D4"/>
                </a:solidFill>
                <a:latin typeface="Calibri" pitchFamily="34" charset="0"/>
                <a:ea typeface="Calibri" pitchFamily="34" charset="-122"/>
                <a:cs typeface="Calibri" pitchFamily="34" charset="-120"/>
              </a:rPr>
              <a:t>Admin mengubah ambang PPN dan toleransi pembulatan tanpa deploy ulang.</a:t>
            </a:r>
            <a:endParaRPr lang="en-US" sz="1250" dirty="0"/>
          </a:p>
        </p:txBody>
      </p:sp>
      <p:sp>
        <p:nvSpPr>
          <p:cNvPr id="16" name="Shape 14"/>
          <p:cNvSpPr/>
          <p:nvPr/>
        </p:nvSpPr>
        <p:spPr>
          <a:xfrm>
            <a:off x="822960" y="5623560"/>
            <a:ext cx="10561320" cy="0"/>
          </a:xfrm>
          <a:prstGeom prst="line">
            <a:avLst/>
          </a:prstGeom>
          <a:noFill/>
          <a:ln w="12700">
            <a:solidFill>
              <a:srgbClr val="1B3A6B"/>
            </a:solidFill>
            <a:prstDash val="solid"/>
          </a:ln>
        </p:spPr>
      </p:sp>
      <p:sp>
        <p:nvSpPr>
          <p:cNvPr id="17" name="Text 15"/>
          <p:cNvSpPr/>
          <p:nvPr/>
        </p:nvSpPr>
        <p:spPr>
          <a:xfrm>
            <a:off x="822960" y="5806440"/>
            <a:ext cx="10241280" cy="5486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Enam deliverable selesai. Pipeline jalan penuh di satu MacBook, dan dokumen tidak pernah keluar dari mesin itu.</a:t>
            </a:r>
            <a:endParaRPr lang="en-US" sz="1500" dirty="0"/>
          </a:p>
        </p:txBody>
      </p:sp>
      <p:sp>
        <p:nvSpPr>
          <p:cNvPr id="19" name="Text 16"/>
          <p:cNvSpPr/>
          <p:nvPr/>
        </p:nvSpPr>
        <p:spPr>
          <a:xfrm>
            <a:off x="11155680" y="6327648"/>
            <a:ext cx="54864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DocExtract — Intelligent Document Processing</dc:title>
  <dc:subject>PptxGenJS Presentation</dc:subject>
  <dc:creator>Tim DocExtract</dc:creator>
  <cp:lastModifiedBy>Tim DocExtract</cp:lastModifiedBy>
  <cp:revision>1</cp:revision>
  <dcterms:created xsi:type="dcterms:W3CDTF">2026-07-26T18:16:28Z</dcterms:created>
  <dcterms:modified xsi:type="dcterms:W3CDTF">2026-07-26T18:16:28Z</dcterms:modified>
</cp:coreProperties>
</file>