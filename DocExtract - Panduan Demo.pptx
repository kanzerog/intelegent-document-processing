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Berkas ini tidak dibacakan. Isinya urutan yang harus dijalankan presenter sambil berbicara. Kalau demo dijalankan berdua, satu orang memegang mouse dan satu orang berbicara, dan yang memegang mouse yang membuka berkas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Kerjakan checklist ini paling lambat sepuluh menit sebelum jadwal, bukan satu menit sebelum. Yang paling sering gagal adalah dua hal: model kelihatan terpasang di LM Studio padahal belum dimuat, dan backend jalan tapi tidak bisa menjangkau LM Studio karena alamatnya berubah. Cek dua duanya dengan curl, jangan cuma melihat layar. Kotak di kiri sengaja kosong supaya bisa dicentang pakai pensil kalau slide ini dicetak.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penguji bertanya soal password yang gampang ditebak, jawab jujur dan singkat: ini akun peragaan yang sengaja dibuat mudah supaya siapa pun bisa mencoba, bukan akun produksi. Jangan bertele tele soal keamanan di sini. Alihkan ke pemisahan peran, karena di situ kekuatannya.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Aturan paling penting di halaman ini: jangan pernah diam saat menunggu ekstraksi. Jeda tiga puluh detik tanpa suara terasa seperti tiga menit bagi penguji. Kalimat di baris Ucapkan tidak perlu dihafal kata per kata, tapi pastikan isinya tersampaikan. Kalau ekstraksi lebih lama dari satu menit, jangan tunggu sampai selesai. Bilang bahwa mesin ini fanless dan sedang menjalankan model penuh, lalu pindah ke dokumen yang sudah tersimpan seperti di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5 adalah bagian yang paling mengesankan penguji, jadi pelan pelan di situ. Perpindahan akun harus mulus, jadi latih dua kali sebelum hari H. Kalau ada yang bertanya apakah tombol approve itu cuma disembunyikan dengan CSS, tawarkan untuk membuka Audit Log sebagai finance dan tunjukkan halaman No access. Itu bukti bahwa penolakannya di server. Setelah export selesai dan berkas PDF terbuka, berhenti. Jangan tergoda menunjukkan Assistant atau Settings kecuali diminta.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sengaja dibiarkan kosong karena nama berkas demo belum ditentukan. Isi sebelum latihan pertama, jangan menunggu hari H. Aturan yang tidak boleh dilanggar: dokumen yang dipakai demo harus sudah pernah dijalankan sekali sebelumnya dan hasilnya sudah diperiksa. Jangan pernah mengunggah dokumen yang belum pernah dilihat di depan penguji. Dokumen cadangan itu bukan berkas, tapi dokumen yang sudah tersimpan di database. Catat Doc ID nya supaya bisa langsung dicari lewat kolom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Yang menentukan bukan apakah demo berjalan mulus, tapi apakah presenter kelihatan panik atau tidak. Kalau pindah rencana dilakukan dengan tenang dan tanpa minta maaf berlebihan, penguji biasanya tidak menganggapnya masalah. Jangan pernah bilang aduh kenapa ya, atau tadi bisa kok. Kalimat itu memindahkan perhatian ke kegagalan. Cukup lanjut. Rekaman layar harus sudah jadi sebelum hari H. Merekam pada malam sebelumnya sudah terlambat kalau ternyata ada yang perlu diulang.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Jawaban di slide ini panjangnya sengaja dibatasi dua kalimat. Kalau penguji mau lebih dalam, dia akan bertanya lagi, dan saat itu baru diperluas. Untuk pertanyaan soal akurasi, jangan bertahan. Akui batasnya duluan. Presenter yang menyebut sendiri kelemahan datanya hampir selalu dinilai lebih tinggi daripada yang membelanya. Kalau ada pertanyaan di luar daftar ini dan jawabannya tidak diketahui, bilang belum diuji dan tawarkan untuk mengeceknya. Jangan mengarang angka.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452"/>
        </a:solidFill>
      </p:bgPr>
    </p:bg>
    <p:spTree>
      <p:nvGrpSpPr>
        <p:cNvPr id="1" name=""/>
        <p:cNvGrpSpPr/>
        <p:nvPr/>
      </p:nvGrpSpPr>
      <p:grpSpPr>
        <a:xfrm>
          <a:off x="0" y="0"/>
          <a:ext cx="0" cy="0"/>
          <a:chOff x="0" y="0"/>
          <a:chExt cx="0" cy="0"/>
        </a:xfrm>
      </p:grpSpPr>
      <p:sp>
        <p:nvSpPr>
          <p:cNvPr id="2" name="Text 0"/>
          <p:cNvSpPr/>
          <p:nvPr/>
        </p:nvSpPr>
        <p:spPr>
          <a:xfrm>
            <a:off x="777240" y="1920240"/>
            <a:ext cx="10607040" cy="822960"/>
          </a:xfrm>
          <a:prstGeom prst="rect">
            <a:avLst/>
          </a:prstGeom>
          <a:noFill/>
          <a:ln/>
        </p:spPr>
        <p:txBody>
          <a:bodyPr wrap="square" lIns="0" tIns="0" rIns="0" bIns="0"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Panduan demo</a:t>
            </a:r>
            <a:endParaRPr lang="en-US" sz="4600" dirty="0"/>
          </a:p>
        </p:txBody>
      </p:sp>
      <p:sp>
        <p:nvSpPr>
          <p:cNvPr id="3" name="Text 1"/>
          <p:cNvSpPr/>
          <p:nvPr/>
        </p:nvSpPr>
        <p:spPr>
          <a:xfrm>
            <a:off x="777240" y="2788920"/>
            <a:ext cx="8686800" cy="411480"/>
          </a:xfrm>
          <a:prstGeom prst="rect">
            <a:avLst/>
          </a:prstGeom>
          <a:noFill/>
          <a:ln/>
        </p:spPr>
        <p:txBody>
          <a:bodyPr wrap="square" lIns="0" tIns="0" rIns="0" bIns="0" rtlCol="0" anchor="ctr"/>
          <a:lstStyle/>
          <a:p>
            <a:pPr algn="l" indent="0" marL="0">
              <a:buNone/>
            </a:pPr>
            <a:r>
              <a:rPr lang="en-US" sz="1700" dirty="0">
                <a:solidFill>
                  <a:srgbClr val="C3D3EA"/>
                </a:solidFill>
                <a:latin typeface="Calibri" pitchFamily="34" charset="0"/>
                <a:ea typeface="Calibri" pitchFamily="34" charset="-122"/>
                <a:cs typeface="Calibri" pitchFamily="34" charset="-120"/>
              </a:rPr>
              <a:t>Pegangan presenter DocExtract. Bukan untuk ditampilkan ke penguji.</a:t>
            </a:r>
            <a:endParaRPr lang="en-US" sz="1700" dirty="0"/>
          </a:p>
        </p:txBody>
      </p:sp>
      <p:sp>
        <p:nvSpPr>
          <p:cNvPr id="4" name="Text 2"/>
          <p:cNvSpPr/>
          <p:nvPr/>
        </p:nvSpPr>
        <p:spPr>
          <a:xfrm>
            <a:off x="777240" y="3429000"/>
            <a:ext cx="7863840" cy="640080"/>
          </a:xfrm>
          <a:prstGeom prst="rect">
            <a:avLst/>
          </a:prstGeom>
          <a:noFill/>
          <a:ln/>
        </p:spPr>
        <p:txBody>
          <a:bodyPr wrap="square" lIns="0" tIns="0" rIns="0" bIns="0" rtlCol="0" anchor="t"/>
          <a:lstStyle/>
          <a:p>
            <a:pPr algn="l" indent="0" marL="0">
              <a:buNone/>
            </a:pPr>
            <a:r>
              <a:rPr lang="en-US" sz="1250" dirty="0">
                <a:solidFill>
                  <a:srgbClr val="9FB4D2"/>
                </a:solidFill>
                <a:latin typeface="Calibri" pitchFamily="34" charset="0"/>
                <a:ea typeface="Calibri" pitchFamily="34" charset="-122"/>
                <a:cs typeface="Calibri" pitchFamily="34" charset="-120"/>
              </a:rPr>
              <a:t>Buka berkas ini di layar kedua, di ponsel, atau cetak. Kalau cuma ada satu layar, hafalkan slide 4 dan 5 dan biarkan berkas ini tertutup.</a:t>
            </a:r>
            <a:endParaRPr lang="en-US" sz="1250" dirty="0"/>
          </a:p>
        </p:txBody>
      </p:sp>
      <p:sp>
        <p:nvSpPr>
          <p:cNvPr id="5" name="Text 3"/>
          <p:cNvSpPr/>
          <p:nvPr/>
        </p:nvSpPr>
        <p:spPr>
          <a:xfrm>
            <a:off x="777240" y="5120640"/>
            <a:ext cx="86868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Total waktu demo: sekitar 8 menit. Kalau waktunya dipotong, buang langkah 3 dan langkah 7.</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10607040" cy="502920"/>
          </a:xfrm>
          <a:prstGeom prst="rect">
            <a:avLst/>
          </a:prstGeom>
          <a:noFill/>
          <a:ln/>
        </p:spPr>
        <p:txBody>
          <a:bodyPr wrap="square" lIns="0" tIns="0" rIns="0" bIns="0" rtlCol="0" anchor="ctr"/>
          <a:lstStyle/>
          <a:p>
            <a:pPr algn="l" indent="0" marL="0">
              <a:buNone/>
            </a:pPr>
            <a:r>
              <a:rPr lang="en-US" sz="3000" b="1" dirty="0">
                <a:solidFill>
                  <a:srgbClr val="002452"/>
                </a:solidFill>
                <a:latin typeface="Calibri" pitchFamily="34" charset="0"/>
                <a:ea typeface="Calibri" pitchFamily="34" charset="-122"/>
                <a:cs typeface="Calibri" pitchFamily="34" charset="-120"/>
              </a:rPr>
              <a:t>Checklist sebelum demo</a:t>
            </a:r>
            <a:endParaRPr lang="en-US" sz="3000" dirty="0"/>
          </a:p>
        </p:txBody>
      </p:sp>
      <p:sp>
        <p:nvSpPr>
          <p:cNvPr id="3" name="Text 1"/>
          <p:cNvSpPr/>
          <p:nvPr/>
        </p:nvSpPr>
        <p:spPr>
          <a:xfrm>
            <a:off x="777240" y="969264"/>
            <a:ext cx="10607040" cy="310896"/>
          </a:xfrm>
          <a:prstGeom prst="rect">
            <a:avLst/>
          </a:prstGeom>
          <a:noFill/>
          <a:ln/>
        </p:spPr>
        <p:txBody>
          <a:bodyPr wrap="square" lIns="0" tIns="0" rIns="0" bIns="0" rtlCol="0" anchor="ctr"/>
          <a:lstStyle/>
          <a:p>
            <a:pPr algn="l" indent="0" marL="0">
              <a:buNone/>
            </a:pPr>
            <a:r>
              <a:rPr lang="en-US" sz="1350" dirty="0">
                <a:solidFill>
                  <a:srgbClr val="44474F"/>
                </a:solidFill>
                <a:latin typeface="Calibri" pitchFamily="34" charset="0"/>
                <a:ea typeface="Calibri" pitchFamily="34" charset="-122"/>
                <a:cs typeface="Calibri" pitchFamily="34" charset="-120"/>
              </a:rPr>
              <a:t>Kerjakan semuanya sebelum masuk ruangan, bukan saat sudah di depan</a:t>
            </a:r>
            <a:endParaRPr lang="en-US" sz="1350" dirty="0"/>
          </a:p>
        </p:txBody>
      </p:sp>
      <p:sp>
        <p:nvSpPr>
          <p:cNvPr id="4" name="Shape 2"/>
          <p:cNvSpPr/>
          <p:nvPr/>
        </p:nvSpPr>
        <p:spPr>
          <a:xfrm>
            <a:off x="777240" y="1837944"/>
            <a:ext cx="384048" cy="237744"/>
          </a:xfrm>
          <a:prstGeom prst="roundRect">
            <a:avLst>
              <a:gd name="adj" fmla="val 23077"/>
            </a:avLst>
          </a:prstGeom>
          <a:solidFill>
            <a:srgbClr val="FFFFFF"/>
          </a:solidFill>
          <a:ln w="12700">
            <a:solidFill>
              <a:srgbClr val="44474F"/>
            </a:solidFill>
            <a:prstDash val="solid"/>
          </a:ln>
        </p:spPr>
        <p:txBody>
          <a:bodyPr/>
          <a:p/>
        </p:txBody>
      </p:sp>
      <p:sp>
        <p:nvSpPr>
          <p:cNvPr id="5" name="Text 3"/>
          <p:cNvSpPr/>
          <p:nvPr/>
        </p:nvSpPr>
        <p:spPr>
          <a:xfrm>
            <a:off x="777240" y="1837944"/>
            <a:ext cx="384048" cy="237744"/>
          </a:xfrm>
          <a:prstGeom prst="rect">
            <a:avLst/>
          </a:prstGeom>
          <a:noFill/>
          <a:ln/>
        </p:spPr>
        <p:txBody>
          <a:bodyPr wrap="square" lIns="0" tIns="0" rIns="0" bIns="0" rtlCol="0" anchor="ctr"/>
          <a:lstStyle/>
          <a:p>
            <a:pPr algn="ctr" indent="0" marL="0">
              <a:buNone/>
            </a:pPr>
            <a:endParaRPr lang="en-US" sz="900" dirty="0"/>
          </a:p>
        </p:txBody>
      </p:sp>
      <p:sp>
        <p:nvSpPr>
          <p:cNvPr id="6" name="Text 4"/>
          <p:cNvSpPr/>
          <p:nvPr/>
        </p:nvSpPr>
        <p:spPr>
          <a:xfrm>
            <a:off x="1344168" y="1783080"/>
            <a:ext cx="3108960" cy="310896"/>
          </a:xfrm>
          <a:prstGeom prst="rect">
            <a:avLst/>
          </a:prstGeom>
          <a:noFill/>
          <a:ln/>
        </p:spPr>
        <p:txBody>
          <a:bodyPr wrap="square" lIns="0" tIns="0" rIns="0" bIns="0" rtlCol="0" anchor="ctr"/>
          <a:lstStyle/>
          <a:p>
            <a:pPr algn="l" indent="0" marL="0">
              <a:buNone/>
            </a:pPr>
            <a:r>
              <a:rPr lang="en-US" sz="1350" b="1" dirty="0">
                <a:solidFill>
                  <a:srgbClr val="002452"/>
                </a:solidFill>
                <a:latin typeface="Calibri" pitchFamily="34" charset="0"/>
                <a:ea typeface="Calibri" pitchFamily="34" charset="-122"/>
                <a:cs typeface="Calibri" pitchFamily="34" charset="-120"/>
              </a:rPr>
              <a:t>LM Studio menyala</a:t>
            </a:r>
            <a:endParaRPr lang="en-US" sz="1350" dirty="0"/>
          </a:p>
        </p:txBody>
      </p:sp>
      <p:sp>
        <p:nvSpPr>
          <p:cNvPr id="7" name="Text 5"/>
          <p:cNvSpPr/>
          <p:nvPr/>
        </p:nvSpPr>
        <p:spPr>
          <a:xfrm>
            <a:off x="4526280" y="1783080"/>
            <a:ext cx="6858000" cy="310896"/>
          </a:xfrm>
          <a:prstGeom prst="rect">
            <a:avLst/>
          </a:prstGeom>
          <a:noFill/>
          <a:ln/>
        </p:spPr>
        <p:txBody>
          <a:bodyPr wrap="square" lIns="0" tIns="0" rIns="0" bIns="0" rtlCol="0" anchor="ctr"/>
          <a:lstStyle/>
          <a:p>
            <a:pPr algn="l" indent="0" marL="0">
              <a:buNone/>
            </a:pPr>
            <a:r>
              <a:rPr lang="en-US" sz="1150" dirty="0">
                <a:solidFill>
                  <a:srgbClr val="44474F"/>
                </a:solidFill>
                <a:latin typeface="Calibri" pitchFamily="34" charset="0"/>
                <a:ea typeface="Calibri" pitchFamily="34" charset="-122"/>
                <a:cs typeface="Calibri" pitchFamily="34" charset="-120"/>
              </a:rPr>
              <a:t>Model qwen/qwen3-vl-4b sudah termuat, bukan cuma terpasang. Konteks diatur sekitar 16k saat memuat model.</a:t>
            </a:r>
            <a:endParaRPr lang="en-US" sz="1150" dirty="0"/>
          </a:p>
        </p:txBody>
      </p:sp>
      <p:sp>
        <p:nvSpPr>
          <p:cNvPr id="8" name="Shape 6"/>
          <p:cNvSpPr/>
          <p:nvPr/>
        </p:nvSpPr>
        <p:spPr>
          <a:xfrm>
            <a:off x="777240" y="2185416"/>
            <a:ext cx="10607040" cy="0"/>
          </a:xfrm>
          <a:prstGeom prst="line">
            <a:avLst/>
          </a:prstGeom>
          <a:noFill/>
          <a:ln w="9525">
            <a:solidFill>
              <a:srgbClr val="E3E8EF"/>
            </a:solidFill>
            <a:prstDash val="solid"/>
          </a:ln>
        </p:spPr>
        <p:txBody>
          <a:bodyPr/>
          <a:p/>
        </p:txBody>
      </p:sp>
      <p:sp>
        <p:nvSpPr>
          <p:cNvPr id="9" name="Shape 7"/>
          <p:cNvSpPr/>
          <p:nvPr/>
        </p:nvSpPr>
        <p:spPr>
          <a:xfrm>
            <a:off x="777240" y="2331720"/>
            <a:ext cx="384048" cy="237744"/>
          </a:xfrm>
          <a:prstGeom prst="roundRect">
            <a:avLst>
              <a:gd name="adj" fmla="val 23077"/>
            </a:avLst>
          </a:prstGeom>
          <a:solidFill>
            <a:srgbClr val="FFFFFF"/>
          </a:solidFill>
          <a:ln w="12700">
            <a:solidFill>
              <a:srgbClr val="44474F"/>
            </a:solidFill>
            <a:prstDash val="solid"/>
          </a:ln>
        </p:spPr>
        <p:txBody>
          <a:bodyPr/>
          <a:p/>
        </p:txBody>
      </p:sp>
      <p:sp>
        <p:nvSpPr>
          <p:cNvPr id="10" name="Text 8"/>
          <p:cNvSpPr/>
          <p:nvPr/>
        </p:nvSpPr>
        <p:spPr>
          <a:xfrm>
            <a:off x="777240" y="2331720"/>
            <a:ext cx="384048" cy="237744"/>
          </a:xfrm>
          <a:prstGeom prst="rect">
            <a:avLst/>
          </a:prstGeom>
          <a:noFill/>
          <a:ln/>
        </p:spPr>
        <p:txBody>
          <a:bodyPr wrap="square" lIns="0" tIns="0" rIns="0" bIns="0" rtlCol="0" anchor="ctr"/>
          <a:lstStyle/>
          <a:p>
            <a:pPr algn="ctr" indent="0" marL="0">
              <a:buNone/>
            </a:pPr>
            <a:endParaRPr lang="en-US" sz="900" dirty="0"/>
          </a:p>
        </p:txBody>
      </p:sp>
      <p:sp>
        <p:nvSpPr>
          <p:cNvPr id="11" name="Text 9"/>
          <p:cNvSpPr/>
          <p:nvPr/>
        </p:nvSpPr>
        <p:spPr>
          <a:xfrm>
            <a:off x="1344168" y="2276856"/>
            <a:ext cx="3108960" cy="310896"/>
          </a:xfrm>
          <a:prstGeom prst="rect">
            <a:avLst/>
          </a:prstGeom>
          <a:noFill/>
          <a:ln/>
        </p:spPr>
        <p:txBody>
          <a:bodyPr wrap="square" lIns="0" tIns="0" rIns="0" bIns="0" rtlCol="0" anchor="ctr"/>
          <a:lstStyle/>
          <a:p>
            <a:pPr algn="l" indent="0" marL="0">
              <a:buNone/>
            </a:pPr>
            <a:r>
              <a:rPr lang="en-US" sz="1350" b="1" dirty="0">
                <a:solidFill>
                  <a:srgbClr val="002452"/>
                </a:solidFill>
                <a:latin typeface="Calibri" pitchFamily="34" charset="0"/>
                <a:ea typeface="Calibri" pitchFamily="34" charset="-122"/>
                <a:cs typeface="Calibri" pitchFamily="34" charset="-120"/>
              </a:rPr>
              <a:t>Backend jalan</a:t>
            </a:r>
            <a:endParaRPr lang="en-US" sz="1350" dirty="0"/>
          </a:p>
        </p:txBody>
      </p:sp>
      <p:sp>
        <p:nvSpPr>
          <p:cNvPr id="12" name="Text 10"/>
          <p:cNvSpPr/>
          <p:nvPr/>
        </p:nvSpPr>
        <p:spPr>
          <a:xfrm>
            <a:off x="4526280" y="2276856"/>
            <a:ext cx="6858000" cy="310896"/>
          </a:xfrm>
          <a:prstGeom prst="rect">
            <a:avLst/>
          </a:prstGeom>
          <a:noFill/>
          <a:ln/>
        </p:spPr>
        <p:txBody>
          <a:bodyPr wrap="square" lIns="0" tIns="0" rIns="0" bIns="0" rtlCol="0" anchor="ctr"/>
          <a:lstStyle/>
          <a:p>
            <a:pPr algn="l" indent="0" marL="0">
              <a:buNone/>
            </a:pPr>
            <a:r>
              <a:rPr lang="en-US" sz="1150" dirty="0">
                <a:solidFill>
                  <a:srgbClr val="44474F"/>
                </a:solidFill>
                <a:latin typeface="Calibri" pitchFamily="34" charset="0"/>
                <a:ea typeface="Calibri" pitchFamily="34" charset="-122"/>
                <a:cs typeface="Calibri" pitchFamily="34" charset="-120"/>
              </a:rPr>
              <a:t>Panggil endpoint health dengan curl dan pastikan balasannya status ok. Kalau tidak balas, jangan lanjut ke langkah berikutnya.</a:t>
            </a:r>
            <a:endParaRPr lang="en-US" sz="1150" dirty="0"/>
          </a:p>
        </p:txBody>
      </p:sp>
      <p:sp>
        <p:nvSpPr>
          <p:cNvPr id="13" name="Shape 11"/>
          <p:cNvSpPr/>
          <p:nvPr/>
        </p:nvSpPr>
        <p:spPr>
          <a:xfrm>
            <a:off x="777240" y="2679192"/>
            <a:ext cx="10607040" cy="0"/>
          </a:xfrm>
          <a:prstGeom prst="line">
            <a:avLst/>
          </a:prstGeom>
          <a:noFill/>
          <a:ln w="9525">
            <a:solidFill>
              <a:srgbClr val="E3E8EF"/>
            </a:solidFill>
            <a:prstDash val="solid"/>
          </a:ln>
        </p:spPr>
        <p:txBody>
          <a:bodyPr/>
          <a:p/>
        </p:txBody>
      </p:sp>
      <p:sp>
        <p:nvSpPr>
          <p:cNvPr id="14" name="Shape 12"/>
          <p:cNvSpPr/>
          <p:nvPr/>
        </p:nvSpPr>
        <p:spPr>
          <a:xfrm>
            <a:off x="777240" y="2825496"/>
            <a:ext cx="384048" cy="237744"/>
          </a:xfrm>
          <a:prstGeom prst="roundRect">
            <a:avLst>
              <a:gd name="adj" fmla="val 23077"/>
            </a:avLst>
          </a:prstGeom>
          <a:solidFill>
            <a:srgbClr val="FFFFFF"/>
          </a:solidFill>
          <a:ln w="12700">
            <a:solidFill>
              <a:srgbClr val="44474F"/>
            </a:solidFill>
            <a:prstDash val="solid"/>
          </a:ln>
        </p:spPr>
        <p:txBody>
          <a:bodyPr/>
          <a:p/>
        </p:txBody>
      </p:sp>
      <p:sp>
        <p:nvSpPr>
          <p:cNvPr id="15" name="Text 13"/>
          <p:cNvSpPr/>
          <p:nvPr/>
        </p:nvSpPr>
        <p:spPr>
          <a:xfrm>
            <a:off x="777240" y="2825496"/>
            <a:ext cx="384048" cy="237744"/>
          </a:xfrm>
          <a:prstGeom prst="rect">
            <a:avLst/>
          </a:prstGeom>
          <a:noFill/>
          <a:ln/>
        </p:spPr>
        <p:txBody>
          <a:bodyPr wrap="square" lIns="0" tIns="0" rIns="0" bIns="0" rtlCol="0" anchor="ctr"/>
          <a:lstStyle/>
          <a:p>
            <a:pPr algn="ctr" indent="0" marL="0">
              <a:buNone/>
            </a:pPr>
            <a:endParaRPr lang="en-US" sz="900" dirty="0"/>
          </a:p>
        </p:txBody>
      </p:sp>
      <p:sp>
        <p:nvSpPr>
          <p:cNvPr id="16" name="Text 14"/>
          <p:cNvSpPr/>
          <p:nvPr/>
        </p:nvSpPr>
        <p:spPr>
          <a:xfrm>
            <a:off x="1344168" y="2770632"/>
            <a:ext cx="3108960" cy="310896"/>
          </a:xfrm>
          <a:prstGeom prst="rect">
            <a:avLst/>
          </a:prstGeom>
          <a:noFill/>
          <a:ln/>
        </p:spPr>
        <p:txBody>
          <a:bodyPr wrap="square" lIns="0" tIns="0" rIns="0" bIns="0" rtlCol="0" anchor="ctr"/>
          <a:lstStyle/>
          <a:p>
            <a:pPr algn="l" indent="0" marL="0">
              <a:buNone/>
            </a:pPr>
            <a:r>
              <a:rPr lang="en-US" sz="1350" b="1" dirty="0">
                <a:solidFill>
                  <a:srgbClr val="002452"/>
                </a:solidFill>
                <a:latin typeface="Calibri" pitchFamily="34" charset="0"/>
                <a:ea typeface="Calibri" pitchFamily="34" charset="-122"/>
                <a:cs typeface="Calibri" pitchFamily="34" charset="-120"/>
              </a:rPr>
              <a:t>Frontend jalan</a:t>
            </a:r>
            <a:endParaRPr lang="en-US" sz="1350" dirty="0"/>
          </a:p>
        </p:txBody>
      </p:sp>
      <p:sp>
        <p:nvSpPr>
          <p:cNvPr id="17" name="Text 15"/>
          <p:cNvSpPr/>
          <p:nvPr/>
        </p:nvSpPr>
        <p:spPr>
          <a:xfrm>
            <a:off x="4526280" y="2770632"/>
            <a:ext cx="6858000" cy="310896"/>
          </a:xfrm>
          <a:prstGeom prst="rect">
            <a:avLst/>
          </a:prstGeom>
          <a:noFill/>
          <a:ln/>
        </p:spPr>
        <p:txBody>
          <a:bodyPr wrap="square" lIns="0" tIns="0" rIns="0" bIns="0" rtlCol="0" anchor="ctr"/>
          <a:lstStyle/>
          <a:p>
            <a:pPr algn="l" indent="0" marL="0">
              <a:buNone/>
            </a:pPr>
            <a:r>
              <a:rPr lang="en-US" sz="1150" dirty="0">
                <a:solidFill>
                  <a:srgbClr val="44474F"/>
                </a:solidFill>
                <a:latin typeface="Calibri" pitchFamily="34" charset="0"/>
                <a:ea typeface="Calibri" pitchFamily="34" charset="-122"/>
                <a:cs typeface="Calibri" pitchFamily="34" charset="-120"/>
              </a:rPr>
              <a:t>Vite sudah menyala dan halaman terbuka di browser, bukan masih memuat.</a:t>
            </a:r>
            <a:endParaRPr lang="en-US" sz="1150" dirty="0"/>
          </a:p>
        </p:txBody>
      </p:sp>
      <p:sp>
        <p:nvSpPr>
          <p:cNvPr id="18" name="Shape 16"/>
          <p:cNvSpPr/>
          <p:nvPr/>
        </p:nvSpPr>
        <p:spPr>
          <a:xfrm>
            <a:off x="777240" y="3172968"/>
            <a:ext cx="10607040" cy="0"/>
          </a:xfrm>
          <a:prstGeom prst="line">
            <a:avLst/>
          </a:prstGeom>
          <a:noFill/>
          <a:ln w="9525">
            <a:solidFill>
              <a:srgbClr val="E3E8EF"/>
            </a:solidFill>
            <a:prstDash val="solid"/>
          </a:ln>
        </p:spPr>
        <p:txBody>
          <a:bodyPr/>
          <a:p/>
        </p:txBody>
      </p:sp>
      <p:sp>
        <p:nvSpPr>
          <p:cNvPr id="19" name="Shape 17"/>
          <p:cNvSpPr/>
          <p:nvPr/>
        </p:nvSpPr>
        <p:spPr>
          <a:xfrm>
            <a:off x="777240" y="3319272"/>
            <a:ext cx="384048" cy="237744"/>
          </a:xfrm>
          <a:prstGeom prst="roundRect">
            <a:avLst>
              <a:gd name="adj" fmla="val 23077"/>
            </a:avLst>
          </a:prstGeom>
          <a:solidFill>
            <a:srgbClr val="FFFFFF"/>
          </a:solidFill>
          <a:ln w="12700">
            <a:solidFill>
              <a:srgbClr val="44474F"/>
            </a:solidFill>
            <a:prstDash val="solid"/>
          </a:ln>
        </p:spPr>
        <p:txBody>
          <a:bodyPr/>
          <a:p/>
        </p:txBody>
      </p:sp>
      <p:sp>
        <p:nvSpPr>
          <p:cNvPr id="20" name="Text 18"/>
          <p:cNvSpPr/>
          <p:nvPr/>
        </p:nvSpPr>
        <p:spPr>
          <a:xfrm>
            <a:off x="777240" y="3319272"/>
            <a:ext cx="384048" cy="237744"/>
          </a:xfrm>
          <a:prstGeom prst="rect">
            <a:avLst/>
          </a:prstGeom>
          <a:noFill/>
          <a:ln/>
        </p:spPr>
        <p:txBody>
          <a:bodyPr wrap="square" lIns="0" tIns="0" rIns="0" bIns="0" rtlCol="0" anchor="ctr"/>
          <a:lstStyle/>
          <a:p>
            <a:pPr algn="ctr" indent="0" marL="0">
              <a:buNone/>
            </a:pPr>
            <a:endParaRPr lang="en-US" sz="900" dirty="0"/>
          </a:p>
        </p:txBody>
      </p:sp>
      <p:sp>
        <p:nvSpPr>
          <p:cNvPr id="21" name="Text 19"/>
          <p:cNvSpPr/>
          <p:nvPr/>
        </p:nvSpPr>
        <p:spPr>
          <a:xfrm>
            <a:off x="1344168" y="3264408"/>
            <a:ext cx="3108960" cy="310896"/>
          </a:xfrm>
          <a:prstGeom prst="rect">
            <a:avLst/>
          </a:prstGeom>
          <a:noFill/>
          <a:ln/>
        </p:spPr>
        <p:txBody>
          <a:bodyPr wrap="square" lIns="0" tIns="0" rIns="0" bIns="0" rtlCol="0" anchor="ctr"/>
          <a:lstStyle/>
          <a:p>
            <a:pPr algn="l" indent="0" marL="0">
              <a:buNone/>
            </a:pPr>
            <a:r>
              <a:rPr lang="en-US" sz="1350" b="1" dirty="0">
                <a:solidFill>
                  <a:srgbClr val="002452"/>
                </a:solidFill>
                <a:latin typeface="Calibri" pitchFamily="34" charset="0"/>
                <a:ea typeface="Calibri" pitchFamily="34" charset="-122"/>
                <a:cs typeface="Calibri" pitchFamily="34" charset="-120"/>
              </a:rPr>
              <a:t>Sudah login sebagai admin</a:t>
            </a:r>
            <a:endParaRPr lang="en-US" sz="1350" dirty="0"/>
          </a:p>
        </p:txBody>
      </p:sp>
      <p:sp>
        <p:nvSpPr>
          <p:cNvPr id="22" name="Text 20"/>
          <p:cNvSpPr/>
          <p:nvPr/>
        </p:nvSpPr>
        <p:spPr>
          <a:xfrm>
            <a:off x="4526280" y="3264408"/>
            <a:ext cx="6858000" cy="310896"/>
          </a:xfrm>
          <a:prstGeom prst="rect">
            <a:avLst/>
          </a:prstGeom>
          <a:noFill/>
          <a:ln/>
        </p:spPr>
        <p:txBody>
          <a:bodyPr wrap="square" lIns="0" tIns="0" rIns="0" bIns="0" rtlCol="0" anchor="ctr"/>
          <a:lstStyle/>
          <a:p>
            <a:pPr algn="l" indent="0" marL="0">
              <a:buNone/>
            </a:pPr>
            <a:r>
              <a:rPr lang="en-US" sz="1150" dirty="0">
                <a:solidFill>
                  <a:srgbClr val="44474F"/>
                </a:solidFill>
                <a:latin typeface="Calibri" pitchFamily="34" charset="0"/>
                <a:ea typeface="Calibri" pitchFamily="34" charset="-122"/>
                <a:cs typeface="Calibri" pitchFamily="34" charset="-120"/>
              </a:rPr>
              <a:t>Login dilakukan sebelum masuk ruangan supaya tidak ada layar login yang gagal di depan penguji.</a:t>
            </a:r>
            <a:endParaRPr lang="en-US" sz="1150" dirty="0"/>
          </a:p>
        </p:txBody>
      </p:sp>
      <p:sp>
        <p:nvSpPr>
          <p:cNvPr id="23" name="Shape 21"/>
          <p:cNvSpPr/>
          <p:nvPr/>
        </p:nvSpPr>
        <p:spPr>
          <a:xfrm>
            <a:off x="777240" y="3666744"/>
            <a:ext cx="10607040" cy="0"/>
          </a:xfrm>
          <a:prstGeom prst="line">
            <a:avLst/>
          </a:prstGeom>
          <a:noFill/>
          <a:ln w="9525">
            <a:solidFill>
              <a:srgbClr val="E3E8EF"/>
            </a:solidFill>
            <a:prstDash val="solid"/>
          </a:ln>
        </p:spPr>
        <p:txBody>
          <a:bodyPr/>
          <a:p/>
        </p:txBody>
      </p:sp>
      <p:sp>
        <p:nvSpPr>
          <p:cNvPr id="24" name="Shape 22"/>
          <p:cNvSpPr/>
          <p:nvPr/>
        </p:nvSpPr>
        <p:spPr>
          <a:xfrm>
            <a:off x="777240" y="3813048"/>
            <a:ext cx="384048" cy="237744"/>
          </a:xfrm>
          <a:prstGeom prst="roundRect">
            <a:avLst>
              <a:gd name="adj" fmla="val 23077"/>
            </a:avLst>
          </a:prstGeom>
          <a:solidFill>
            <a:srgbClr val="FFFFFF"/>
          </a:solidFill>
          <a:ln w="12700">
            <a:solidFill>
              <a:srgbClr val="44474F"/>
            </a:solidFill>
            <a:prstDash val="solid"/>
          </a:ln>
        </p:spPr>
        <p:txBody>
          <a:bodyPr/>
          <a:p/>
        </p:txBody>
      </p:sp>
      <p:sp>
        <p:nvSpPr>
          <p:cNvPr id="25" name="Text 23"/>
          <p:cNvSpPr/>
          <p:nvPr/>
        </p:nvSpPr>
        <p:spPr>
          <a:xfrm>
            <a:off x="777240" y="3813048"/>
            <a:ext cx="384048" cy="237744"/>
          </a:xfrm>
          <a:prstGeom prst="rect">
            <a:avLst/>
          </a:prstGeom>
          <a:noFill/>
          <a:ln/>
        </p:spPr>
        <p:txBody>
          <a:bodyPr wrap="square" lIns="0" tIns="0" rIns="0" bIns="0" rtlCol="0" anchor="ctr"/>
          <a:lstStyle/>
          <a:p>
            <a:pPr algn="ctr" indent="0" marL="0">
              <a:buNone/>
            </a:pPr>
            <a:endParaRPr lang="en-US" sz="900" dirty="0"/>
          </a:p>
        </p:txBody>
      </p:sp>
      <p:sp>
        <p:nvSpPr>
          <p:cNvPr id="26" name="Text 24"/>
          <p:cNvSpPr/>
          <p:nvPr/>
        </p:nvSpPr>
        <p:spPr>
          <a:xfrm>
            <a:off x="1344168" y="3758184"/>
            <a:ext cx="3108960" cy="310896"/>
          </a:xfrm>
          <a:prstGeom prst="rect">
            <a:avLst/>
          </a:prstGeom>
          <a:noFill/>
          <a:ln/>
        </p:spPr>
        <p:txBody>
          <a:bodyPr wrap="square" lIns="0" tIns="0" rIns="0" bIns="0" rtlCol="0" anchor="ctr"/>
          <a:lstStyle/>
          <a:p>
            <a:pPr algn="l" indent="0" marL="0">
              <a:buNone/>
            </a:pPr>
            <a:r>
              <a:rPr lang="en-US" sz="1350" b="1" dirty="0">
                <a:solidFill>
                  <a:srgbClr val="002452"/>
                </a:solidFill>
                <a:latin typeface="Calibri" pitchFamily="34" charset="0"/>
                <a:ea typeface="Calibri" pitchFamily="34" charset="-122"/>
                <a:cs typeface="Calibri" pitchFamily="34" charset="-120"/>
              </a:rPr>
              <a:t>Halaman sudah dibuka lebih dulu</a:t>
            </a:r>
            <a:endParaRPr lang="en-US" sz="1350" dirty="0"/>
          </a:p>
        </p:txBody>
      </p:sp>
      <p:sp>
        <p:nvSpPr>
          <p:cNvPr id="27" name="Text 25"/>
          <p:cNvSpPr/>
          <p:nvPr/>
        </p:nvSpPr>
        <p:spPr>
          <a:xfrm>
            <a:off x="4526280" y="3758184"/>
            <a:ext cx="6858000" cy="310896"/>
          </a:xfrm>
          <a:prstGeom prst="rect">
            <a:avLst/>
          </a:prstGeom>
          <a:noFill/>
          <a:ln/>
        </p:spPr>
        <p:txBody>
          <a:bodyPr wrap="square" lIns="0" tIns="0" rIns="0" bIns="0" rtlCol="0" anchor="ctr"/>
          <a:lstStyle/>
          <a:p>
            <a:pPr algn="l" indent="0" marL="0">
              <a:buNone/>
            </a:pPr>
            <a:r>
              <a:rPr lang="en-US" sz="1150" dirty="0">
                <a:solidFill>
                  <a:srgbClr val="44474F"/>
                </a:solidFill>
                <a:latin typeface="Calibri" pitchFamily="34" charset="0"/>
                <a:ea typeface="Calibri" pitchFamily="34" charset="-122"/>
                <a:cs typeface="Calibri" pitchFamily="34" charset="-120"/>
              </a:rPr>
              <a:t>Buka Upload, Review Queue, dan Archive satu kali supaya semuanya sudah masuk cache dan tidak ada jeda pemuatan pertama.</a:t>
            </a:r>
            <a:endParaRPr lang="en-US" sz="1150" dirty="0"/>
          </a:p>
        </p:txBody>
      </p:sp>
      <p:sp>
        <p:nvSpPr>
          <p:cNvPr id="28" name="Shape 26"/>
          <p:cNvSpPr/>
          <p:nvPr/>
        </p:nvSpPr>
        <p:spPr>
          <a:xfrm>
            <a:off x="777240" y="4160520"/>
            <a:ext cx="10607040" cy="0"/>
          </a:xfrm>
          <a:prstGeom prst="line">
            <a:avLst/>
          </a:prstGeom>
          <a:noFill/>
          <a:ln w="9525">
            <a:solidFill>
              <a:srgbClr val="E3E8EF"/>
            </a:solidFill>
            <a:prstDash val="solid"/>
          </a:ln>
        </p:spPr>
        <p:txBody>
          <a:bodyPr/>
          <a:p/>
        </p:txBody>
      </p:sp>
      <p:sp>
        <p:nvSpPr>
          <p:cNvPr id="29" name="Shape 27"/>
          <p:cNvSpPr/>
          <p:nvPr/>
        </p:nvSpPr>
        <p:spPr>
          <a:xfrm>
            <a:off x="777240" y="4306824"/>
            <a:ext cx="384048" cy="237744"/>
          </a:xfrm>
          <a:prstGeom prst="roundRect">
            <a:avLst>
              <a:gd name="adj" fmla="val 23077"/>
            </a:avLst>
          </a:prstGeom>
          <a:solidFill>
            <a:srgbClr val="FFFFFF"/>
          </a:solidFill>
          <a:ln w="12700">
            <a:solidFill>
              <a:srgbClr val="44474F"/>
            </a:solidFill>
            <a:prstDash val="solid"/>
          </a:ln>
        </p:spPr>
        <p:txBody>
          <a:bodyPr/>
          <a:p/>
        </p:txBody>
      </p:sp>
      <p:sp>
        <p:nvSpPr>
          <p:cNvPr id="30" name="Text 28"/>
          <p:cNvSpPr/>
          <p:nvPr/>
        </p:nvSpPr>
        <p:spPr>
          <a:xfrm>
            <a:off x="777240" y="4306824"/>
            <a:ext cx="384048" cy="237744"/>
          </a:xfrm>
          <a:prstGeom prst="rect">
            <a:avLst/>
          </a:prstGeom>
          <a:noFill/>
          <a:ln/>
        </p:spPr>
        <p:txBody>
          <a:bodyPr wrap="square" lIns="0" tIns="0" rIns="0" bIns="0" rtlCol="0" anchor="ctr"/>
          <a:lstStyle/>
          <a:p>
            <a:pPr algn="ctr" indent="0" marL="0">
              <a:buNone/>
            </a:pPr>
            <a:endParaRPr lang="en-US" sz="900" dirty="0"/>
          </a:p>
        </p:txBody>
      </p:sp>
      <p:sp>
        <p:nvSpPr>
          <p:cNvPr id="31" name="Text 29"/>
          <p:cNvSpPr/>
          <p:nvPr/>
        </p:nvSpPr>
        <p:spPr>
          <a:xfrm>
            <a:off x="1344168" y="4251960"/>
            <a:ext cx="3108960" cy="310896"/>
          </a:xfrm>
          <a:prstGeom prst="rect">
            <a:avLst/>
          </a:prstGeom>
          <a:noFill/>
          <a:ln/>
        </p:spPr>
        <p:txBody>
          <a:bodyPr wrap="square" lIns="0" tIns="0" rIns="0" bIns="0" rtlCol="0" anchor="ctr"/>
          <a:lstStyle/>
          <a:p>
            <a:pPr algn="l" indent="0" marL="0">
              <a:buNone/>
            </a:pPr>
            <a:r>
              <a:rPr lang="en-US" sz="1350" b="1" dirty="0">
                <a:solidFill>
                  <a:srgbClr val="002452"/>
                </a:solidFill>
                <a:latin typeface="Calibri" pitchFamily="34" charset="0"/>
                <a:ea typeface="Calibri" pitchFamily="34" charset="-122"/>
                <a:cs typeface="Calibri" pitchFamily="34" charset="-120"/>
              </a:rPr>
              <a:t>Notifikasi sistem dimatikan</a:t>
            </a:r>
            <a:endParaRPr lang="en-US" sz="1350" dirty="0"/>
          </a:p>
        </p:txBody>
      </p:sp>
      <p:sp>
        <p:nvSpPr>
          <p:cNvPr id="32" name="Text 30"/>
          <p:cNvSpPr/>
          <p:nvPr/>
        </p:nvSpPr>
        <p:spPr>
          <a:xfrm>
            <a:off x="4526280" y="4251960"/>
            <a:ext cx="6858000" cy="310896"/>
          </a:xfrm>
          <a:prstGeom prst="rect">
            <a:avLst/>
          </a:prstGeom>
          <a:noFill/>
          <a:ln/>
        </p:spPr>
        <p:txBody>
          <a:bodyPr wrap="square" lIns="0" tIns="0" rIns="0" bIns="0" rtlCol="0" anchor="ctr"/>
          <a:lstStyle/>
          <a:p>
            <a:pPr algn="l" indent="0" marL="0">
              <a:buNone/>
            </a:pPr>
            <a:r>
              <a:rPr lang="en-US" sz="1150" dirty="0">
                <a:solidFill>
                  <a:srgbClr val="44474F"/>
                </a:solidFill>
                <a:latin typeface="Calibri" pitchFamily="34" charset="0"/>
                <a:ea typeface="Calibri" pitchFamily="34" charset="-122"/>
                <a:cs typeface="Calibri" pitchFamily="34" charset="-120"/>
              </a:rPr>
              <a:t>Do Not Disturb menyala. Tutup aplikasi chat, email, dan kalender.</a:t>
            </a:r>
            <a:endParaRPr lang="en-US" sz="1150" dirty="0"/>
          </a:p>
        </p:txBody>
      </p:sp>
      <p:sp>
        <p:nvSpPr>
          <p:cNvPr id="33" name="Shape 31"/>
          <p:cNvSpPr/>
          <p:nvPr/>
        </p:nvSpPr>
        <p:spPr>
          <a:xfrm>
            <a:off x="777240" y="4654296"/>
            <a:ext cx="10607040" cy="0"/>
          </a:xfrm>
          <a:prstGeom prst="line">
            <a:avLst/>
          </a:prstGeom>
          <a:noFill/>
          <a:ln w="9525">
            <a:solidFill>
              <a:srgbClr val="E3E8EF"/>
            </a:solidFill>
            <a:prstDash val="solid"/>
          </a:ln>
        </p:spPr>
        <p:txBody>
          <a:bodyPr/>
          <a:p/>
        </p:txBody>
      </p:sp>
      <p:sp>
        <p:nvSpPr>
          <p:cNvPr id="34" name="Shape 32"/>
          <p:cNvSpPr/>
          <p:nvPr/>
        </p:nvSpPr>
        <p:spPr>
          <a:xfrm>
            <a:off x="777240" y="4800600"/>
            <a:ext cx="384048" cy="237744"/>
          </a:xfrm>
          <a:prstGeom prst="roundRect">
            <a:avLst>
              <a:gd name="adj" fmla="val 23077"/>
            </a:avLst>
          </a:prstGeom>
          <a:solidFill>
            <a:srgbClr val="FFFFFF"/>
          </a:solidFill>
          <a:ln w="12700">
            <a:solidFill>
              <a:srgbClr val="44474F"/>
            </a:solidFill>
            <a:prstDash val="solid"/>
          </a:ln>
        </p:spPr>
        <p:txBody>
          <a:bodyPr/>
          <a:p/>
        </p:txBody>
      </p:sp>
      <p:sp>
        <p:nvSpPr>
          <p:cNvPr id="35" name="Text 33"/>
          <p:cNvSpPr/>
          <p:nvPr/>
        </p:nvSpPr>
        <p:spPr>
          <a:xfrm>
            <a:off x="777240" y="4800600"/>
            <a:ext cx="384048" cy="237744"/>
          </a:xfrm>
          <a:prstGeom prst="rect">
            <a:avLst/>
          </a:prstGeom>
          <a:noFill/>
          <a:ln/>
        </p:spPr>
        <p:txBody>
          <a:bodyPr wrap="square" lIns="0" tIns="0" rIns="0" bIns="0" rtlCol="0" anchor="ctr"/>
          <a:lstStyle/>
          <a:p>
            <a:pPr algn="ctr" indent="0" marL="0">
              <a:buNone/>
            </a:pPr>
            <a:endParaRPr lang="en-US" sz="900" dirty="0"/>
          </a:p>
        </p:txBody>
      </p:sp>
      <p:sp>
        <p:nvSpPr>
          <p:cNvPr id="36" name="Text 34"/>
          <p:cNvSpPr/>
          <p:nvPr/>
        </p:nvSpPr>
        <p:spPr>
          <a:xfrm>
            <a:off x="1344168" y="4745736"/>
            <a:ext cx="3108960" cy="310896"/>
          </a:xfrm>
          <a:prstGeom prst="rect">
            <a:avLst/>
          </a:prstGeom>
          <a:noFill/>
          <a:ln/>
        </p:spPr>
        <p:txBody>
          <a:bodyPr wrap="square" lIns="0" tIns="0" rIns="0" bIns="0" rtlCol="0" anchor="ctr"/>
          <a:lstStyle/>
          <a:p>
            <a:pPr algn="l" indent="0" marL="0">
              <a:buNone/>
            </a:pPr>
            <a:r>
              <a:rPr lang="en-US" sz="1350" b="1" dirty="0">
                <a:solidFill>
                  <a:srgbClr val="002452"/>
                </a:solidFill>
                <a:latin typeface="Calibri" pitchFamily="34" charset="0"/>
                <a:ea typeface="Calibri" pitchFamily="34" charset="-122"/>
                <a:cs typeface="Calibri" pitchFamily="34" charset="-120"/>
              </a:rPr>
              <a:t>Dokumen demo sudah siap di desktop</a:t>
            </a:r>
            <a:endParaRPr lang="en-US" sz="1350" dirty="0"/>
          </a:p>
        </p:txBody>
      </p:sp>
      <p:sp>
        <p:nvSpPr>
          <p:cNvPr id="37" name="Text 35"/>
          <p:cNvSpPr/>
          <p:nvPr/>
        </p:nvSpPr>
        <p:spPr>
          <a:xfrm>
            <a:off x="4526280" y="4745736"/>
            <a:ext cx="6858000" cy="310896"/>
          </a:xfrm>
          <a:prstGeom prst="rect">
            <a:avLst/>
          </a:prstGeom>
          <a:noFill/>
          <a:ln/>
        </p:spPr>
        <p:txBody>
          <a:bodyPr wrap="square" lIns="0" tIns="0" rIns="0" bIns="0" rtlCol="0" anchor="ctr"/>
          <a:lstStyle/>
          <a:p>
            <a:pPr algn="l" indent="0" marL="0">
              <a:buNone/>
            </a:pPr>
            <a:r>
              <a:rPr lang="en-US" sz="1150" dirty="0">
                <a:solidFill>
                  <a:srgbClr val="44474F"/>
                </a:solidFill>
                <a:latin typeface="Calibri" pitchFamily="34" charset="0"/>
                <a:ea typeface="Calibri" pitchFamily="34" charset="-122"/>
                <a:cs typeface="Calibri" pitchFamily="34" charset="-120"/>
              </a:rPr>
              <a:t>Satu berkas bersih dan satu berkas bermasalah, dua duanya di folder yang gampang dicari.</a:t>
            </a:r>
            <a:endParaRPr lang="en-US" sz="1150" dirty="0"/>
          </a:p>
        </p:txBody>
      </p:sp>
      <p:sp>
        <p:nvSpPr>
          <p:cNvPr id="38" name="Shape 36"/>
          <p:cNvSpPr/>
          <p:nvPr/>
        </p:nvSpPr>
        <p:spPr>
          <a:xfrm>
            <a:off x="777240" y="5148072"/>
            <a:ext cx="10607040" cy="0"/>
          </a:xfrm>
          <a:prstGeom prst="line">
            <a:avLst/>
          </a:prstGeom>
          <a:noFill/>
          <a:ln w="9525">
            <a:solidFill>
              <a:srgbClr val="E3E8EF"/>
            </a:solidFill>
            <a:prstDash val="solid"/>
          </a:ln>
        </p:spPr>
        <p:txBody>
          <a:bodyPr/>
          <a:p/>
        </p:txBody>
      </p:sp>
      <p:sp>
        <p:nvSpPr>
          <p:cNvPr id="39" name="Shape 37"/>
          <p:cNvSpPr/>
          <p:nvPr/>
        </p:nvSpPr>
        <p:spPr>
          <a:xfrm>
            <a:off x="777240" y="5294376"/>
            <a:ext cx="384048" cy="237744"/>
          </a:xfrm>
          <a:prstGeom prst="roundRect">
            <a:avLst>
              <a:gd name="adj" fmla="val 23077"/>
            </a:avLst>
          </a:prstGeom>
          <a:solidFill>
            <a:srgbClr val="FFFFFF"/>
          </a:solidFill>
          <a:ln w="12700">
            <a:solidFill>
              <a:srgbClr val="44474F"/>
            </a:solidFill>
            <a:prstDash val="solid"/>
          </a:ln>
        </p:spPr>
        <p:txBody>
          <a:bodyPr/>
          <a:p/>
        </p:txBody>
      </p:sp>
      <p:sp>
        <p:nvSpPr>
          <p:cNvPr id="40" name="Text 38"/>
          <p:cNvSpPr/>
          <p:nvPr/>
        </p:nvSpPr>
        <p:spPr>
          <a:xfrm>
            <a:off x="777240" y="5294376"/>
            <a:ext cx="384048" cy="237744"/>
          </a:xfrm>
          <a:prstGeom prst="rect">
            <a:avLst/>
          </a:prstGeom>
          <a:noFill/>
          <a:ln/>
        </p:spPr>
        <p:txBody>
          <a:bodyPr wrap="square" lIns="0" tIns="0" rIns="0" bIns="0" rtlCol="0" anchor="ctr"/>
          <a:lstStyle/>
          <a:p>
            <a:pPr algn="ctr" indent="0" marL="0">
              <a:buNone/>
            </a:pPr>
            <a:endParaRPr lang="en-US" sz="900" dirty="0"/>
          </a:p>
        </p:txBody>
      </p:sp>
      <p:sp>
        <p:nvSpPr>
          <p:cNvPr id="41" name="Text 39"/>
          <p:cNvSpPr/>
          <p:nvPr/>
        </p:nvSpPr>
        <p:spPr>
          <a:xfrm>
            <a:off x="1344168" y="5239512"/>
            <a:ext cx="3108960" cy="310896"/>
          </a:xfrm>
          <a:prstGeom prst="rect">
            <a:avLst/>
          </a:prstGeom>
          <a:noFill/>
          <a:ln/>
        </p:spPr>
        <p:txBody>
          <a:bodyPr wrap="square" lIns="0" tIns="0" rIns="0" bIns="0" rtlCol="0" anchor="ctr"/>
          <a:lstStyle/>
          <a:p>
            <a:pPr algn="l" indent="0" marL="0">
              <a:buNone/>
            </a:pPr>
            <a:r>
              <a:rPr lang="en-US" sz="1350" b="1" dirty="0">
                <a:solidFill>
                  <a:srgbClr val="002452"/>
                </a:solidFill>
                <a:latin typeface="Calibri" pitchFamily="34" charset="0"/>
                <a:ea typeface="Calibri" pitchFamily="34" charset="-122"/>
                <a:cs typeface="Calibri" pitchFamily="34" charset="-120"/>
              </a:rPr>
              <a:t>Zoom browser dinaikkan</a:t>
            </a:r>
            <a:endParaRPr lang="en-US" sz="1350" dirty="0"/>
          </a:p>
        </p:txBody>
      </p:sp>
      <p:sp>
        <p:nvSpPr>
          <p:cNvPr id="42" name="Text 40"/>
          <p:cNvSpPr/>
          <p:nvPr/>
        </p:nvSpPr>
        <p:spPr>
          <a:xfrm>
            <a:off x="4526280" y="5239512"/>
            <a:ext cx="6858000" cy="310896"/>
          </a:xfrm>
          <a:prstGeom prst="rect">
            <a:avLst/>
          </a:prstGeom>
          <a:noFill/>
          <a:ln/>
        </p:spPr>
        <p:txBody>
          <a:bodyPr wrap="square" lIns="0" tIns="0" rIns="0" bIns="0" rtlCol="0" anchor="ctr"/>
          <a:lstStyle/>
          <a:p>
            <a:pPr algn="l" indent="0" marL="0">
              <a:buNone/>
            </a:pPr>
            <a:r>
              <a:rPr lang="en-US" sz="1150" dirty="0">
                <a:solidFill>
                  <a:srgbClr val="44474F"/>
                </a:solidFill>
                <a:latin typeface="Calibri" pitchFamily="34" charset="0"/>
                <a:ea typeface="Calibri" pitchFamily="34" charset="-122"/>
                <a:cs typeface="Calibri" pitchFamily="34" charset="-120"/>
              </a:rPr>
              <a:t>Sekitar 125 persen supaya angka pada tabel terbaca dari kursi paling belakang.</a:t>
            </a:r>
            <a:endParaRPr lang="en-US" sz="1150" dirty="0"/>
          </a:p>
        </p:txBody>
      </p:sp>
      <p:sp>
        <p:nvSpPr>
          <p:cNvPr id="43" name="Text 41"/>
          <p:cNvSpPr/>
          <p:nvPr/>
        </p:nvSpPr>
        <p:spPr>
          <a:xfrm>
            <a:off x="777240" y="5852160"/>
            <a:ext cx="10607040" cy="320040"/>
          </a:xfrm>
          <a:prstGeom prst="rect">
            <a:avLst/>
          </a:prstGeom>
          <a:noFill/>
          <a:ln/>
        </p:spPr>
        <p:txBody>
          <a:bodyPr wrap="square" lIns="0" tIns="0" rIns="0" bIns="0" rtlCol="0" anchor="ctr"/>
          <a:lstStyle/>
          <a:p>
            <a:pPr algn="l" indent="0" marL="0">
              <a:buNone/>
            </a:pPr>
            <a:r>
              <a:rPr lang="en-US" sz="1200" b="1" dirty="0">
                <a:solidFill>
                  <a:srgbClr val="B91C1C"/>
                </a:solidFill>
                <a:latin typeface="Calibri" pitchFamily="34" charset="0"/>
                <a:ea typeface="Calibri" pitchFamily="34" charset="-122"/>
                <a:cs typeface="Calibri" pitchFamily="34" charset="-120"/>
              </a:rPr>
              <a:t>Kalau salah satu dari delapan ini belum beres, jangan mulai demo. Pakai rencana cadangan di slide 7.</a:t>
            </a:r>
            <a:endParaRPr lang="en-US" sz="1200" dirty="0"/>
          </a:p>
        </p:txBody>
      </p:sp>
      <p:sp>
        <p:nvSpPr>
          <p:cNvPr id="44" name="Text 42"/>
          <p:cNvSpPr/>
          <p:nvPr/>
        </p:nvSpPr>
        <p:spPr>
          <a:xfrm>
            <a:off x="777240" y="6400800"/>
            <a:ext cx="10607040" cy="256032"/>
          </a:xfrm>
          <a:prstGeom prst="rect">
            <a:avLst/>
          </a:prstGeom>
          <a:noFill/>
          <a:ln/>
        </p:spPr>
        <p:txBody>
          <a:bodyPr wrap="square" lIns="0" tIns="0" rIns="0" bIns="0" rtlCol="0" anchor="ctr"/>
          <a:lstStyle/>
          <a:p>
            <a:pPr algn="l" indent="0" marL="0">
              <a:buNone/>
            </a:pPr>
            <a:r>
              <a:rPr lang="en-US" sz="900" dirty="0">
                <a:solidFill>
                  <a:srgbClr val="8A9099"/>
                </a:solidFill>
                <a:latin typeface="Calibri" pitchFamily="34" charset="0"/>
                <a:ea typeface="Calibri" pitchFamily="34" charset="-122"/>
                <a:cs typeface="Calibri" pitchFamily="34" charset="-120"/>
              </a:rPr>
              <a:t>Panduan demo, pegangan presenter  2/8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10607040" cy="502920"/>
          </a:xfrm>
          <a:prstGeom prst="rect">
            <a:avLst/>
          </a:prstGeom>
          <a:noFill/>
          <a:ln/>
        </p:spPr>
        <p:txBody>
          <a:bodyPr wrap="square" lIns="0" tIns="0" rIns="0" bIns="0" rtlCol="0" anchor="ctr"/>
          <a:lstStyle/>
          <a:p>
            <a:pPr algn="l" indent="0" marL="0">
              <a:buNone/>
            </a:pPr>
            <a:r>
              <a:rPr lang="en-US" sz="3000" b="1" dirty="0">
                <a:solidFill>
                  <a:srgbClr val="002452"/>
                </a:solidFill>
                <a:latin typeface="Calibri" pitchFamily="34" charset="0"/>
                <a:ea typeface="Calibri" pitchFamily="34" charset="-122"/>
                <a:cs typeface="Calibri" pitchFamily="34" charset="-120"/>
              </a:rPr>
              <a:t>Akun demo</a:t>
            </a:r>
            <a:endParaRPr lang="en-US" sz="3000" dirty="0"/>
          </a:p>
        </p:txBody>
      </p:sp>
      <p:sp>
        <p:nvSpPr>
          <p:cNvPr id="3" name="Text 1"/>
          <p:cNvSpPr/>
          <p:nvPr/>
        </p:nvSpPr>
        <p:spPr>
          <a:xfrm>
            <a:off x="777240" y="969264"/>
            <a:ext cx="10607040" cy="310896"/>
          </a:xfrm>
          <a:prstGeom prst="rect">
            <a:avLst/>
          </a:prstGeom>
          <a:noFill/>
          <a:ln/>
        </p:spPr>
        <p:txBody>
          <a:bodyPr wrap="square" lIns="0" tIns="0" rIns="0" bIns="0" rtlCol="0" anchor="ctr"/>
          <a:lstStyle/>
          <a:p>
            <a:pPr algn="l" indent="0" marL="0">
              <a:buNone/>
            </a:pPr>
            <a:r>
              <a:rPr lang="en-US" sz="1350" dirty="0">
                <a:solidFill>
                  <a:srgbClr val="44474F"/>
                </a:solidFill>
                <a:latin typeface="Calibri" pitchFamily="34" charset="0"/>
                <a:ea typeface="Calibri" pitchFamily="34" charset="-122"/>
                <a:cs typeface="Calibri" pitchFamily="34" charset="-120"/>
              </a:rPr>
              <a:t>Halaman login sudah mengisikan kredensial saat tab peran ditekan</a:t>
            </a:r>
            <a:endParaRPr lang="en-US" sz="1350" dirty="0"/>
          </a:p>
        </p:txBody>
      </p:sp>
      <p:sp>
        <p:nvSpPr>
          <p:cNvPr id="4" name="Text 2"/>
          <p:cNvSpPr/>
          <p:nvPr/>
        </p:nvSpPr>
        <p:spPr>
          <a:xfrm>
            <a:off x="777240" y="1783080"/>
            <a:ext cx="2194560" cy="256032"/>
          </a:xfrm>
          <a:prstGeom prst="rect">
            <a:avLst/>
          </a:prstGeom>
          <a:noFill/>
          <a:ln/>
        </p:spPr>
        <p:txBody>
          <a:bodyPr wrap="square" lIns="0" tIns="0" rIns="0" bIns="0" rtlCol="0" anchor="ctr"/>
          <a:lstStyle/>
          <a:p>
            <a:pPr indent="0" marL="0">
              <a:buNone/>
            </a:pPr>
            <a:r>
              <a:rPr lang="en-US" sz="1050" b="1" spc="80" kern="0" dirty="0">
                <a:solidFill>
                  <a:srgbClr val="44474F"/>
                </a:solidFill>
                <a:latin typeface="Calibri" pitchFamily="34" charset="0"/>
                <a:ea typeface="Calibri" pitchFamily="34" charset="-122"/>
                <a:cs typeface="Calibri" pitchFamily="34" charset="-120"/>
              </a:rPr>
              <a:t>Email</a:t>
            </a:r>
            <a:endParaRPr lang="en-US" sz="1050" dirty="0"/>
          </a:p>
        </p:txBody>
      </p:sp>
      <p:sp>
        <p:nvSpPr>
          <p:cNvPr id="5" name="Text 3"/>
          <p:cNvSpPr/>
          <p:nvPr/>
        </p:nvSpPr>
        <p:spPr>
          <a:xfrm>
            <a:off x="3063240" y="1783080"/>
            <a:ext cx="1828800" cy="256032"/>
          </a:xfrm>
          <a:prstGeom prst="rect">
            <a:avLst/>
          </a:prstGeom>
          <a:noFill/>
          <a:ln/>
        </p:spPr>
        <p:txBody>
          <a:bodyPr wrap="square" lIns="0" tIns="0" rIns="0" bIns="0" rtlCol="0" anchor="ctr"/>
          <a:lstStyle/>
          <a:p>
            <a:pPr indent="0" marL="0">
              <a:buNone/>
            </a:pPr>
            <a:r>
              <a:rPr lang="en-US" sz="1050" b="1" spc="80" kern="0" dirty="0">
                <a:solidFill>
                  <a:srgbClr val="44474F"/>
                </a:solidFill>
                <a:latin typeface="Calibri" pitchFamily="34" charset="0"/>
                <a:ea typeface="Calibri" pitchFamily="34" charset="-122"/>
                <a:cs typeface="Calibri" pitchFamily="34" charset="-120"/>
              </a:rPr>
              <a:t>Password</a:t>
            </a:r>
            <a:endParaRPr lang="en-US" sz="1050" dirty="0"/>
          </a:p>
        </p:txBody>
      </p:sp>
      <p:sp>
        <p:nvSpPr>
          <p:cNvPr id="6" name="Text 4"/>
          <p:cNvSpPr/>
          <p:nvPr/>
        </p:nvSpPr>
        <p:spPr>
          <a:xfrm>
            <a:off x="4983480" y="1783080"/>
            <a:ext cx="2651760" cy="256032"/>
          </a:xfrm>
          <a:prstGeom prst="rect">
            <a:avLst/>
          </a:prstGeom>
          <a:noFill/>
          <a:ln/>
        </p:spPr>
        <p:txBody>
          <a:bodyPr wrap="square" lIns="0" tIns="0" rIns="0" bIns="0" rtlCol="0" anchor="ctr"/>
          <a:lstStyle/>
          <a:p>
            <a:pPr indent="0" marL="0">
              <a:buNone/>
            </a:pPr>
            <a:r>
              <a:rPr lang="en-US" sz="1050" b="1" spc="80" kern="0" dirty="0">
                <a:solidFill>
                  <a:srgbClr val="44474F"/>
                </a:solidFill>
                <a:latin typeface="Calibri" pitchFamily="34" charset="0"/>
                <a:ea typeface="Calibri" pitchFamily="34" charset="-122"/>
                <a:cs typeface="Calibri" pitchFamily="34" charset="-120"/>
              </a:rPr>
              <a:t>Boleh apa</a:t>
            </a:r>
            <a:endParaRPr lang="en-US" sz="1050" dirty="0"/>
          </a:p>
        </p:txBody>
      </p:sp>
      <p:sp>
        <p:nvSpPr>
          <p:cNvPr id="7" name="Shape 5"/>
          <p:cNvSpPr/>
          <p:nvPr/>
        </p:nvSpPr>
        <p:spPr>
          <a:xfrm>
            <a:off x="777240" y="2103120"/>
            <a:ext cx="6766560" cy="0"/>
          </a:xfrm>
          <a:prstGeom prst="line">
            <a:avLst/>
          </a:prstGeom>
          <a:noFill/>
          <a:ln w="9525">
            <a:solidFill>
              <a:srgbClr val="E3E8EF"/>
            </a:solidFill>
            <a:prstDash val="solid"/>
          </a:ln>
        </p:spPr>
        <p:txBody>
          <a:bodyPr/>
          <a:p/>
        </p:txBody>
      </p:sp>
      <p:sp>
        <p:nvSpPr>
          <p:cNvPr id="8" name="Text 6"/>
          <p:cNvSpPr/>
          <p:nvPr/>
        </p:nvSpPr>
        <p:spPr>
          <a:xfrm>
            <a:off x="777240" y="2176272"/>
            <a:ext cx="2194560" cy="402336"/>
          </a:xfrm>
          <a:prstGeom prst="rect">
            <a:avLst/>
          </a:prstGeom>
          <a:noFill/>
          <a:ln/>
        </p:spPr>
        <p:txBody>
          <a:bodyPr wrap="square" lIns="0" tIns="0" rIns="0" bIns="0" rtlCol="0" anchor="ctr"/>
          <a:lstStyle/>
          <a:p>
            <a:pPr algn="l" indent="0" marL="0">
              <a:buNone/>
            </a:pPr>
            <a:r>
              <a:rPr lang="en-US" sz="1500" b="1" dirty="0">
                <a:solidFill>
                  <a:srgbClr val="002452"/>
                </a:solidFill>
                <a:latin typeface="Calibri" pitchFamily="34" charset="0"/>
                <a:ea typeface="Calibri" pitchFamily="34" charset="-122"/>
                <a:cs typeface="Calibri" pitchFamily="34" charset="-120"/>
              </a:rPr>
              <a:t>staff@demo</a:t>
            </a:r>
            <a:endParaRPr lang="en-US" sz="1500" dirty="0"/>
          </a:p>
        </p:txBody>
      </p:sp>
      <p:sp>
        <p:nvSpPr>
          <p:cNvPr id="9" name="Text 7"/>
          <p:cNvSpPr/>
          <p:nvPr/>
        </p:nvSpPr>
        <p:spPr>
          <a:xfrm>
            <a:off x="3063240" y="2176272"/>
            <a:ext cx="1828800" cy="402336"/>
          </a:xfrm>
          <a:prstGeom prst="rect">
            <a:avLst/>
          </a:prstGeom>
          <a:noFill/>
          <a:ln/>
        </p:spPr>
        <p:txBody>
          <a:bodyPr wrap="square" lIns="0" tIns="0" rIns="0" bIns="0" rtlCol="0" anchor="ctr"/>
          <a:lstStyle/>
          <a:p>
            <a:pPr algn="l" indent="0" marL="0">
              <a:buNone/>
            </a:pPr>
            <a:r>
              <a:rPr lang="en-US" sz="1500" dirty="0">
                <a:solidFill>
                  <a:srgbClr val="0051D5"/>
                </a:solidFill>
                <a:latin typeface="Calibri" pitchFamily="34" charset="0"/>
                <a:ea typeface="Calibri" pitchFamily="34" charset="-122"/>
                <a:cs typeface="Calibri" pitchFamily="34" charset="-120"/>
              </a:rPr>
              <a:t>staff123</a:t>
            </a:r>
            <a:endParaRPr lang="en-US" sz="1500" dirty="0"/>
          </a:p>
        </p:txBody>
      </p:sp>
      <p:sp>
        <p:nvSpPr>
          <p:cNvPr id="10" name="Text 8"/>
          <p:cNvSpPr/>
          <p:nvPr/>
        </p:nvSpPr>
        <p:spPr>
          <a:xfrm>
            <a:off x="4983480" y="2176272"/>
            <a:ext cx="2651760" cy="402336"/>
          </a:xfrm>
          <a:prstGeom prst="rect">
            <a:avLst/>
          </a:prstGeom>
          <a:noFill/>
          <a:ln/>
        </p:spPr>
        <p:txBody>
          <a:bodyPr wrap="square" lIns="0" tIns="0" rIns="0" bIns="0" rtlCol="0" anchor="ctr"/>
          <a:lstStyle/>
          <a:p>
            <a:pPr algn="l" indent="0" marL="0">
              <a:buNone/>
            </a:pPr>
            <a:r>
              <a:rPr lang="en-US" sz="1100" dirty="0">
                <a:solidFill>
                  <a:srgbClr val="44474F"/>
                </a:solidFill>
                <a:latin typeface="Calibri" pitchFamily="34" charset="0"/>
                <a:ea typeface="Calibri" pitchFamily="34" charset="-122"/>
                <a:cs typeface="Calibri" pitchFamily="34" charset="-120"/>
              </a:rPr>
              <a:t>unggah dokumen dan lihat hasilnya sendiri</a:t>
            </a:r>
            <a:endParaRPr lang="en-US" sz="1100" dirty="0"/>
          </a:p>
        </p:txBody>
      </p:sp>
      <p:sp>
        <p:nvSpPr>
          <p:cNvPr id="11" name="Shape 9"/>
          <p:cNvSpPr/>
          <p:nvPr/>
        </p:nvSpPr>
        <p:spPr>
          <a:xfrm>
            <a:off x="777240" y="2670048"/>
            <a:ext cx="6766560" cy="0"/>
          </a:xfrm>
          <a:prstGeom prst="line">
            <a:avLst/>
          </a:prstGeom>
          <a:noFill/>
          <a:ln w="9525">
            <a:solidFill>
              <a:srgbClr val="E3E8EF"/>
            </a:solidFill>
            <a:prstDash val="solid"/>
          </a:ln>
        </p:spPr>
        <p:txBody>
          <a:bodyPr/>
          <a:p/>
        </p:txBody>
      </p:sp>
      <p:sp>
        <p:nvSpPr>
          <p:cNvPr id="12" name="Text 10"/>
          <p:cNvSpPr/>
          <p:nvPr/>
        </p:nvSpPr>
        <p:spPr>
          <a:xfrm>
            <a:off x="777240" y="2743200"/>
            <a:ext cx="2194560" cy="402336"/>
          </a:xfrm>
          <a:prstGeom prst="rect">
            <a:avLst/>
          </a:prstGeom>
          <a:noFill/>
          <a:ln/>
        </p:spPr>
        <p:txBody>
          <a:bodyPr wrap="square" lIns="0" tIns="0" rIns="0" bIns="0" rtlCol="0" anchor="ctr"/>
          <a:lstStyle/>
          <a:p>
            <a:pPr algn="l" indent="0" marL="0">
              <a:buNone/>
            </a:pPr>
            <a:r>
              <a:rPr lang="en-US" sz="1500" b="1" dirty="0">
                <a:solidFill>
                  <a:srgbClr val="002452"/>
                </a:solidFill>
                <a:latin typeface="Calibri" pitchFamily="34" charset="0"/>
                <a:ea typeface="Calibri" pitchFamily="34" charset="-122"/>
                <a:cs typeface="Calibri" pitchFamily="34" charset="-120"/>
              </a:rPr>
              <a:t>finance@demo</a:t>
            </a:r>
            <a:endParaRPr lang="en-US" sz="1500" dirty="0"/>
          </a:p>
        </p:txBody>
      </p:sp>
      <p:sp>
        <p:nvSpPr>
          <p:cNvPr id="13" name="Text 11"/>
          <p:cNvSpPr/>
          <p:nvPr/>
        </p:nvSpPr>
        <p:spPr>
          <a:xfrm>
            <a:off x="3063240" y="2743200"/>
            <a:ext cx="1828800" cy="402336"/>
          </a:xfrm>
          <a:prstGeom prst="rect">
            <a:avLst/>
          </a:prstGeom>
          <a:noFill/>
          <a:ln/>
        </p:spPr>
        <p:txBody>
          <a:bodyPr wrap="square" lIns="0" tIns="0" rIns="0" bIns="0" rtlCol="0" anchor="ctr"/>
          <a:lstStyle/>
          <a:p>
            <a:pPr algn="l" indent="0" marL="0">
              <a:buNone/>
            </a:pPr>
            <a:r>
              <a:rPr lang="en-US" sz="1500" dirty="0">
                <a:solidFill>
                  <a:srgbClr val="0051D5"/>
                </a:solidFill>
                <a:latin typeface="Calibri" pitchFamily="34" charset="0"/>
                <a:ea typeface="Calibri" pitchFamily="34" charset="-122"/>
                <a:cs typeface="Calibri" pitchFamily="34" charset="-120"/>
              </a:rPr>
              <a:t>finance123</a:t>
            </a:r>
            <a:endParaRPr lang="en-US" sz="1500" dirty="0"/>
          </a:p>
        </p:txBody>
      </p:sp>
      <p:sp>
        <p:nvSpPr>
          <p:cNvPr id="14" name="Text 12"/>
          <p:cNvSpPr/>
          <p:nvPr/>
        </p:nvSpPr>
        <p:spPr>
          <a:xfrm>
            <a:off x="4983480" y="2743200"/>
            <a:ext cx="2651760" cy="402336"/>
          </a:xfrm>
          <a:prstGeom prst="rect">
            <a:avLst/>
          </a:prstGeom>
          <a:noFill/>
          <a:ln/>
        </p:spPr>
        <p:txBody>
          <a:bodyPr wrap="square" lIns="0" tIns="0" rIns="0" bIns="0" rtlCol="0" anchor="ctr"/>
          <a:lstStyle/>
          <a:p>
            <a:pPr algn="l" indent="0" marL="0">
              <a:buNone/>
            </a:pPr>
            <a:r>
              <a:rPr lang="en-US" sz="1100" dirty="0">
                <a:solidFill>
                  <a:srgbClr val="44474F"/>
                </a:solidFill>
                <a:latin typeface="Calibri" pitchFamily="34" charset="0"/>
                <a:ea typeface="Calibri" pitchFamily="34" charset="-122"/>
                <a:cs typeface="Calibri" pitchFamily="34" charset="-120"/>
              </a:rPr>
              <a:t>koreksi field. Tidak punya wewenang menyetujui</a:t>
            </a:r>
            <a:endParaRPr lang="en-US" sz="1100" dirty="0"/>
          </a:p>
        </p:txBody>
      </p:sp>
      <p:sp>
        <p:nvSpPr>
          <p:cNvPr id="15" name="Shape 13"/>
          <p:cNvSpPr/>
          <p:nvPr/>
        </p:nvSpPr>
        <p:spPr>
          <a:xfrm>
            <a:off x="777240" y="3236976"/>
            <a:ext cx="6766560" cy="0"/>
          </a:xfrm>
          <a:prstGeom prst="line">
            <a:avLst/>
          </a:prstGeom>
          <a:noFill/>
          <a:ln w="9525">
            <a:solidFill>
              <a:srgbClr val="E3E8EF"/>
            </a:solidFill>
            <a:prstDash val="solid"/>
          </a:ln>
        </p:spPr>
        <p:txBody>
          <a:bodyPr/>
          <a:p/>
        </p:txBody>
      </p:sp>
      <p:sp>
        <p:nvSpPr>
          <p:cNvPr id="16" name="Text 14"/>
          <p:cNvSpPr/>
          <p:nvPr/>
        </p:nvSpPr>
        <p:spPr>
          <a:xfrm>
            <a:off x="777240" y="3310128"/>
            <a:ext cx="2194560" cy="402336"/>
          </a:xfrm>
          <a:prstGeom prst="rect">
            <a:avLst/>
          </a:prstGeom>
          <a:noFill/>
          <a:ln/>
        </p:spPr>
        <p:txBody>
          <a:bodyPr wrap="square" lIns="0" tIns="0" rIns="0" bIns="0" rtlCol="0" anchor="ctr"/>
          <a:lstStyle/>
          <a:p>
            <a:pPr algn="l" indent="0" marL="0">
              <a:buNone/>
            </a:pPr>
            <a:r>
              <a:rPr lang="en-US" sz="1500" b="1" dirty="0">
                <a:solidFill>
                  <a:srgbClr val="002452"/>
                </a:solidFill>
                <a:latin typeface="Calibri" pitchFamily="34" charset="0"/>
                <a:ea typeface="Calibri" pitchFamily="34" charset="-122"/>
                <a:cs typeface="Calibri" pitchFamily="34" charset="-120"/>
              </a:rPr>
              <a:t>admin@demo</a:t>
            </a:r>
            <a:endParaRPr lang="en-US" sz="1500" dirty="0"/>
          </a:p>
        </p:txBody>
      </p:sp>
      <p:sp>
        <p:nvSpPr>
          <p:cNvPr id="17" name="Text 15"/>
          <p:cNvSpPr/>
          <p:nvPr/>
        </p:nvSpPr>
        <p:spPr>
          <a:xfrm>
            <a:off x="3063240" y="3310128"/>
            <a:ext cx="1828800" cy="402336"/>
          </a:xfrm>
          <a:prstGeom prst="rect">
            <a:avLst/>
          </a:prstGeom>
          <a:noFill/>
          <a:ln/>
        </p:spPr>
        <p:txBody>
          <a:bodyPr wrap="square" lIns="0" tIns="0" rIns="0" bIns="0" rtlCol="0" anchor="ctr"/>
          <a:lstStyle/>
          <a:p>
            <a:pPr algn="l" indent="0" marL="0">
              <a:buNone/>
            </a:pPr>
            <a:r>
              <a:rPr lang="en-US" sz="1500" dirty="0">
                <a:solidFill>
                  <a:srgbClr val="0051D5"/>
                </a:solidFill>
                <a:latin typeface="Calibri" pitchFamily="34" charset="0"/>
                <a:ea typeface="Calibri" pitchFamily="34" charset="-122"/>
                <a:cs typeface="Calibri" pitchFamily="34" charset="-120"/>
              </a:rPr>
              <a:t>admin123</a:t>
            </a:r>
            <a:endParaRPr lang="en-US" sz="1500" dirty="0"/>
          </a:p>
        </p:txBody>
      </p:sp>
      <p:sp>
        <p:nvSpPr>
          <p:cNvPr id="18" name="Text 16"/>
          <p:cNvSpPr/>
          <p:nvPr/>
        </p:nvSpPr>
        <p:spPr>
          <a:xfrm>
            <a:off x="4983480" y="3310128"/>
            <a:ext cx="2651760" cy="402336"/>
          </a:xfrm>
          <a:prstGeom prst="rect">
            <a:avLst/>
          </a:prstGeom>
          <a:noFill/>
          <a:ln/>
        </p:spPr>
        <p:txBody>
          <a:bodyPr wrap="square" lIns="0" tIns="0" rIns="0" bIns="0" rtlCol="0" anchor="ctr"/>
          <a:lstStyle/>
          <a:p>
            <a:pPr algn="l" indent="0" marL="0">
              <a:buNone/>
            </a:pPr>
            <a:r>
              <a:rPr lang="en-US" sz="1100" dirty="0">
                <a:solidFill>
                  <a:srgbClr val="44474F"/>
                </a:solidFill>
                <a:latin typeface="Calibri" pitchFamily="34" charset="0"/>
                <a:ea typeface="Calibri" pitchFamily="34" charset="-122"/>
                <a:cs typeface="Calibri" pitchFamily="34" charset="-120"/>
              </a:rPr>
              <a:t>satu satunya yang boleh approve</a:t>
            </a:r>
            <a:endParaRPr lang="en-US" sz="1100" dirty="0"/>
          </a:p>
        </p:txBody>
      </p:sp>
      <p:sp>
        <p:nvSpPr>
          <p:cNvPr id="19" name="Shape 17"/>
          <p:cNvSpPr/>
          <p:nvPr/>
        </p:nvSpPr>
        <p:spPr>
          <a:xfrm>
            <a:off x="777240" y="3803904"/>
            <a:ext cx="6766560" cy="0"/>
          </a:xfrm>
          <a:prstGeom prst="line">
            <a:avLst/>
          </a:prstGeom>
          <a:noFill/>
          <a:ln w="9525">
            <a:solidFill>
              <a:srgbClr val="E3E8EF"/>
            </a:solidFill>
            <a:prstDash val="solid"/>
          </a:ln>
        </p:spPr>
        <p:txBody>
          <a:bodyPr/>
          <a:p/>
        </p:txBody>
      </p:sp>
      <p:sp>
        <p:nvSpPr>
          <p:cNvPr id="20" name="Text 18"/>
          <p:cNvSpPr/>
          <p:nvPr/>
        </p:nvSpPr>
        <p:spPr>
          <a:xfrm>
            <a:off x="777240" y="4032504"/>
            <a:ext cx="6766560" cy="548640"/>
          </a:xfrm>
          <a:prstGeom prst="rect">
            <a:avLst/>
          </a:prstGeom>
          <a:noFill/>
          <a:ln/>
        </p:spPr>
        <p:txBody>
          <a:bodyPr wrap="square" lIns="0" tIns="0" rIns="0" bIns="0" rtlCol="0" anchor="t"/>
          <a:lstStyle/>
          <a:p>
            <a:pPr algn="l" indent="0" marL="0">
              <a:buNone/>
            </a:pPr>
            <a:r>
              <a:rPr lang="en-US" sz="1200" dirty="0">
                <a:solidFill>
                  <a:srgbClr val="1A2433"/>
                </a:solidFill>
                <a:latin typeface="Calibri" pitchFamily="34" charset="0"/>
                <a:ea typeface="Calibri" pitchFamily="34" charset="-122"/>
                <a:cs typeface="Calibri" pitchFamily="34" charset="-120"/>
              </a:rPr>
              <a:t>Polanya nama peran ditambah 123. Kredensial ini juga tercetak di bawah tombol Sign in, jadi kalau lupa, lihat saja layarnya.</a:t>
            </a:r>
            <a:endParaRPr lang="en-US" sz="1200" dirty="0"/>
          </a:p>
        </p:txBody>
      </p:sp>
      <p:sp>
        <p:nvSpPr>
          <p:cNvPr id="21" name="Text 19"/>
          <p:cNvSpPr/>
          <p:nvPr/>
        </p:nvSpPr>
        <p:spPr>
          <a:xfrm>
            <a:off x="777240" y="4672584"/>
            <a:ext cx="6766560" cy="640080"/>
          </a:xfrm>
          <a:prstGeom prst="rect">
            <a:avLst/>
          </a:prstGeom>
          <a:noFill/>
          <a:ln/>
        </p:spPr>
        <p:txBody>
          <a:bodyPr wrap="square" lIns="0" tIns="0" rIns="0" bIns="0" rtlCol="0" anchor="t"/>
          <a:lstStyle/>
          <a:p>
            <a:pPr algn="l" indent="0" marL="0">
              <a:buNone/>
            </a:pPr>
            <a:r>
              <a:rPr lang="en-US" sz="1200" b="1" dirty="0">
                <a:solidFill>
                  <a:srgbClr val="002452"/>
                </a:solidFill>
                <a:latin typeface="Calibri" pitchFamily="34" charset="0"/>
                <a:ea typeface="Calibri" pitchFamily="34" charset="-122"/>
                <a:cs typeface="Calibri" pitchFamily="34" charset="-120"/>
              </a:rPr>
              <a:t>Jangan berpindah akun lewat halaman login berkali kali di depan penguji. Cukup dua kali, admin ke finance lalu finance ke admin, seperti di slide 5.</a:t>
            </a:r>
            <a:endParaRPr lang="en-US" sz="1200" dirty="0"/>
          </a:p>
        </p:txBody>
      </p:sp>
      <p:pic>
        <p:nvPicPr>
          <p:cNvPr id="22" name="Image 0" descr="/sessions/determined-intelligent-pascal/mnt/outputs/assets/login.png">    </p:cNvPr>
          <p:cNvPicPr>
            <a:picLocks noChangeAspect="1"/>
          </p:cNvPicPr>
          <p:nvPr/>
        </p:nvPicPr>
        <p:blipFill>
          <a:blip r:embed="rId1"/>
          <a:stretch>
            <a:fillRect/>
          </a:stretch>
        </p:blipFill>
        <p:spPr>
          <a:xfrm>
            <a:off x="7589520" y="1828800"/>
            <a:ext cx="3794760" cy="2377440"/>
          </a:xfrm>
          <a:prstGeom prst="rect">
            <a:avLst/>
          </a:prstGeom>
        </p:spPr>
      </p:pic>
      <p:sp>
        <p:nvSpPr>
          <p:cNvPr id="23" name="Text 20"/>
          <p:cNvSpPr/>
          <p:nvPr/>
        </p:nvSpPr>
        <p:spPr>
          <a:xfrm>
            <a:off x="7589520" y="4279392"/>
            <a:ext cx="3794760" cy="274320"/>
          </a:xfrm>
          <a:prstGeom prst="rect">
            <a:avLst/>
          </a:prstGeom>
          <a:noFill/>
          <a:ln/>
        </p:spPr>
        <p:txBody>
          <a:bodyPr wrap="square" lIns="0" tIns="0" rIns="0" bIns="0" rtlCol="0" anchor="t"/>
          <a:lstStyle/>
          <a:p>
            <a:pPr algn="l" indent="0" marL="0">
              <a:buNone/>
            </a:pPr>
            <a:r>
              <a:rPr lang="en-US" sz="1050" i="1" dirty="0">
                <a:solidFill>
                  <a:srgbClr val="44474F"/>
                </a:solidFill>
                <a:latin typeface="Calibri" pitchFamily="34" charset="0"/>
                <a:ea typeface="Calibri" pitchFamily="34" charset="-122"/>
                <a:cs typeface="Calibri" pitchFamily="34" charset="-120"/>
              </a:rPr>
              <a:t>Tab Staff, Finance, Admin di kartu login mengisi kredensial secara otomatis.</a:t>
            </a:r>
            <a:endParaRPr lang="en-US" sz="1050" dirty="0"/>
          </a:p>
        </p:txBody>
      </p:sp>
      <p:sp>
        <p:nvSpPr>
          <p:cNvPr id="24" name="Text 21"/>
          <p:cNvSpPr/>
          <p:nvPr/>
        </p:nvSpPr>
        <p:spPr>
          <a:xfrm>
            <a:off x="777240" y="6400800"/>
            <a:ext cx="10607040" cy="256032"/>
          </a:xfrm>
          <a:prstGeom prst="rect">
            <a:avLst/>
          </a:prstGeom>
          <a:noFill/>
          <a:ln/>
        </p:spPr>
        <p:txBody>
          <a:bodyPr wrap="square" lIns="0" tIns="0" rIns="0" bIns="0" rtlCol="0" anchor="ctr"/>
          <a:lstStyle/>
          <a:p>
            <a:pPr algn="l" indent="0" marL="0">
              <a:buNone/>
            </a:pPr>
            <a:r>
              <a:rPr lang="en-US" sz="900" dirty="0">
                <a:solidFill>
                  <a:srgbClr val="8A9099"/>
                </a:solidFill>
                <a:latin typeface="Calibri" pitchFamily="34" charset="0"/>
                <a:ea typeface="Calibri" pitchFamily="34" charset="-122"/>
                <a:cs typeface="Calibri" pitchFamily="34" charset="-120"/>
              </a:rPr>
              <a:t>Panduan demo, pegangan presenter  3/8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10607040" cy="502920"/>
          </a:xfrm>
          <a:prstGeom prst="rect">
            <a:avLst/>
          </a:prstGeom>
          <a:noFill/>
          <a:ln/>
        </p:spPr>
        <p:txBody>
          <a:bodyPr wrap="square" lIns="0" tIns="0" rIns="0" bIns="0" rtlCol="0" anchor="ctr"/>
          <a:lstStyle/>
          <a:p>
            <a:pPr algn="l" indent="0" marL="0">
              <a:buNone/>
            </a:pPr>
            <a:r>
              <a:rPr lang="en-US" sz="3000" b="1" dirty="0">
                <a:solidFill>
                  <a:srgbClr val="002452"/>
                </a:solidFill>
                <a:latin typeface="Calibri" pitchFamily="34" charset="0"/>
                <a:ea typeface="Calibri" pitchFamily="34" charset="-122"/>
                <a:cs typeface="Calibri" pitchFamily="34" charset="-120"/>
              </a:rPr>
              <a:t>Alur demo, langkah 1 sampai 4</a:t>
            </a:r>
            <a:endParaRPr lang="en-US" sz="3000" dirty="0"/>
          </a:p>
        </p:txBody>
      </p:sp>
      <p:sp>
        <p:nvSpPr>
          <p:cNvPr id="3" name="Text 1"/>
          <p:cNvSpPr/>
          <p:nvPr/>
        </p:nvSpPr>
        <p:spPr>
          <a:xfrm>
            <a:off x="777240" y="969264"/>
            <a:ext cx="10607040" cy="310896"/>
          </a:xfrm>
          <a:prstGeom prst="rect">
            <a:avLst/>
          </a:prstGeom>
          <a:noFill/>
          <a:ln/>
        </p:spPr>
        <p:txBody>
          <a:bodyPr wrap="square" lIns="0" tIns="0" rIns="0" bIns="0" rtlCol="0" anchor="ctr"/>
          <a:lstStyle/>
          <a:p>
            <a:pPr algn="l" indent="0" marL="0">
              <a:buNone/>
            </a:pPr>
            <a:r>
              <a:rPr lang="en-US" sz="1350" dirty="0">
                <a:solidFill>
                  <a:srgbClr val="44474F"/>
                </a:solidFill>
                <a:latin typeface="Calibri" pitchFamily="34" charset="0"/>
                <a:ea typeface="Calibri" pitchFamily="34" charset="-122"/>
                <a:cs typeface="Calibri" pitchFamily="34" charset="-120"/>
              </a:rPr>
              <a:t>Sebagai admin. Perkiraan waktu ada di kanan tiap langkah</a:t>
            </a:r>
            <a:endParaRPr lang="en-US" sz="1350" dirty="0"/>
          </a:p>
        </p:txBody>
      </p:sp>
      <p:sp>
        <p:nvSpPr>
          <p:cNvPr id="4" name="Text 2"/>
          <p:cNvSpPr/>
          <p:nvPr/>
        </p:nvSpPr>
        <p:spPr>
          <a:xfrm>
            <a:off x="777240" y="1828800"/>
            <a:ext cx="457200" cy="310896"/>
          </a:xfrm>
          <a:prstGeom prst="rect">
            <a:avLst/>
          </a:prstGeom>
          <a:noFill/>
          <a:ln/>
        </p:spPr>
        <p:txBody>
          <a:bodyPr wrap="square" lIns="0" tIns="0" rIns="0" bIns="0" rtlCol="0" anchor="ctr"/>
          <a:lstStyle/>
          <a:p>
            <a:pPr algn="l" indent="0" marL="0">
              <a:buNone/>
            </a:pPr>
            <a:r>
              <a:rPr lang="en-US" sz="1500" b="1" dirty="0">
                <a:solidFill>
                  <a:srgbClr val="0051D5"/>
                </a:solidFill>
                <a:latin typeface="Calibri" pitchFamily="34" charset="0"/>
                <a:ea typeface="Calibri" pitchFamily="34" charset="-122"/>
                <a:cs typeface="Calibri" pitchFamily="34" charset="-120"/>
              </a:rPr>
              <a:t>1</a:t>
            </a:r>
            <a:endParaRPr lang="en-US" sz="1500" dirty="0"/>
          </a:p>
        </p:txBody>
      </p:sp>
      <p:sp>
        <p:nvSpPr>
          <p:cNvPr id="5" name="Text 3"/>
          <p:cNvSpPr/>
          <p:nvPr/>
        </p:nvSpPr>
        <p:spPr>
          <a:xfrm>
            <a:off x="1234440" y="1828800"/>
            <a:ext cx="6949440" cy="310896"/>
          </a:xfrm>
          <a:prstGeom prst="rect">
            <a:avLst/>
          </a:prstGeom>
          <a:noFill/>
          <a:ln/>
        </p:spPr>
        <p:txBody>
          <a:bodyPr wrap="square" lIns="0" tIns="0" rIns="0" bIns="0" rtlCol="0" anchor="ctr"/>
          <a:lstStyle/>
          <a:p>
            <a:pPr algn="l" indent="0" marL="0">
              <a:buNone/>
            </a:pPr>
            <a:r>
              <a:rPr lang="en-US" sz="1500" b="1" dirty="0">
                <a:solidFill>
                  <a:srgbClr val="002452"/>
                </a:solidFill>
                <a:latin typeface="Calibri" pitchFamily="34" charset="0"/>
                <a:ea typeface="Calibri" pitchFamily="34" charset="-122"/>
                <a:cs typeface="Calibri" pitchFamily="34" charset="-120"/>
              </a:rPr>
              <a:t>Upload satu invoice yang bersih</a:t>
            </a:r>
            <a:endParaRPr lang="en-US" sz="1500" dirty="0"/>
          </a:p>
        </p:txBody>
      </p:sp>
      <p:sp>
        <p:nvSpPr>
          <p:cNvPr id="6" name="Text 4"/>
          <p:cNvSpPr/>
          <p:nvPr/>
        </p:nvSpPr>
        <p:spPr>
          <a:xfrm>
            <a:off x="9692640" y="1828800"/>
            <a:ext cx="1691640" cy="310896"/>
          </a:xfrm>
          <a:prstGeom prst="rect">
            <a:avLst/>
          </a:prstGeom>
          <a:noFill/>
          <a:ln/>
        </p:spPr>
        <p:txBody>
          <a:bodyPr wrap="square" lIns="0" tIns="0" rIns="0" bIns="0" rtlCol="0" anchor="ctr"/>
          <a:lstStyle/>
          <a:p>
            <a:pPr algn="r" indent="0" marL="0">
              <a:buNone/>
            </a:pPr>
            <a:r>
              <a:rPr lang="en-US" sz="1200" b="1" dirty="0">
                <a:solidFill>
                  <a:srgbClr val="44474F"/>
                </a:solidFill>
                <a:latin typeface="Calibri" pitchFamily="34" charset="0"/>
                <a:ea typeface="Calibri" pitchFamily="34" charset="-122"/>
                <a:cs typeface="Calibri" pitchFamily="34" charset="-120"/>
              </a:rPr>
              <a:t>40 detik</a:t>
            </a:r>
            <a:endParaRPr lang="en-US" sz="1200" dirty="0"/>
          </a:p>
        </p:txBody>
      </p:sp>
      <p:sp>
        <p:nvSpPr>
          <p:cNvPr id="7" name="Text 5"/>
          <p:cNvSpPr/>
          <p:nvPr/>
        </p:nvSpPr>
        <p:spPr>
          <a:xfrm>
            <a:off x="1234440" y="2130552"/>
            <a:ext cx="10149840" cy="329184"/>
          </a:xfrm>
          <a:prstGeom prst="rect">
            <a:avLst/>
          </a:prstGeom>
          <a:noFill/>
          <a:ln/>
        </p:spPr>
        <p:txBody>
          <a:bodyPr wrap="square" lIns="0" tIns="0" rIns="0" bIns="0" rtlCol="0" anchor="t"/>
          <a:lstStyle/>
          <a:p>
            <a:pPr algn="l" indent="0" marL="0">
              <a:buNone/>
            </a:pPr>
            <a:r>
              <a:rPr lang="en-US" sz="1150" dirty="0">
                <a:solidFill>
                  <a:srgbClr val="44474F"/>
                </a:solidFill>
                <a:latin typeface="Calibri" pitchFamily="34" charset="0"/>
                <a:ea typeface="Calibri" pitchFamily="34" charset="-122"/>
                <a:cs typeface="Calibri" pitchFamily="34" charset="-120"/>
              </a:rPr>
              <a:t>Buka Upload, seret berkas invoice bersih ke area unggah, tekan proses. Jangan mengunggah banyak berkas sekaligus.</a:t>
            </a:r>
            <a:endParaRPr lang="en-US" sz="1150" dirty="0"/>
          </a:p>
        </p:txBody>
      </p:sp>
      <p:sp>
        <p:nvSpPr>
          <p:cNvPr id="8" name="Text 6"/>
          <p:cNvSpPr/>
          <p:nvPr/>
        </p:nvSpPr>
        <p:spPr>
          <a:xfrm>
            <a:off x="1234440" y="2450592"/>
            <a:ext cx="10149840" cy="310896"/>
          </a:xfrm>
          <a:prstGeom prst="rect">
            <a:avLst/>
          </a:prstGeom>
          <a:noFill/>
          <a:ln/>
        </p:spPr>
        <p:txBody>
          <a:bodyPr wrap="square" lIns="0" tIns="0" rIns="0" bIns="0" rtlCol="0" anchor="t"/>
          <a:lstStyle/>
          <a:p>
            <a:pPr algn="l" indent="0" marL="0">
              <a:buNone/>
            </a:pPr>
            <a:r>
              <a:rPr lang="en-US" sz="1100" b="1" dirty="0">
                <a:solidFill>
                  <a:srgbClr val="0051D5"/>
                </a:solidFill>
                <a:latin typeface="Calibri" pitchFamily="34" charset="0"/>
                <a:ea typeface="Calibri" pitchFamily="34" charset="-122"/>
                <a:cs typeface="Calibri" pitchFamily="34" charset="-120"/>
              </a:rPr>
              <a:t>Ucapkan:  </a:t>
            </a:r>
            <a:pPr algn="l" indent="0" marL="0">
              <a:buNone/>
            </a:pPr>
            <a:r>
              <a:rPr lang="en-US" sz="1100" i="1" dirty="0">
                <a:solidFill>
                  <a:srgbClr val="1A2433"/>
                </a:solidFill>
                <a:latin typeface="Calibri" pitchFamily="34" charset="0"/>
                <a:ea typeface="Calibri" pitchFamily="34" charset="-122"/>
                <a:cs typeface="Calibri" pitchFamily="34" charset="-120"/>
              </a:rPr>
              <a:t>Berkasnya saya seret ke sini, dan mulai titik ini semuanya jalan di laptop ini, tidak ada yang dikirim ke mana pun.</a:t>
            </a:r>
            <a:endParaRPr lang="en-US" sz="1100" dirty="0"/>
          </a:p>
        </p:txBody>
      </p:sp>
      <p:sp>
        <p:nvSpPr>
          <p:cNvPr id="9" name="Text 7"/>
          <p:cNvSpPr/>
          <p:nvPr/>
        </p:nvSpPr>
        <p:spPr>
          <a:xfrm>
            <a:off x="777240" y="2880360"/>
            <a:ext cx="457200" cy="310896"/>
          </a:xfrm>
          <a:prstGeom prst="rect">
            <a:avLst/>
          </a:prstGeom>
          <a:noFill/>
          <a:ln/>
        </p:spPr>
        <p:txBody>
          <a:bodyPr wrap="square" lIns="0" tIns="0" rIns="0" bIns="0" rtlCol="0" anchor="ctr"/>
          <a:lstStyle/>
          <a:p>
            <a:pPr algn="l" indent="0" marL="0">
              <a:buNone/>
            </a:pPr>
            <a:r>
              <a:rPr lang="en-US" sz="1500" b="1" dirty="0">
                <a:solidFill>
                  <a:srgbClr val="0051D5"/>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234440" y="2880360"/>
            <a:ext cx="6949440" cy="310896"/>
          </a:xfrm>
          <a:prstGeom prst="rect">
            <a:avLst/>
          </a:prstGeom>
          <a:noFill/>
          <a:ln/>
        </p:spPr>
        <p:txBody>
          <a:bodyPr wrap="square" lIns="0" tIns="0" rIns="0" bIns="0" rtlCol="0" anchor="ctr"/>
          <a:lstStyle/>
          <a:p>
            <a:pPr algn="l" indent="0" marL="0">
              <a:buNone/>
            </a:pPr>
            <a:r>
              <a:rPr lang="en-US" sz="1500" b="1" dirty="0">
                <a:solidFill>
                  <a:srgbClr val="002452"/>
                </a:solidFill>
                <a:latin typeface="Calibri" pitchFamily="34" charset="0"/>
                <a:ea typeface="Calibri" pitchFamily="34" charset="-122"/>
                <a:cs typeface="Calibri" pitchFamily="34" charset="-120"/>
              </a:rPr>
              <a:t>Tunggu ekstraksi sambil bicara</a:t>
            </a:r>
            <a:endParaRPr lang="en-US" sz="1500" dirty="0"/>
          </a:p>
        </p:txBody>
      </p:sp>
      <p:sp>
        <p:nvSpPr>
          <p:cNvPr id="11" name="Text 9"/>
          <p:cNvSpPr/>
          <p:nvPr/>
        </p:nvSpPr>
        <p:spPr>
          <a:xfrm>
            <a:off x="9692640" y="2880360"/>
            <a:ext cx="1691640" cy="310896"/>
          </a:xfrm>
          <a:prstGeom prst="rect">
            <a:avLst/>
          </a:prstGeom>
          <a:noFill/>
          <a:ln/>
        </p:spPr>
        <p:txBody>
          <a:bodyPr wrap="square" lIns="0" tIns="0" rIns="0" bIns="0" rtlCol="0" anchor="ctr"/>
          <a:lstStyle/>
          <a:p>
            <a:pPr algn="r" indent="0" marL="0">
              <a:buNone/>
            </a:pPr>
            <a:r>
              <a:rPr lang="en-US" sz="1200" b="1" dirty="0">
                <a:solidFill>
                  <a:srgbClr val="44474F"/>
                </a:solidFill>
                <a:latin typeface="Calibri" pitchFamily="34" charset="0"/>
                <a:ea typeface="Calibri" pitchFamily="34" charset="-122"/>
                <a:cs typeface="Calibri" pitchFamily="34" charset="-120"/>
              </a:rPr>
              <a:t>sekitar 30 detik</a:t>
            </a:r>
            <a:endParaRPr lang="en-US" sz="1200" dirty="0"/>
          </a:p>
        </p:txBody>
      </p:sp>
      <p:sp>
        <p:nvSpPr>
          <p:cNvPr id="12" name="Text 10"/>
          <p:cNvSpPr/>
          <p:nvPr/>
        </p:nvSpPr>
        <p:spPr>
          <a:xfrm>
            <a:off x="1234440" y="3182112"/>
            <a:ext cx="10149840" cy="329184"/>
          </a:xfrm>
          <a:prstGeom prst="rect">
            <a:avLst/>
          </a:prstGeom>
          <a:noFill/>
          <a:ln/>
        </p:spPr>
        <p:txBody>
          <a:bodyPr wrap="square" lIns="0" tIns="0" rIns="0" bIns="0" rtlCol="0" anchor="t"/>
          <a:lstStyle/>
          <a:p>
            <a:pPr algn="l" indent="0" marL="0">
              <a:buNone/>
            </a:pPr>
            <a:r>
              <a:rPr lang="en-US" sz="1150" dirty="0">
                <a:solidFill>
                  <a:srgbClr val="44474F"/>
                </a:solidFill>
                <a:latin typeface="Calibri" pitchFamily="34" charset="0"/>
                <a:ea typeface="Calibri" pitchFamily="34" charset="-122"/>
                <a:cs typeface="Calibri" pitchFamily="34" charset="-120"/>
              </a:rPr>
              <a:t>Jangan diam menunggu. Isi jeda dengan menjelaskan bahwa model membaca gambar dokumen langsung, tanpa OCR engine terpisah.</a:t>
            </a:r>
            <a:endParaRPr lang="en-US" sz="1150" dirty="0"/>
          </a:p>
        </p:txBody>
      </p:sp>
      <p:sp>
        <p:nvSpPr>
          <p:cNvPr id="13" name="Text 11"/>
          <p:cNvSpPr/>
          <p:nvPr/>
        </p:nvSpPr>
        <p:spPr>
          <a:xfrm>
            <a:off x="1234440" y="3502152"/>
            <a:ext cx="10149840" cy="310896"/>
          </a:xfrm>
          <a:prstGeom prst="rect">
            <a:avLst/>
          </a:prstGeom>
          <a:noFill/>
          <a:ln/>
        </p:spPr>
        <p:txBody>
          <a:bodyPr wrap="square" lIns="0" tIns="0" rIns="0" bIns="0" rtlCol="0" anchor="t"/>
          <a:lstStyle/>
          <a:p>
            <a:pPr algn="l" indent="0" marL="0">
              <a:buNone/>
            </a:pPr>
            <a:r>
              <a:rPr lang="en-US" sz="1100" b="1" dirty="0">
                <a:solidFill>
                  <a:srgbClr val="0051D5"/>
                </a:solidFill>
                <a:latin typeface="Calibri" pitchFamily="34" charset="0"/>
                <a:ea typeface="Calibri" pitchFamily="34" charset="-122"/>
                <a:cs typeface="Calibri" pitchFamily="34" charset="-120"/>
              </a:rPr>
              <a:t>Ucapkan:  </a:t>
            </a:r>
            <a:pPr algn="l" indent="0" marL="0">
              <a:buNone/>
            </a:pPr>
            <a:r>
              <a:rPr lang="en-US" sz="1100" i="1" dirty="0">
                <a:solidFill>
                  <a:srgbClr val="1A2433"/>
                </a:solidFill>
                <a:latin typeface="Calibri" pitchFamily="34" charset="0"/>
                <a:ea typeface="Calibri" pitchFamily="34" charset="-122"/>
                <a:cs typeface="Calibri" pitchFamily="34" charset="-120"/>
              </a:rPr>
              <a:t>Sementara ini jalan, yang terjadi di belakang layar cuma satu panggilan. Gambar masuk, JSON keluar, tidak ada tahap tebak huruf di tengah.</a:t>
            </a:r>
            <a:endParaRPr lang="en-US" sz="1100" dirty="0"/>
          </a:p>
        </p:txBody>
      </p:sp>
      <p:sp>
        <p:nvSpPr>
          <p:cNvPr id="14" name="Text 12"/>
          <p:cNvSpPr/>
          <p:nvPr/>
        </p:nvSpPr>
        <p:spPr>
          <a:xfrm>
            <a:off x="777240" y="3931920"/>
            <a:ext cx="457200" cy="310896"/>
          </a:xfrm>
          <a:prstGeom prst="rect">
            <a:avLst/>
          </a:prstGeom>
          <a:noFill/>
          <a:ln/>
        </p:spPr>
        <p:txBody>
          <a:bodyPr wrap="square" lIns="0" tIns="0" rIns="0" bIns="0" rtlCol="0" anchor="ctr"/>
          <a:lstStyle/>
          <a:p>
            <a:pPr algn="l" indent="0" marL="0">
              <a:buNone/>
            </a:pPr>
            <a:r>
              <a:rPr lang="en-US" sz="1500" b="1" dirty="0">
                <a:solidFill>
                  <a:srgbClr val="0051D5"/>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234440" y="3931920"/>
            <a:ext cx="6949440" cy="310896"/>
          </a:xfrm>
          <a:prstGeom prst="rect">
            <a:avLst/>
          </a:prstGeom>
          <a:noFill/>
          <a:ln/>
        </p:spPr>
        <p:txBody>
          <a:bodyPr wrap="square" lIns="0" tIns="0" rIns="0" bIns="0" rtlCol="0" anchor="ctr"/>
          <a:lstStyle/>
          <a:p>
            <a:pPr algn="l" indent="0" marL="0">
              <a:buNone/>
            </a:pPr>
            <a:r>
              <a:rPr lang="en-US" sz="1500" b="1" dirty="0">
                <a:solidFill>
                  <a:srgbClr val="002452"/>
                </a:solidFill>
                <a:latin typeface="Calibri" pitchFamily="34" charset="0"/>
                <a:ea typeface="Calibri" pitchFamily="34" charset="-122"/>
                <a:cs typeface="Calibri" pitchFamily="34" charset="-120"/>
              </a:rPr>
              <a:t>Tunjukkan hasil berdampingan dengan dokumen sumber</a:t>
            </a:r>
            <a:endParaRPr lang="en-US" sz="1500" dirty="0"/>
          </a:p>
        </p:txBody>
      </p:sp>
      <p:sp>
        <p:nvSpPr>
          <p:cNvPr id="16" name="Text 14"/>
          <p:cNvSpPr/>
          <p:nvPr/>
        </p:nvSpPr>
        <p:spPr>
          <a:xfrm>
            <a:off x="9692640" y="3931920"/>
            <a:ext cx="1691640" cy="310896"/>
          </a:xfrm>
          <a:prstGeom prst="rect">
            <a:avLst/>
          </a:prstGeom>
          <a:noFill/>
          <a:ln/>
        </p:spPr>
        <p:txBody>
          <a:bodyPr wrap="square" lIns="0" tIns="0" rIns="0" bIns="0" rtlCol="0" anchor="ctr"/>
          <a:lstStyle/>
          <a:p>
            <a:pPr algn="r" indent="0" marL="0">
              <a:buNone/>
            </a:pPr>
            <a:r>
              <a:rPr lang="en-US" sz="1200" b="1" dirty="0">
                <a:solidFill>
                  <a:srgbClr val="44474F"/>
                </a:solidFill>
                <a:latin typeface="Calibri" pitchFamily="34" charset="0"/>
                <a:ea typeface="Calibri" pitchFamily="34" charset="-122"/>
                <a:cs typeface="Calibri" pitchFamily="34" charset="-120"/>
              </a:rPr>
              <a:t>50 detik</a:t>
            </a:r>
            <a:endParaRPr lang="en-US" sz="1200" dirty="0"/>
          </a:p>
        </p:txBody>
      </p:sp>
      <p:sp>
        <p:nvSpPr>
          <p:cNvPr id="17" name="Text 15"/>
          <p:cNvSpPr/>
          <p:nvPr/>
        </p:nvSpPr>
        <p:spPr>
          <a:xfrm>
            <a:off x="1234440" y="4233672"/>
            <a:ext cx="10149840" cy="329184"/>
          </a:xfrm>
          <a:prstGeom prst="rect">
            <a:avLst/>
          </a:prstGeom>
          <a:noFill/>
          <a:ln/>
        </p:spPr>
        <p:txBody>
          <a:bodyPr wrap="square" lIns="0" tIns="0" rIns="0" bIns="0" rtlCol="0" anchor="t"/>
          <a:lstStyle/>
          <a:p>
            <a:pPr algn="l" indent="0" marL="0">
              <a:buNone/>
            </a:pPr>
            <a:r>
              <a:rPr lang="en-US" sz="1150" dirty="0">
                <a:solidFill>
                  <a:srgbClr val="44474F"/>
                </a:solidFill>
                <a:latin typeface="Calibri" pitchFamily="34" charset="0"/>
                <a:ea typeface="Calibri" pitchFamily="34" charset="-122"/>
                <a:cs typeface="Calibri" pitchFamily="34" charset="-120"/>
              </a:rPr>
              <a:t>Buka detail dokumen. Tunjuk satu per satu: vendor, tanggal, subtotal, tax, total, lalu tabel line items.</a:t>
            </a:r>
            <a:endParaRPr lang="en-US" sz="1150" dirty="0"/>
          </a:p>
        </p:txBody>
      </p:sp>
      <p:sp>
        <p:nvSpPr>
          <p:cNvPr id="18" name="Text 16"/>
          <p:cNvSpPr/>
          <p:nvPr/>
        </p:nvSpPr>
        <p:spPr>
          <a:xfrm>
            <a:off x="1234440" y="4553712"/>
            <a:ext cx="10149840" cy="310896"/>
          </a:xfrm>
          <a:prstGeom prst="rect">
            <a:avLst/>
          </a:prstGeom>
          <a:noFill/>
          <a:ln/>
        </p:spPr>
        <p:txBody>
          <a:bodyPr wrap="square" lIns="0" tIns="0" rIns="0" bIns="0" rtlCol="0" anchor="t"/>
          <a:lstStyle/>
          <a:p>
            <a:pPr algn="l" indent="0" marL="0">
              <a:buNone/>
            </a:pPr>
            <a:r>
              <a:rPr lang="en-US" sz="1100" b="1" dirty="0">
                <a:solidFill>
                  <a:srgbClr val="0051D5"/>
                </a:solidFill>
                <a:latin typeface="Calibri" pitchFamily="34" charset="0"/>
                <a:ea typeface="Calibri" pitchFamily="34" charset="-122"/>
                <a:cs typeface="Calibri" pitchFamily="34" charset="-120"/>
              </a:rPr>
              <a:t>Ucapkan:  </a:t>
            </a:r>
            <a:pPr algn="l" indent="0" marL="0">
              <a:buNone/>
            </a:pPr>
            <a:r>
              <a:rPr lang="en-US" sz="1100" i="1" dirty="0">
                <a:solidFill>
                  <a:srgbClr val="1A2433"/>
                </a:solidFill>
                <a:latin typeface="Calibri" pitchFamily="34" charset="0"/>
                <a:ea typeface="Calibri" pitchFamily="34" charset="-122"/>
                <a:cs typeface="Calibri" pitchFamily="34" charset="-120"/>
              </a:rPr>
              <a:t>Perhatikan nominalnya. Dua ratus empat puluh ribu terbaca utuh, bukan dua ratus empat puluh. Titik ribuan Rupiah itu masalah yang paling lama kami kejar.</a:t>
            </a:r>
            <a:endParaRPr lang="en-US" sz="1100" dirty="0"/>
          </a:p>
        </p:txBody>
      </p:sp>
      <p:sp>
        <p:nvSpPr>
          <p:cNvPr id="19" name="Text 17"/>
          <p:cNvSpPr/>
          <p:nvPr/>
        </p:nvSpPr>
        <p:spPr>
          <a:xfrm>
            <a:off x="777240" y="4983480"/>
            <a:ext cx="457200" cy="310896"/>
          </a:xfrm>
          <a:prstGeom prst="rect">
            <a:avLst/>
          </a:prstGeom>
          <a:noFill/>
          <a:ln/>
        </p:spPr>
        <p:txBody>
          <a:bodyPr wrap="square" lIns="0" tIns="0" rIns="0" bIns="0" rtlCol="0" anchor="ctr"/>
          <a:lstStyle/>
          <a:p>
            <a:pPr algn="l" indent="0" marL="0">
              <a:buNone/>
            </a:pPr>
            <a:r>
              <a:rPr lang="en-US" sz="1500" b="1" dirty="0">
                <a:solidFill>
                  <a:srgbClr val="0051D5"/>
                </a:solidFill>
                <a:latin typeface="Calibri" pitchFamily="34" charset="0"/>
                <a:ea typeface="Calibri" pitchFamily="34" charset="-122"/>
                <a:cs typeface="Calibri" pitchFamily="34" charset="-120"/>
              </a:rPr>
              <a:t>4</a:t>
            </a:r>
            <a:endParaRPr lang="en-US" sz="1500" dirty="0"/>
          </a:p>
        </p:txBody>
      </p:sp>
      <p:sp>
        <p:nvSpPr>
          <p:cNvPr id="20" name="Text 18"/>
          <p:cNvSpPr/>
          <p:nvPr/>
        </p:nvSpPr>
        <p:spPr>
          <a:xfrm>
            <a:off x="1234440" y="4983480"/>
            <a:ext cx="6949440" cy="310896"/>
          </a:xfrm>
          <a:prstGeom prst="rect">
            <a:avLst/>
          </a:prstGeom>
          <a:noFill/>
          <a:ln/>
        </p:spPr>
        <p:txBody>
          <a:bodyPr wrap="square" lIns="0" tIns="0" rIns="0" bIns="0" rtlCol="0" anchor="ctr"/>
          <a:lstStyle/>
          <a:p>
            <a:pPr algn="l" indent="0" marL="0">
              <a:buNone/>
            </a:pPr>
            <a:r>
              <a:rPr lang="en-US" sz="1500" b="1" dirty="0">
                <a:solidFill>
                  <a:srgbClr val="002452"/>
                </a:solidFill>
                <a:latin typeface="Calibri" pitchFamily="34" charset="0"/>
                <a:ea typeface="Calibri" pitchFamily="34" charset="-122"/>
                <a:cs typeface="Calibri" pitchFamily="34" charset="-120"/>
              </a:rPr>
              <a:t>Buka dokumen yang bermasalah</a:t>
            </a:r>
            <a:endParaRPr lang="en-US" sz="1500" dirty="0"/>
          </a:p>
        </p:txBody>
      </p:sp>
      <p:sp>
        <p:nvSpPr>
          <p:cNvPr id="21" name="Text 19"/>
          <p:cNvSpPr/>
          <p:nvPr/>
        </p:nvSpPr>
        <p:spPr>
          <a:xfrm>
            <a:off x="9692640" y="4983480"/>
            <a:ext cx="1691640" cy="310896"/>
          </a:xfrm>
          <a:prstGeom prst="rect">
            <a:avLst/>
          </a:prstGeom>
          <a:noFill/>
          <a:ln/>
        </p:spPr>
        <p:txBody>
          <a:bodyPr wrap="square" lIns="0" tIns="0" rIns="0" bIns="0" rtlCol="0" anchor="ctr"/>
          <a:lstStyle/>
          <a:p>
            <a:pPr algn="r" indent="0" marL="0">
              <a:buNone/>
            </a:pPr>
            <a:r>
              <a:rPr lang="en-US" sz="1200" b="1" dirty="0">
                <a:solidFill>
                  <a:srgbClr val="44474F"/>
                </a:solidFill>
                <a:latin typeface="Calibri" pitchFamily="34" charset="0"/>
                <a:ea typeface="Calibri" pitchFamily="34" charset="-122"/>
                <a:cs typeface="Calibri" pitchFamily="34" charset="-120"/>
              </a:rPr>
              <a:t>60 detik</a:t>
            </a:r>
            <a:endParaRPr lang="en-US" sz="1200" dirty="0"/>
          </a:p>
        </p:txBody>
      </p:sp>
      <p:sp>
        <p:nvSpPr>
          <p:cNvPr id="22" name="Text 20"/>
          <p:cNvSpPr/>
          <p:nvPr/>
        </p:nvSpPr>
        <p:spPr>
          <a:xfrm>
            <a:off x="1234440" y="5285232"/>
            <a:ext cx="10149840" cy="329184"/>
          </a:xfrm>
          <a:prstGeom prst="rect">
            <a:avLst/>
          </a:prstGeom>
          <a:noFill/>
          <a:ln/>
        </p:spPr>
        <p:txBody>
          <a:bodyPr wrap="square" lIns="0" tIns="0" rIns="0" bIns="0" rtlCol="0" anchor="t"/>
          <a:lstStyle/>
          <a:p>
            <a:pPr algn="l" indent="0" marL="0">
              <a:buNone/>
            </a:pPr>
            <a:r>
              <a:rPr lang="en-US" sz="1150" dirty="0">
                <a:solidFill>
                  <a:srgbClr val="44474F"/>
                </a:solidFill>
                <a:latin typeface="Calibri" pitchFamily="34" charset="0"/>
                <a:ea typeface="Calibri" pitchFamily="34" charset="-122"/>
                <a:cs typeface="Calibri" pitchFamily="34" charset="-120"/>
              </a:rPr>
              <a:t>Buka berkas kedua yang sengaja bermasalah. Tunjuk badge Missing di sebelah label field, lalu gulir ke panel Validation Rules di bawah.</a:t>
            </a:r>
            <a:endParaRPr lang="en-US" sz="1150" dirty="0"/>
          </a:p>
        </p:txBody>
      </p:sp>
      <p:sp>
        <p:nvSpPr>
          <p:cNvPr id="23" name="Text 21"/>
          <p:cNvSpPr/>
          <p:nvPr/>
        </p:nvSpPr>
        <p:spPr>
          <a:xfrm>
            <a:off x="1234440" y="5605272"/>
            <a:ext cx="10149840" cy="310896"/>
          </a:xfrm>
          <a:prstGeom prst="rect">
            <a:avLst/>
          </a:prstGeom>
          <a:noFill/>
          <a:ln/>
        </p:spPr>
        <p:txBody>
          <a:bodyPr wrap="square" lIns="0" tIns="0" rIns="0" bIns="0" rtlCol="0" anchor="t"/>
          <a:lstStyle/>
          <a:p>
            <a:pPr algn="l" indent="0" marL="0">
              <a:buNone/>
            </a:pPr>
            <a:r>
              <a:rPr lang="en-US" sz="1100" b="1" dirty="0">
                <a:solidFill>
                  <a:srgbClr val="0051D5"/>
                </a:solidFill>
                <a:latin typeface="Calibri" pitchFamily="34" charset="0"/>
                <a:ea typeface="Calibri" pitchFamily="34" charset="-122"/>
                <a:cs typeface="Calibri" pitchFamily="34" charset="-120"/>
              </a:rPr>
              <a:t>Ucapkan:  </a:t>
            </a:r>
            <a:pPr algn="l" indent="0" marL="0">
              <a:buNone/>
            </a:pPr>
            <a:r>
              <a:rPr lang="en-US" sz="1100" i="1" dirty="0">
                <a:solidFill>
                  <a:srgbClr val="1A2433"/>
                </a:solidFill>
                <a:latin typeface="Calibri" pitchFamily="34" charset="0"/>
                <a:ea typeface="Calibri" pitchFamily="34" charset="-122"/>
                <a:cs typeface="Calibri" pitchFamily="34" charset="-120"/>
              </a:rPr>
              <a:t>Ini yang membuat sistemnya bisa dipakai. Bukan cuma membaca, tapi tahu kapan hasil bacaannya perlu dilihat manusia.</a:t>
            </a:r>
            <a:endParaRPr lang="en-US" sz="1100" dirty="0"/>
          </a:p>
        </p:txBody>
      </p:sp>
      <p:sp>
        <p:nvSpPr>
          <p:cNvPr id="24" name="Text 22"/>
          <p:cNvSpPr/>
          <p:nvPr/>
        </p:nvSpPr>
        <p:spPr>
          <a:xfrm>
            <a:off x="777240" y="6400800"/>
            <a:ext cx="10607040" cy="256032"/>
          </a:xfrm>
          <a:prstGeom prst="rect">
            <a:avLst/>
          </a:prstGeom>
          <a:noFill/>
          <a:ln/>
        </p:spPr>
        <p:txBody>
          <a:bodyPr wrap="square" lIns="0" tIns="0" rIns="0" bIns="0" rtlCol="0" anchor="ctr"/>
          <a:lstStyle/>
          <a:p>
            <a:pPr algn="l" indent="0" marL="0">
              <a:buNone/>
            </a:pPr>
            <a:r>
              <a:rPr lang="en-US" sz="900" dirty="0">
                <a:solidFill>
                  <a:srgbClr val="8A9099"/>
                </a:solidFill>
                <a:latin typeface="Calibri" pitchFamily="34" charset="0"/>
                <a:ea typeface="Calibri" pitchFamily="34" charset="-122"/>
                <a:cs typeface="Calibri" pitchFamily="34" charset="-120"/>
              </a:rPr>
              <a:t>Panduan demo, pegangan presenter  4/8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10607040" cy="502920"/>
          </a:xfrm>
          <a:prstGeom prst="rect">
            <a:avLst/>
          </a:prstGeom>
          <a:noFill/>
          <a:ln/>
        </p:spPr>
        <p:txBody>
          <a:bodyPr wrap="square" lIns="0" tIns="0" rIns="0" bIns="0" rtlCol="0" anchor="ctr"/>
          <a:lstStyle/>
          <a:p>
            <a:pPr algn="l" indent="0" marL="0">
              <a:buNone/>
            </a:pPr>
            <a:r>
              <a:rPr lang="en-US" sz="3000" b="1" dirty="0">
                <a:solidFill>
                  <a:srgbClr val="002452"/>
                </a:solidFill>
                <a:latin typeface="Calibri" pitchFamily="34" charset="0"/>
                <a:ea typeface="Calibri" pitchFamily="34" charset="-122"/>
                <a:cs typeface="Calibri" pitchFamily="34" charset="-120"/>
              </a:rPr>
              <a:t>Alur demo, langkah 5 sampai 7</a:t>
            </a:r>
            <a:endParaRPr lang="en-US" sz="3000" dirty="0"/>
          </a:p>
        </p:txBody>
      </p:sp>
      <p:sp>
        <p:nvSpPr>
          <p:cNvPr id="3" name="Text 1"/>
          <p:cNvSpPr/>
          <p:nvPr/>
        </p:nvSpPr>
        <p:spPr>
          <a:xfrm>
            <a:off x="777240" y="969264"/>
            <a:ext cx="10607040" cy="310896"/>
          </a:xfrm>
          <a:prstGeom prst="rect">
            <a:avLst/>
          </a:prstGeom>
          <a:noFill/>
          <a:ln/>
        </p:spPr>
        <p:txBody>
          <a:bodyPr wrap="square" lIns="0" tIns="0" rIns="0" bIns="0" rtlCol="0" anchor="ctr"/>
          <a:lstStyle/>
          <a:p>
            <a:pPr algn="l" indent="0" marL="0">
              <a:buNone/>
            </a:pPr>
            <a:r>
              <a:rPr lang="en-US" sz="1350" dirty="0">
                <a:solidFill>
                  <a:srgbClr val="44474F"/>
                </a:solidFill>
                <a:latin typeface="Calibri" pitchFamily="34" charset="0"/>
                <a:ea typeface="Calibri" pitchFamily="34" charset="-122"/>
                <a:cs typeface="Calibri" pitchFamily="34" charset="-120"/>
              </a:rPr>
              <a:t>Bagian ini yang paling meyakinkan. Jangan diburu buru.</a:t>
            </a:r>
            <a:endParaRPr lang="en-US" sz="1350" dirty="0"/>
          </a:p>
        </p:txBody>
      </p:sp>
      <p:sp>
        <p:nvSpPr>
          <p:cNvPr id="4" name="Text 2"/>
          <p:cNvSpPr/>
          <p:nvPr/>
        </p:nvSpPr>
        <p:spPr>
          <a:xfrm>
            <a:off x="777240" y="1828800"/>
            <a:ext cx="457200" cy="310896"/>
          </a:xfrm>
          <a:prstGeom prst="rect">
            <a:avLst/>
          </a:prstGeom>
          <a:noFill/>
          <a:ln/>
        </p:spPr>
        <p:txBody>
          <a:bodyPr wrap="square" lIns="0" tIns="0" rIns="0" bIns="0" rtlCol="0" anchor="ctr"/>
          <a:lstStyle/>
          <a:p>
            <a:pPr algn="l" indent="0" marL="0">
              <a:buNone/>
            </a:pPr>
            <a:r>
              <a:rPr lang="en-US" sz="1500" b="1" dirty="0">
                <a:solidFill>
                  <a:srgbClr val="0051D5"/>
                </a:solidFill>
                <a:latin typeface="Calibri" pitchFamily="34" charset="0"/>
                <a:ea typeface="Calibri" pitchFamily="34" charset="-122"/>
                <a:cs typeface="Calibri" pitchFamily="34" charset="-120"/>
              </a:rPr>
              <a:t>5</a:t>
            </a:r>
            <a:endParaRPr lang="en-US" sz="1500" dirty="0"/>
          </a:p>
        </p:txBody>
      </p:sp>
      <p:sp>
        <p:nvSpPr>
          <p:cNvPr id="5" name="Text 3"/>
          <p:cNvSpPr/>
          <p:nvPr/>
        </p:nvSpPr>
        <p:spPr>
          <a:xfrm>
            <a:off x="1234440" y="1828800"/>
            <a:ext cx="6949440" cy="310896"/>
          </a:xfrm>
          <a:prstGeom prst="rect">
            <a:avLst/>
          </a:prstGeom>
          <a:noFill/>
          <a:ln/>
        </p:spPr>
        <p:txBody>
          <a:bodyPr wrap="square" lIns="0" tIns="0" rIns="0" bIns="0" rtlCol="0" anchor="ctr"/>
          <a:lstStyle/>
          <a:p>
            <a:pPr algn="l" indent="0" marL="0">
              <a:buNone/>
            </a:pPr>
            <a:r>
              <a:rPr lang="en-US" sz="1500" b="1" dirty="0">
                <a:solidFill>
                  <a:srgbClr val="002452"/>
                </a:solidFill>
                <a:latin typeface="Calibri" pitchFamily="34" charset="0"/>
                <a:ea typeface="Calibri" pitchFamily="34" charset="-122"/>
                <a:cs typeface="Calibri" pitchFamily="34" charset="-120"/>
              </a:rPr>
              <a:t>Keluar, login sebagai finance, buka dokumen yang sama</a:t>
            </a:r>
            <a:endParaRPr lang="en-US" sz="1500" dirty="0"/>
          </a:p>
        </p:txBody>
      </p:sp>
      <p:sp>
        <p:nvSpPr>
          <p:cNvPr id="6" name="Text 4"/>
          <p:cNvSpPr/>
          <p:nvPr/>
        </p:nvSpPr>
        <p:spPr>
          <a:xfrm>
            <a:off x="9692640" y="1828800"/>
            <a:ext cx="1691640" cy="310896"/>
          </a:xfrm>
          <a:prstGeom prst="rect">
            <a:avLst/>
          </a:prstGeom>
          <a:noFill/>
          <a:ln/>
        </p:spPr>
        <p:txBody>
          <a:bodyPr wrap="square" lIns="0" tIns="0" rIns="0" bIns="0" rtlCol="0" anchor="ctr"/>
          <a:lstStyle/>
          <a:p>
            <a:pPr algn="r" indent="0" marL="0">
              <a:buNone/>
            </a:pPr>
            <a:r>
              <a:rPr lang="en-US" sz="1200" b="1" dirty="0">
                <a:solidFill>
                  <a:srgbClr val="44474F"/>
                </a:solidFill>
                <a:latin typeface="Calibri" pitchFamily="34" charset="0"/>
                <a:ea typeface="Calibri" pitchFamily="34" charset="-122"/>
                <a:cs typeface="Calibri" pitchFamily="34" charset="-120"/>
              </a:rPr>
              <a:t>60 detik</a:t>
            </a:r>
            <a:endParaRPr lang="en-US" sz="1200" dirty="0"/>
          </a:p>
        </p:txBody>
      </p:sp>
      <p:sp>
        <p:nvSpPr>
          <p:cNvPr id="7" name="Text 5"/>
          <p:cNvSpPr/>
          <p:nvPr/>
        </p:nvSpPr>
        <p:spPr>
          <a:xfrm>
            <a:off x="1234440" y="2130552"/>
            <a:ext cx="10149840" cy="329184"/>
          </a:xfrm>
          <a:prstGeom prst="rect">
            <a:avLst/>
          </a:prstGeom>
          <a:noFill/>
          <a:ln/>
        </p:spPr>
        <p:txBody>
          <a:bodyPr wrap="square" lIns="0" tIns="0" rIns="0" bIns="0" rtlCol="0" anchor="t"/>
          <a:lstStyle/>
          <a:p>
            <a:pPr algn="l" indent="0" marL="0">
              <a:buNone/>
            </a:pPr>
            <a:r>
              <a:rPr lang="en-US" sz="1150" dirty="0">
                <a:solidFill>
                  <a:srgbClr val="44474F"/>
                </a:solidFill>
                <a:latin typeface="Calibri" pitchFamily="34" charset="0"/>
                <a:ea typeface="Calibri" pitchFamily="34" charset="-122"/>
                <a:cs typeface="Calibri" pitchFamily="34" charset="-120"/>
              </a:rPr>
              <a:t>Buka dokumen yang tadi. Tunjuk bahwa tombol keputusan tidak ada, lalu coba buka Audit Log dan tunjukkan halaman No access.</a:t>
            </a:r>
            <a:endParaRPr lang="en-US" sz="1150" dirty="0"/>
          </a:p>
        </p:txBody>
      </p:sp>
      <p:sp>
        <p:nvSpPr>
          <p:cNvPr id="8" name="Text 6"/>
          <p:cNvSpPr/>
          <p:nvPr/>
        </p:nvSpPr>
        <p:spPr>
          <a:xfrm>
            <a:off x="1234440" y="2450592"/>
            <a:ext cx="10149840" cy="310896"/>
          </a:xfrm>
          <a:prstGeom prst="rect">
            <a:avLst/>
          </a:prstGeom>
          <a:noFill/>
          <a:ln/>
        </p:spPr>
        <p:txBody>
          <a:bodyPr wrap="square" lIns="0" tIns="0" rIns="0" bIns="0" rtlCol="0" anchor="t"/>
          <a:lstStyle/>
          <a:p>
            <a:pPr algn="l" indent="0" marL="0">
              <a:buNone/>
            </a:pPr>
            <a:r>
              <a:rPr lang="en-US" sz="1100" b="1" dirty="0">
                <a:solidFill>
                  <a:srgbClr val="0051D5"/>
                </a:solidFill>
                <a:latin typeface="Calibri" pitchFamily="34" charset="0"/>
                <a:ea typeface="Calibri" pitchFamily="34" charset="-122"/>
                <a:cs typeface="Calibri" pitchFamily="34" charset="-120"/>
              </a:rPr>
              <a:t>Ucapkan:  </a:t>
            </a:r>
            <a:pPr algn="l" indent="0" marL="0">
              <a:buNone/>
            </a:pPr>
            <a:r>
              <a:rPr lang="en-US" sz="1100" i="1" dirty="0">
                <a:solidFill>
                  <a:srgbClr val="1A2433"/>
                </a:solidFill>
                <a:latin typeface="Calibri" pitchFamily="34" charset="0"/>
                <a:ea typeface="Calibri" pitchFamily="34" charset="-122"/>
                <a:cs typeface="Calibri" pitchFamily="34" charset="-120"/>
              </a:rPr>
              <a:t>Peran finance boleh membenarkan isinya, tapi tidak boleh memutuskan. Dan ini bukan sekadar menu yang disembunyikan, permintaannya ditolak di server.</a:t>
            </a:r>
            <a:endParaRPr lang="en-US" sz="1100" dirty="0"/>
          </a:p>
        </p:txBody>
      </p:sp>
      <p:sp>
        <p:nvSpPr>
          <p:cNvPr id="9" name="Text 7"/>
          <p:cNvSpPr/>
          <p:nvPr/>
        </p:nvSpPr>
        <p:spPr>
          <a:xfrm>
            <a:off x="777240" y="2880360"/>
            <a:ext cx="457200" cy="310896"/>
          </a:xfrm>
          <a:prstGeom prst="rect">
            <a:avLst/>
          </a:prstGeom>
          <a:noFill/>
          <a:ln/>
        </p:spPr>
        <p:txBody>
          <a:bodyPr wrap="square" lIns="0" tIns="0" rIns="0" bIns="0" rtlCol="0" anchor="ctr"/>
          <a:lstStyle/>
          <a:p>
            <a:pPr algn="l" indent="0" marL="0">
              <a:buNone/>
            </a:pPr>
            <a:r>
              <a:rPr lang="en-US" sz="1500" b="1" dirty="0">
                <a:solidFill>
                  <a:srgbClr val="0051D5"/>
                </a:solidFill>
                <a:latin typeface="Calibri" pitchFamily="34" charset="0"/>
                <a:ea typeface="Calibri" pitchFamily="34" charset="-122"/>
                <a:cs typeface="Calibri" pitchFamily="34" charset="-120"/>
              </a:rPr>
              <a:t>6</a:t>
            </a:r>
            <a:endParaRPr lang="en-US" sz="1500" dirty="0"/>
          </a:p>
        </p:txBody>
      </p:sp>
      <p:sp>
        <p:nvSpPr>
          <p:cNvPr id="10" name="Text 8"/>
          <p:cNvSpPr/>
          <p:nvPr/>
        </p:nvSpPr>
        <p:spPr>
          <a:xfrm>
            <a:off x="1234440" y="2880360"/>
            <a:ext cx="6949440" cy="310896"/>
          </a:xfrm>
          <a:prstGeom prst="rect">
            <a:avLst/>
          </a:prstGeom>
          <a:noFill/>
          <a:ln/>
        </p:spPr>
        <p:txBody>
          <a:bodyPr wrap="square" lIns="0" tIns="0" rIns="0" bIns="0" rtlCol="0" anchor="ctr"/>
          <a:lstStyle/>
          <a:p>
            <a:pPr algn="l" indent="0" marL="0">
              <a:buNone/>
            </a:pPr>
            <a:r>
              <a:rPr lang="en-US" sz="1500" b="1" dirty="0">
                <a:solidFill>
                  <a:srgbClr val="002452"/>
                </a:solidFill>
                <a:latin typeface="Calibri" pitchFamily="34" charset="0"/>
                <a:ea typeface="Calibri" pitchFamily="34" charset="-122"/>
                <a:cs typeface="Calibri" pitchFamily="34" charset="-120"/>
              </a:rPr>
              <a:t>Kembali sebagai admin, lalu approve</a:t>
            </a:r>
            <a:endParaRPr lang="en-US" sz="1500" dirty="0"/>
          </a:p>
        </p:txBody>
      </p:sp>
      <p:sp>
        <p:nvSpPr>
          <p:cNvPr id="11" name="Text 9"/>
          <p:cNvSpPr/>
          <p:nvPr/>
        </p:nvSpPr>
        <p:spPr>
          <a:xfrm>
            <a:off x="9692640" y="2880360"/>
            <a:ext cx="1691640" cy="310896"/>
          </a:xfrm>
          <a:prstGeom prst="rect">
            <a:avLst/>
          </a:prstGeom>
          <a:noFill/>
          <a:ln/>
        </p:spPr>
        <p:txBody>
          <a:bodyPr wrap="square" lIns="0" tIns="0" rIns="0" bIns="0" rtlCol="0" anchor="ctr"/>
          <a:lstStyle/>
          <a:p>
            <a:pPr algn="r" indent="0" marL="0">
              <a:buNone/>
            </a:pPr>
            <a:r>
              <a:rPr lang="en-US" sz="1200" b="1" dirty="0">
                <a:solidFill>
                  <a:srgbClr val="44474F"/>
                </a:solidFill>
                <a:latin typeface="Calibri" pitchFamily="34" charset="0"/>
                <a:ea typeface="Calibri" pitchFamily="34" charset="-122"/>
                <a:cs typeface="Calibri" pitchFamily="34" charset="-120"/>
              </a:rPr>
              <a:t>50 detik</a:t>
            </a:r>
            <a:endParaRPr lang="en-US" sz="1200" dirty="0"/>
          </a:p>
        </p:txBody>
      </p:sp>
      <p:sp>
        <p:nvSpPr>
          <p:cNvPr id="12" name="Text 10"/>
          <p:cNvSpPr/>
          <p:nvPr/>
        </p:nvSpPr>
        <p:spPr>
          <a:xfrm>
            <a:off x="1234440" y="3182112"/>
            <a:ext cx="10149840" cy="329184"/>
          </a:xfrm>
          <a:prstGeom prst="rect">
            <a:avLst/>
          </a:prstGeom>
          <a:noFill/>
          <a:ln/>
        </p:spPr>
        <p:txBody>
          <a:bodyPr wrap="square" lIns="0" tIns="0" rIns="0" bIns="0" rtlCol="0" anchor="t"/>
          <a:lstStyle/>
          <a:p>
            <a:pPr algn="l" indent="0" marL="0">
              <a:buNone/>
            </a:pPr>
            <a:r>
              <a:rPr lang="en-US" sz="1150" dirty="0">
                <a:solidFill>
                  <a:srgbClr val="44474F"/>
                </a:solidFill>
                <a:latin typeface="Calibri" pitchFamily="34" charset="0"/>
                <a:ea typeface="Calibri" pitchFamily="34" charset="-122"/>
                <a:cs typeface="Calibri" pitchFamily="34" charset="-120"/>
              </a:rPr>
              <a:t>Login kembali sebagai admin, buka dokumen yang sama, tekan approve. Tunjukkan statusnya berubah.</a:t>
            </a:r>
            <a:endParaRPr lang="en-US" sz="1150" dirty="0"/>
          </a:p>
        </p:txBody>
      </p:sp>
      <p:sp>
        <p:nvSpPr>
          <p:cNvPr id="13" name="Text 11"/>
          <p:cNvSpPr/>
          <p:nvPr/>
        </p:nvSpPr>
        <p:spPr>
          <a:xfrm>
            <a:off x="1234440" y="3502152"/>
            <a:ext cx="10149840" cy="310896"/>
          </a:xfrm>
          <a:prstGeom prst="rect">
            <a:avLst/>
          </a:prstGeom>
          <a:noFill/>
          <a:ln/>
        </p:spPr>
        <p:txBody>
          <a:bodyPr wrap="square" lIns="0" tIns="0" rIns="0" bIns="0" rtlCol="0" anchor="t"/>
          <a:lstStyle/>
          <a:p>
            <a:pPr algn="l" indent="0" marL="0">
              <a:buNone/>
            </a:pPr>
            <a:r>
              <a:rPr lang="en-US" sz="1100" b="1" dirty="0">
                <a:solidFill>
                  <a:srgbClr val="0051D5"/>
                </a:solidFill>
                <a:latin typeface="Calibri" pitchFamily="34" charset="0"/>
                <a:ea typeface="Calibri" pitchFamily="34" charset="-122"/>
                <a:cs typeface="Calibri" pitchFamily="34" charset="-120"/>
              </a:rPr>
              <a:t>Ucapkan:  </a:t>
            </a:r>
            <a:pPr algn="l" indent="0" marL="0">
              <a:buNone/>
            </a:pPr>
            <a:r>
              <a:rPr lang="en-US" sz="1100" i="1" dirty="0">
                <a:solidFill>
                  <a:srgbClr val="1A2433"/>
                </a:solidFill>
                <a:latin typeface="Calibri" pitchFamily="34" charset="0"/>
                <a:ea typeface="Calibri" pitchFamily="34" charset="-122"/>
                <a:cs typeface="Calibri" pitchFamily="34" charset="-120"/>
              </a:rPr>
              <a:t>Approve dari admin inilah satu satunya jalan masuk ke Archive. Tidak ada pintu belakang.</a:t>
            </a:r>
            <a:endParaRPr lang="en-US" sz="1100" dirty="0"/>
          </a:p>
        </p:txBody>
      </p:sp>
      <p:sp>
        <p:nvSpPr>
          <p:cNvPr id="14" name="Text 12"/>
          <p:cNvSpPr/>
          <p:nvPr/>
        </p:nvSpPr>
        <p:spPr>
          <a:xfrm>
            <a:off x="777240" y="3931920"/>
            <a:ext cx="457200" cy="310896"/>
          </a:xfrm>
          <a:prstGeom prst="rect">
            <a:avLst/>
          </a:prstGeom>
          <a:noFill/>
          <a:ln/>
        </p:spPr>
        <p:txBody>
          <a:bodyPr wrap="square" lIns="0" tIns="0" rIns="0" bIns="0" rtlCol="0" anchor="ctr"/>
          <a:lstStyle/>
          <a:p>
            <a:pPr algn="l" indent="0" marL="0">
              <a:buNone/>
            </a:pPr>
            <a:r>
              <a:rPr lang="en-US" sz="1500" b="1" dirty="0">
                <a:solidFill>
                  <a:srgbClr val="0051D5"/>
                </a:solidFill>
                <a:latin typeface="Calibri" pitchFamily="34" charset="0"/>
                <a:ea typeface="Calibri" pitchFamily="34" charset="-122"/>
                <a:cs typeface="Calibri" pitchFamily="34" charset="-120"/>
              </a:rPr>
              <a:t>7</a:t>
            </a:r>
            <a:endParaRPr lang="en-US" sz="1500" dirty="0"/>
          </a:p>
        </p:txBody>
      </p:sp>
      <p:sp>
        <p:nvSpPr>
          <p:cNvPr id="15" name="Text 13"/>
          <p:cNvSpPr/>
          <p:nvPr/>
        </p:nvSpPr>
        <p:spPr>
          <a:xfrm>
            <a:off x="1234440" y="3931920"/>
            <a:ext cx="6949440" cy="310896"/>
          </a:xfrm>
          <a:prstGeom prst="rect">
            <a:avLst/>
          </a:prstGeom>
          <a:noFill/>
          <a:ln/>
        </p:spPr>
        <p:txBody>
          <a:bodyPr wrap="square" lIns="0" tIns="0" rIns="0" bIns="0" rtlCol="0" anchor="ctr"/>
          <a:lstStyle/>
          <a:p>
            <a:pPr algn="l" indent="0" marL="0">
              <a:buNone/>
            </a:pPr>
            <a:r>
              <a:rPr lang="en-US" sz="1500" b="1" dirty="0">
                <a:solidFill>
                  <a:srgbClr val="002452"/>
                </a:solidFill>
                <a:latin typeface="Calibri" pitchFamily="34" charset="0"/>
                <a:ea typeface="Calibri" pitchFamily="34" charset="-122"/>
                <a:cs typeface="Calibri" pitchFamily="34" charset="-120"/>
              </a:rPr>
              <a:t>Buka Archive lalu ekspor satu rentang ke PDF</a:t>
            </a:r>
            <a:endParaRPr lang="en-US" sz="1500" dirty="0"/>
          </a:p>
        </p:txBody>
      </p:sp>
      <p:sp>
        <p:nvSpPr>
          <p:cNvPr id="16" name="Text 14"/>
          <p:cNvSpPr/>
          <p:nvPr/>
        </p:nvSpPr>
        <p:spPr>
          <a:xfrm>
            <a:off x="9692640" y="3931920"/>
            <a:ext cx="1691640" cy="310896"/>
          </a:xfrm>
          <a:prstGeom prst="rect">
            <a:avLst/>
          </a:prstGeom>
          <a:noFill/>
          <a:ln/>
        </p:spPr>
        <p:txBody>
          <a:bodyPr wrap="square" lIns="0" tIns="0" rIns="0" bIns="0" rtlCol="0" anchor="ctr"/>
          <a:lstStyle/>
          <a:p>
            <a:pPr algn="r" indent="0" marL="0">
              <a:buNone/>
            </a:pPr>
            <a:r>
              <a:rPr lang="en-US" sz="1200" b="1" dirty="0">
                <a:solidFill>
                  <a:srgbClr val="44474F"/>
                </a:solidFill>
                <a:latin typeface="Calibri" pitchFamily="34" charset="0"/>
                <a:ea typeface="Calibri" pitchFamily="34" charset="-122"/>
                <a:cs typeface="Calibri" pitchFamily="34" charset="-120"/>
              </a:rPr>
              <a:t>70 detik</a:t>
            </a:r>
            <a:endParaRPr lang="en-US" sz="1200" dirty="0"/>
          </a:p>
        </p:txBody>
      </p:sp>
      <p:sp>
        <p:nvSpPr>
          <p:cNvPr id="17" name="Text 15"/>
          <p:cNvSpPr/>
          <p:nvPr/>
        </p:nvSpPr>
        <p:spPr>
          <a:xfrm>
            <a:off x="1234440" y="4233672"/>
            <a:ext cx="10149840" cy="329184"/>
          </a:xfrm>
          <a:prstGeom prst="rect">
            <a:avLst/>
          </a:prstGeom>
          <a:noFill/>
          <a:ln/>
        </p:spPr>
        <p:txBody>
          <a:bodyPr wrap="square" lIns="0" tIns="0" rIns="0" bIns="0" rtlCol="0" anchor="t"/>
          <a:lstStyle/>
          <a:p>
            <a:pPr algn="l" indent="0" marL="0">
              <a:buNone/>
            </a:pPr>
            <a:r>
              <a:rPr lang="en-US" sz="1150" dirty="0">
                <a:solidFill>
                  <a:srgbClr val="44474F"/>
                </a:solidFill>
                <a:latin typeface="Calibri" pitchFamily="34" charset="0"/>
                <a:ea typeface="Calibri" pitchFamily="34" charset="-122"/>
                <a:cs typeface="Calibri" pitchFamily="34" charset="-120"/>
              </a:rPr>
              <a:t>Archive, pilih tahun, buka Juli 2026, tekan Export, pilih periode Months, pilih format PDF, tekan Export. Buka berkas hasilnya.</a:t>
            </a:r>
            <a:endParaRPr lang="en-US" sz="1150" dirty="0"/>
          </a:p>
        </p:txBody>
      </p:sp>
      <p:sp>
        <p:nvSpPr>
          <p:cNvPr id="18" name="Text 16"/>
          <p:cNvSpPr/>
          <p:nvPr/>
        </p:nvSpPr>
        <p:spPr>
          <a:xfrm>
            <a:off x="1234440" y="4553712"/>
            <a:ext cx="10149840" cy="310896"/>
          </a:xfrm>
          <a:prstGeom prst="rect">
            <a:avLst/>
          </a:prstGeom>
          <a:noFill/>
          <a:ln/>
        </p:spPr>
        <p:txBody>
          <a:bodyPr wrap="square" lIns="0" tIns="0" rIns="0" bIns="0" rtlCol="0" anchor="t"/>
          <a:lstStyle/>
          <a:p>
            <a:pPr algn="l" indent="0" marL="0">
              <a:buNone/>
            </a:pPr>
            <a:r>
              <a:rPr lang="en-US" sz="1100" b="1" dirty="0">
                <a:solidFill>
                  <a:srgbClr val="0051D5"/>
                </a:solidFill>
                <a:latin typeface="Calibri" pitchFamily="34" charset="0"/>
                <a:ea typeface="Calibri" pitchFamily="34" charset="-122"/>
                <a:cs typeface="Calibri" pitchFamily="34" charset="-120"/>
              </a:rPr>
              <a:t>Ucapkan:  </a:t>
            </a:r>
            <a:pPr algn="l" indent="0" marL="0">
              <a:buNone/>
            </a:pPr>
            <a:r>
              <a:rPr lang="en-US" sz="1100" i="1" dirty="0">
                <a:solidFill>
                  <a:srgbClr val="1A2433"/>
                </a:solidFill>
                <a:latin typeface="Calibri" pitchFamily="34" charset="0"/>
                <a:ea typeface="Calibri" pitchFamily="34" charset="-122"/>
                <a:cs typeface="Calibri" pitchFamily="34" charset="-120"/>
              </a:rPr>
              <a:t>Dan ini hasilnya. Perhatikan baris TOTAL paling bawah. Berkas ini bisa langsung dilampirkan tanpa disentuh lagi.</a:t>
            </a:r>
            <a:endParaRPr lang="en-US" sz="1100" dirty="0"/>
          </a:p>
        </p:txBody>
      </p:sp>
      <p:sp>
        <p:nvSpPr>
          <p:cNvPr id="19" name="Text 17"/>
          <p:cNvSpPr/>
          <p:nvPr/>
        </p:nvSpPr>
        <p:spPr>
          <a:xfrm>
            <a:off x="777240" y="5074920"/>
            <a:ext cx="2743200" cy="274320"/>
          </a:xfrm>
          <a:prstGeom prst="rect">
            <a:avLst/>
          </a:prstGeom>
          <a:noFill/>
          <a:ln/>
        </p:spPr>
        <p:txBody>
          <a:bodyPr wrap="square" lIns="0" tIns="0" rIns="0" bIns="0" rtlCol="0" anchor="ctr"/>
          <a:lstStyle/>
          <a:p>
            <a:pPr indent="0" marL="0">
              <a:buNone/>
            </a:pPr>
            <a:r>
              <a:rPr lang="en-US" sz="1100" b="1" spc="80" kern="0" dirty="0">
                <a:solidFill>
                  <a:srgbClr val="44474F"/>
                </a:solidFill>
                <a:latin typeface="Calibri" pitchFamily="34" charset="0"/>
                <a:ea typeface="Calibri" pitchFamily="34" charset="-122"/>
                <a:cs typeface="Calibri" pitchFamily="34" charset="-120"/>
              </a:rPr>
              <a:t>Penutup demo</a:t>
            </a:r>
            <a:endParaRPr lang="en-US" sz="1100" dirty="0"/>
          </a:p>
        </p:txBody>
      </p:sp>
      <p:sp>
        <p:nvSpPr>
          <p:cNvPr id="20" name="Text 18"/>
          <p:cNvSpPr/>
          <p:nvPr/>
        </p:nvSpPr>
        <p:spPr>
          <a:xfrm>
            <a:off x="777240" y="5394960"/>
            <a:ext cx="10607040" cy="640080"/>
          </a:xfrm>
          <a:prstGeom prst="rect">
            <a:avLst/>
          </a:prstGeom>
          <a:noFill/>
          <a:ln/>
        </p:spPr>
        <p:txBody>
          <a:bodyPr wrap="square" lIns="0" tIns="0" rIns="0" bIns="0" rtlCol="0" anchor="t"/>
          <a:lstStyle/>
          <a:p>
            <a:pPr algn="l" indent="0" marL="0">
              <a:buNone/>
            </a:pPr>
            <a:r>
              <a:rPr lang="en-US" sz="1250" dirty="0">
                <a:solidFill>
                  <a:srgbClr val="1A2433"/>
                </a:solidFill>
                <a:latin typeface="Calibri" pitchFamily="34" charset="0"/>
                <a:ea typeface="Calibri" pitchFamily="34" charset="-122"/>
                <a:cs typeface="Calibri" pitchFamily="34" charset="-120"/>
              </a:rPr>
              <a:t>Kembali ke Dashboard, tunjuk panel Model Accuracy, lalu berhenti bicara dan buka sesi tanya jawab. Jangan menambah demo baru setelah export, karena itu titik penutup yang paling kuat.</a:t>
            </a:r>
            <a:endParaRPr lang="en-US" sz="1250" dirty="0"/>
          </a:p>
        </p:txBody>
      </p:sp>
      <p:sp>
        <p:nvSpPr>
          <p:cNvPr id="21" name="Text 19"/>
          <p:cNvSpPr/>
          <p:nvPr/>
        </p:nvSpPr>
        <p:spPr>
          <a:xfrm>
            <a:off x="777240" y="6400800"/>
            <a:ext cx="10607040" cy="256032"/>
          </a:xfrm>
          <a:prstGeom prst="rect">
            <a:avLst/>
          </a:prstGeom>
          <a:noFill/>
          <a:ln/>
        </p:spPr>
        <p:txBody>
          <a:bodyPr wrap="square" lIns="0" tIns="0" rIns="0" bIns="0" rtlCol="0" anchor="ctr"/>
          <a:lstStyle/>
          <a:p>
            <a:pPr algn="l" indent="0" marL="0">
              <a:buNone/>
            </a:pPr>
            <a:r>
              <a:rPr lang="en-US" sz="900" dirty="0">
                <a:solidFill>
                  <a:srgbClr val="8A9099"/>
                </a:solidFill>
                <a:latin typeface="Calibri" pitchFamily="34" charset="0"/>
                <a:ea typeface="Calibri" pitchFamily="34" charset="-122"/>
                <a:cs typeface="Calibri" pitchFamily="34" charset="-120"/>
              </a:rPr>
              <a:t>Panduan demo, pegangan presenter  5/8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10607040" cy="502920"/>
          </a:xfrm>
          <a:prstGeom prst="rect">
            <a:avLst/>
          </a:prstGeom>
          <a:noFill/>
          <a:ln/>
        </p:spPr>
        <p:txBody>
          <a:bodyPr wrap="square" lIns="0" tIns="0" rIns="0" bIns="0" rtlCol="0" anchor="ctr"/>
          <a:lstStyle/>
          <a:p>
            <a:pPr algn="l" indent="0" marL="0">
              <a:buNone/>
            </a:pPr>
            <a:r>
              <a:rPr lang="en-US" sz="3000" b="1" dirty="0">
                <a:solidFill>
                  <a:srgbClr val="002452"/>
                </a:solidFill>
                <a:latin typeface="Calibri" pitchFamily="34" charset="0"/>
                <a:ea typeface="Calibri" pitchFamily="34" charset="-122"/>
                <a:cs typeface="Calibri" pitchFamily="34" charset="-120"/>
              </a:rPr>
              <a:t>Dokumen mana untuk langkah mana</a:t>
            </a:r>
            <a:endParaRPr lang="en-US" sz="3000" dirty="0"/>
          </a:p>
        </p:txBody>
      </p:sp>
      <p:sp>
        <p:nvSpPr>
          <p:cNvPr id="3" name="Text 1"/>
          <p:cNvSpPr/>
          <p:nvPr/>
        </p:nvSpPr>
        <p:spPr>
          <a:xfrm>
            <a:off x="777240" y="969264"/>
            <a:ext cx="10607040" cy="310896"/>
          </a:xfrm>
          <a:prstGeom prst="rect">
            <a:avLst/>
          </a:prstGeom>
          <a:noFill/>
          <a:ln/>
        </p:spPr>
        <p:txBody>
          <a:bodyPr wrap="square" lIns="0" tIns="0" rIns="0" bIns="0" rtlCol="0" anchor="ctr"/>
          <a:lstStyle/>
          <a:p>
            <a:pPr algn="l" indent="0" marL="0">
              <a:buNone/>
            </a:pPr>
            <a:r>
              <a:rPr lang="en-US" sz="1350" dirty="0">
                <a:solidFill>
                  <a:srgbClr val="44474F"/>
                </a:solidFill>
                <a:latin typeface="Calibri" pitchFamily="34" charset="0"/>
                <a:ea typeface="Calibri" pitchFamily="34" charset="-122"/>
                <a:cs typeface="Calibri" pitchFamily="34" charset="-120"/>
              </a:rPr>
              <a:t>Isi nama berkasnya sebelum demo, jangan mencari saat sudah di depan</a:t>
            </a:r>
            <a:endParaRPr lang="en-US" sz="1350" dirty="0"/>
          </a:p>
        </p:txBody>
      </p:sp>
      <p:sp>
        <p:nvSpPr>
          <p:cNvPr id="4" name="Shape 2"/>
          <p:cNvSpPr/>
          <p:nvPr/>
        </p:nvSpPr>
        <p:spPr>
          <a:xfrm>
            <a:off x="777240" y="1783080"/>
            <a:ext cx="10607040" cy="457200"/>
          </a:xfrm>
          <a:prstGeom prst="rect">
            <a:avLst/>
          </a:prstGeom>
          <a:solidFill>
            <a:srgbClr val="FDF4E7"/>
          </a:solidFill>
          <a:ln w="12700">
            <a:solidFill>
              <a:srgbClr val="B45309"/>
            </a:solidFill>
            <a:prstDash val="solid"/>
          </a:ln>
        </p:spPr>
        <p:txBody>
          <a:bodyPr/>
          <a:p/>
        </p:txBody>
      </p:sp>
      <p:sp>
        <p:nvSpPr>
          <p:cNvPr id="5" name="Text 3"/>
          <p:cNvSpPr/>
          <p:nvPr/>
        </p:nvSpPr>
        <p:spPr>
          <a:xfrm>
            <a:off x="941832" y="1783080"/>
            <a:ext cx="10277856" cy="457200"/>
          </a:xfrm>
          <a:prstGeom prst="rect">
            <a:avLst/>
          </a:prstGeom>
          <a:noFill/>
          <a:ln/>
        </p:spPr>
        <p:txBody>
          <a:bodyPr wrap="square" lIns="0" tIns="0" rIns="0" bIns="0" rtlCol="0" anchor="ctr"/>
          <a:lstStyle/>
          <a:p>
            <a:pPr algn="l" indent="0" marL="0">
              <a:buNone/>
            </a:pPr>
            <a:r>
              <a:rPr lang="en-US" sz="1250" b="1" dirty="0">
                <a:solidFill>
                  <a:srgbClr val="B45309"/>
                </a:solidFill>
                <a:latin typeface="Calibri" pitchFamily="34" charset="0"/>
                <a:ea typeface="Calibri" pitchFamily="34" charset="-122"/>
                <a:cs typeface="Calibri" pitchFamily="34" charset="-120"/>
              </a:rPr>
              <a:t>PLACEHOLDER. Nama berkas di bawah ini belum diisi. Ganti dengan nama berkas asli sebelum demo.</a:t>
            </a:r>
            <a:endParaRPr lang="en-US" sz="1250" dirty="0"/>
          </a:p>
        </p:txBody>
      </p:sp>
      <p:sp>
        <p:nvSpPr>
          <p:cNvPr id="6" name="Text 4"/>
          <p:cNvSpPr/>
          <p:nvPr/>
        </p:nvSpPr>
        <p:spPr>
          <a:xfrm>
            <a:off x="777240" y="2514600"/>
            <a:ext cx="2377440" cy="310896"/>
          </a:xfrm>
          <a:prstGeom prst="rect">
            <a:avLst/>
          </a:prstGeom>
          <a:noFill/>
          <a:ln/>
        </p:spPr>
        <p:txBody>
          <a:bodyPr wrap="square" lIns="0" tIns="0" rIns="0" bIns="0" rtlCol="0" anchor="ctr"/>
          <a:lstStyle/>
          <a:p>
            <a:pPr algn="l" indent="0" marL="0">
              <a:buNone/>
            </a:pPr>
            <a:r>
              <a:rPr lang="en-US" sz="1450" b="1" dirty="0">
                <a:solidFill>
                  <a:srgbClr val="002452"/>
                </a:solidFill>
                <a:latin typeface="Calibri" pitchFamily="34" charset="0"/>
                <a:ea typeface="Calibri" pitchFamily="34" charset="-122"/>
                <a:cs typeface="Calibri" pitchFamily="34" charset="-120"/>
              </a:rPr>
              <a:t>Dokumen bersih</a:t>
            </a:r>
            <a:endParaRPr lang="en-US" sz="1450" dirty="0"/>
          </a:p>
        </p:txBody>
      </p:sp>
      <p:sp>
        <p:nvSpPr>
          <p:cNvPr id="7" name="Text 5"/>
          <p:cNvSpPr/>
          <p:nvPr/>
        </p:nvSpPr>
        <p:spPr>
          <a:xfrm>
            <a:off x="3246120" y="2514600"/>
            <a:ext cx="2377440" cy="310896"/>
          </a:xfrm>
          <a:prstGeom prst="rect">
            <a:avLst/>
          </a:prstGeom>
          <a:noFill/>
          <a:ln/>
        </p:spPr>
        <p:txBody>
          <a:bodyPr wrap="square" lIns="0" tIns="0" rIns="0" bIns="0" rtlCol="0" anchor="ctr"/>
          <a:lstStyle/>
          <a:p>
            <a:pPr algn="l" indent="0" marL="0">
              <a:buNone/>
            </a:pPr>
            <a:r>
              <a:rPr lang="en-US" sz="1150" dirty="0">
                <a:solidFill>
                  <a:srgbClr val="0051D5"/>
                </a:solidFill>
                <a:latin typeface="Calibri" pitchFamily="34" charset="0"/>
                <a:ea typeface="Calibri" pitchFamily="34" charset="-122"/>
                <a:cs typeface="Calibri" pitchFamily="34" charset="-120"/>
              </a:rPr>
              <a:t>langkah 1 sampai 3</a:t>
            </a:r>
            <a:endParaRPr lang="en-US" sz="1150" dirty="0"/>
          </a:p>
        </p:txBody>
      </p:sp>
      <p:sp>
        <p:nvSpPr>
          <p:cNvPr id="8" name="Text 6"/>
          <p:cNvSpPr/>
          <p:nvPr/>
        </p:nvSpPr>
        <p:spPr>
          <a:xfrm>
            <a:off x="777240" y="2825496"/>
            <a:ext cx="6858000" cy="502920"/>
          </a:xfrm>
          <a:prstGeom prst="rect">
            <a:avLst/>
          </a:prstGeom>
          <a:noFill/>
          <a:ln/>
        </p:spPr>
        <p:txBody>
          <a:bodyPr wrap="square" lIns="0" tIns="0" rIns="0" bIns="0" rtlCol="0" anchor="t"/>
          <a:lstStyle/>
          <a:p>
            <a:pPr algn="l" indent="0" marL="0">
              <a:buNone/>
            </a:pPr>
            <a:r>
              <a:rPr lang="en-US" sz="1150" dirty="0">
                <a:solidFill>
                  <a:srgbClr val="44474F"/>
                </a:solidFill>
                <a:latin typeface="Calibri" pitchFamily="34" charset="0"/>
                <a:ea typeface="Calibri" pitchFamily="34" charset="-122"/>
                <a:cs typeface="Calibri" pitchFamily="34" charset="-120"/>
              </a:rPr>
              <a:t>Invoice satu halaman, angka Rupiah dengan titik ribuan, semua field terbaca, tidak ada issue validasi.</a:t>
            </a:r>
            <a:endParaRPr lang="en-US" sz="1150" dirty="0"/>
          </a:p>
        </p:txBody>
      </p:sp>
      <p:sp>
        <p:nvSpPr>
          <p:cNvPr id="9" name="Shape 7"/>
          <p:cNvSpPr/>
          <p:nvPr/>
        </p:nvSpPr>
        <p:spPr>
          <a:xfrm>
            <a:off x="7772400" y="2532888"/>
            <a:ext cx="3611880" cy="420624"/>
          </a:xfrm>
          <a:prstGeom prst="rect">
            <a:avLst/>
          </a:prstGeom>
          <a:solidFill>
            <a:srgbClr val="F7F9FC"/>
          </a:solidFill>
          <a:ln w="12700">
            <a:solidFill>
              <a:srgbClr val="E3E8EF"/>
            </a:solidFill>
            <a:prstDash val="solid"/>
          </a:ln>
        </p:spPr>
        <p:txBody>
          <a:bodyPr/>
          <a:p/>
        </p:txBody>
      </p:sp>
      <p:sp>
        <p:nvSpPr>
          <p:cNvPr id="10" name="Text 8"/>
          <p:cNvSpPr/>
          <p:nvPr/>
        </p:nvSpPr>
        <p:spPr>
          <a:xfrm>
            <a:off x="7772400" y="2532888"/>
            <a:ext cx="3611880" cy="420624"/>
          </a:xfrm>
          <a:prstGeom prst="rect">
            <a:avLst/>
          </a:prstGeom>
          <a:noFill/>
          <a:ln/>
        </p:spPr>
        <p:txBody>
          <a:bodyPr wrap="square" lIns="0" tIns="0" rIns="0" bIns="0" rtlCol="0" anchor="ctr"/>
          <a:lstStyle/>
          <a:p>
            <a:pPr algn="ctr" indent="0" marL="0">
              <a:buNone/>
            </a:pPr>
            <a:r>
              <a:rPr lang="en-US" sz="1100" i="1" dirty="0">
                <a:solidFill>
                  <a:srgbClr val="9AA3AF"/>
                </a:solidFill>
                <a:latin typeface="Calibri" pitchFamily="34" charset="0"/>
                <a:ea typeface="Calibri" pitchFamily="34" charset="-122"/>
                <a:cs typeface="Calibri" pitchFamily="34" charset="-120"/>
              </a:rPr>
              <a:t>isi nama berkas di sini</a:t>
            </a:r>
            <a:endParaRPr lang="en-US" sz="1100" dirty="0"/>
          </a:p>
        </p:txBody>
      </p:sp>
      <p:sp>
        <p:nvSpPr>
          <p:cNvPr id="11" name="Shape 9"/>
          <p:cNvSpPr/>
          <p:nvPr/>
        </p:nvSpPr>
        <p:spPr>
          <a:xfrm>
            <a:off x="777240" y="3374136"/>
            <a:ext cx="10607040" cy="0"/>
          </a:xfrm>
          <a:prstGeom prst="line">
            <a:avLst/>
          </a:prstGeom>
          <a:noFill/>
          <a:ln w="9525">
            <a:solidFill>
              <a:srgbClr val="E3E8EF"/>
            </a:solidFill>
            <a:prstDash val="solid"/>
          </a:ln>
        </p:spPr>
        <p:txBody>
          <a:bodyPr/>
          <a:p/>
        </p:txBody>
      </p:sp>
      <p:sp>
        <p:nvSpPr>
          <p:cNvPr id="12" name="Text 10"/>
          <p:cNvSpPr/>
          <p:nvPr/>
        </p:nvSpPr>
        <p:spPr>
          <a:xfrm>
            <a:off x="777240" y="3520440"/>
            <a:ext cx="2377440" cy="310896"/>
          </a:xfrm>
          <a:prstGeom prst="rect">
            <a:avLst/>
          </a:prstGeom>
          <a:noFill/>
          <a:ln/>
        </p:spPr>
        <p:txBody>
          <a:bodyPr wrap="square" lIns="0" tIns="0" rIns="0" bIns="0" rtlCol="0" anchor="ctr"/>
          <a:lstStyle/>
          <a:p>
            <a:pPr algn="l" indent="0" marL="0">
              <a:buNone/>
            </a:pPr>
            <a:r>
              <a:rPr lang="en-US" sz="1450" b="1" dirty="0">
                <a:solidFill>
                  <a:srgbClr val="002452"/>
                </a:solidFill>
                <a:latin typeface="Calibri" pitchFamily="34" charset="0"/>
                <a:ea typeface="Calibri" pitchFamily="34" charset="-122"/>
                <a:cs typeface="Calibri" pitchFamily="34" charset="-120"/>
              </a:rPr>
              <a:t>Dokumen bermasalah</a:t>
            </a:r>
            <a:endParaRPr lang="en-US" sz="1450" dirty="0"/>
          </a:p>
        </p:txBody>
      </p:sp>
      <p:sp>
        <p:nvSpPr>
          <p:cNvPr id="13" name="Text 11"/>
          <p:cNvSpPr/>
          <p:nvPr/>
        </p:nvSpPr>
        <p:spPr>
          <a:xfrm>
            <a:off x="3246120" y="3520440"/>
            <a:ext cx="2377440" cy="310896"/>
          </a:xfrm>
          <a:prstGeom prst="rect">
            <a:avLst/>
          </a:prstGeom>
          <a:noFill/>
          <a:ln/>
        </p:spPr>
        <p:txBody>
          <a:bodyPr wrap="square" lIns="0" tIns="0" rIns="0" bIns="0" rtlCol="0" anchor="ctr"/>
          <a:lstStyle/>
          <a:p>
            <a:pPr algn="l" indent="0" marL="0">
              <a:buNone/>
            </a:pPr>
            <a:r>
              <a:rPr lang="en-US" sz="1150" dirty="0">
                <a:solidFill>
                  <a:srgbClr val="0051D5"/>
                </a:solidFill>
                <a:latin typeface="Calibri" pitchFamily="34" charset="0"/>
                <a:ea typeface="Calibri" pitchFamily="34" charset="-122"/>
                <a:cs typeface="Calibri" pitchFamily="34" charset="-120"/>
              </a:rPr>
              <a:t>langkah 4</a:t>
            </a:r>
            <a:endParaRPr lang="en-US" sz="1150" dirty="0"/>
          </a:p>
        </p:txBody>
      </p:sp>
      <p:sp>
        <p:nvSpPr>
          <p:cNvPr id="14" name="Text 12"/>
          <p:cNvSpPr/>
          <p:nvPr/>
        </p:nvSpPr>
        <p:spPr>
          <a:xfrm>
            <a:off x="777240" y="3831336"/>
            <a:ext cx="6858000" cy="502920"/>
          </a:xfrm>
          <a:prstGeom prst="rect">
            <a:avLst/>
          </a:prstGeom>
          <a:noFill/>
          <a:ln/>
        </p:spPr>
        <p:txBody>
          <a:bodyPr wrap="square" lIns="0" tIns="0" rIns="0" bIns="0" rtlCol="0" anchor="t"/>
          <a:lstStyle/>
          <a:p>
            <a:pPr algn="l" indent="0" marL="0">
              <a:buNone/>
            </a:pPr>
            <a:r>
              <a:rPr lang="en-US" sz="1150" dirty="0">
                <a:solidFill>
                  <a:srgbClr val="44474F"/>
                </a:solidFill>
                <a:latin typeface="Calibri" pitchFamily="34" charset="0"/>
                <a:ea typeface="Calibri" pitchFamily="34" charset="-122"/>
                <a:cs typeface="Calibri" pitchFamily="34" charset="-120"/>
              </a:rPr>
              <a:t>Field yang hilang supaya badge Missing muncul, atau angka yang tidak reconcile supaya panel Validation Rules terisi.</a:t>
            </a:r>
            <a:endParaRPr lang="en-US" sz="1150" dirty="0"/>
          </a:p>
        </p:txBody>
      </p:sp>
      <p:sp>
        <p:nvSpPr>
          <p:cNvPr id="15" name="Shape 13"/>
          <p:cNvSpPr/>
          <p:nvPr/>
        </p:nvSpPr>
        <p:spPr>
          <a:xfrm>
            <a:off x="7772400" y="3538728"/>
            <a:ext cx="3611880" cy="420624"/>
          </a:xfrm>
          <a:prstGeom prst="rect">
            <a:avLst/>
          </a:prstGeom>
          <a:solidFill>
            <a:srgbClr val="F7F9FC"/>
          </a:solidFill>
          <a:ln w="12700">
            <a:solidFill>
              <a:srgbClr val="E3E8EF"/>
            </a:solidFill>
            <a:prstDash val="solid"/>
          </a:ln>
        </p:spPr>
        <p:txBody>
          <a:bodyPr/>
          <a:p/>
        </p:txBody>
      </p:sp>
      <p:sp>
        <p:nvSpPr>
          <p:cNvPr id="16" name="Text 14"/>
          <p:cNvSpPr/>
          <p:nvPr/>
        </p:nvSpPr>
        <p:spPr>
          <a:xfrm>
            <a:off x="7772400" y="3538728"/>
            <a:ext cx="3611880" cy="420624"/>
          </a:xfrm>
          <a:prstGeom prst="rect">
            <a:avLst/>
          </a:prstGeom>
          <a:noFill/>
          <a:ln/>
        </p:spPr>
        <p:txBody>
          <a:bodyPr wrap="square" lIns="0" tIns="0" rIns="0" bIns="0" rtlCol="0" anchor="ctr"/>
          <a:lstStyle/>
          <a:p>
            <a:pPr algn="ctr" indent="0" marL="0">
              <a:buNone/>
            </a:pPr>
            <a:r>
              <a:rPr lang="en-US" sz="1100" i="1" dirty="0">
                <a:solidFill>
                  <a:srgbClr val="9AA3AF"/>
                </a:solidFill>
                <a:latin typeface="Calibri" pitchFamily="34" charset="0"/>
                <a:ea typeface="Calibri" pitchFamily="34" charset="-122"/>
                <a:cs typeface="Calibri" pitchFamily="34" charset="-120"/>
              </a:rPr>
              <a:t>isi nama berkas di sini</a:t>
            </a:r>
            <a:endParaRPr lang="en-US" sz="1100" dirty="0"/>
          </a:p>
        </p:txBody>
      </p:sp>
      <p:sp>
        <p:nvSpPr>
          <p:cNvPr id="17" name="Shape 15"/>
          <p:cNvSpPr/>
          <p:nvPr/>
        </p:nvSpPr>
        <p:spPr>
          <a:xfrm>
            <a:off x="777240" y="4379976"/>
            <a:ext cx="10607040" cy="0"/>
          </a:xfrm>
          <a:prstGeom prst="line">
            <a:avLst/>
          </a:prstGeom>
          <a:noFill/>
          <a:ln w="9525">
            <a:solidFill>
              <a:srgbClr val="E3E8EF"/>
            </a:solidFill>
            <a:prstDash val="solid"/>
          </a:ln>
        </p:spPr>
        <p:txBody>
          <a:bodyPr/>
          <a:p/>
        </p:txBody>
      </p:sp>
      <p:sp>
        <p:nvSpPr>
          <p:cNvPr id="18" name="Text 16"/>
          <p:cNvSpPr/>
          <p:nvPr/>
        </p:nvSpPr>
        <p:spPr>
          <a:xfrm>
            <a:off x="777240" y="4526280"/>
            <a:ext cx="2377440" cy="310896"/>
          </a:xfrm>
          <a:prstGeom prst="rect">
            <a:avLst/>
          </a:prstGeom>
          <a:noFill/>
          <a:ln/>
        </p:spPr>
        <p:txBody>
          <a:bodyPr wrap="square" lIns="0" tIns="0" rIns="0" bIns="0" rtlCol="0" anchor="ctr"/>
          <a:lstStyle/>
          <a:p>
            <a:pPr algn="l" indent="0" marL="0">
              <a:buNone/>
            </a:pPr>
            <a:r>
              <a:rPr lang="en-US" sz="1450" b="1" dirty="0">
                <a:solidFill>
                  <a:srgbClr val="002452"/>
                </a:solidFill>
                <a:latin typeface="Calibri" pitchFamily="34" charset="0"/>
                <a:ea typeface="Calibri" pitchFamily="34" charset="-122"/>
                <a:cs typeface="Calibri" pitchFamily="34" charset="-120"/>
              </a:rPr>
              <a:t>Dokumen cadangan</a:t>
            </a:r>
            <a:endParaRPr lang="en-US" sz="1450" dirty="0"/>
          </a:p>
        </p:txBody>
      </p:sp>
      <p:sp>
        <p:nvSpPr>
          <p:cNvPr id="19" name="Text 17"/>
          <p:cNvSpPr/>
          <p:nvPr/>
        </p:nvSpPr>
        <p:spPr>
          <a:xfrm>
            <a:off x="3246120" y="4526280"/>
            <a:ext cx="2377440" cy="310896"/>
          </a:xfrm>
          <a:prstGeom prst="rect">
            <a:avLst/>
          </a:prstGeom>
          <a:noFill/>
          <a:ln/>
        </p:spPr>
        <p:txBody>
          <a:bodyPr wrap="square" lIns="0" tIns="0" rIns="0" bIns="0" rtlCol="0" anchor="ctr"/>
          <a:lstStyle/>
          <a:p>
            <a:pPr algn="l" indent="0" marL="0">
              <a:buNone/>
            </a:pPr>
            <a:r>
              <a:rPr lang="en-US" sz="1150" dirty="0">
                <a:solidFill>
                  <a:srgbClr val="0051D5"/>
                </a:solidFill>
                <a:latin typeface="Calibri" pitchFamily="34" charset="0"/>
                <a:ea typeface="Calibri" pitchFamily="34" charset="-122"/>
                <a:cs typeface="Calibri" pitchFamily="34" charset="-120"/>
              </a:rPr>
              <a:t>kalau salah satu di atas gagal</a:t>
            </a:r>
            <a:endParaRPr lang="en-US" sz="1150" dirty="0"/>
          </a:p>
        </p:txBody>
      </p:sp>
      <p:sp>
        <p:nvSpPr>
          <p:cNvPr id="20" name="Text 18"/>
          <p:cNvSpPr/>
          <p:nvPr/>
        </p:nvSpPr>
        <p:spPr>
          <a:xfrm>
            <a:off x="777240" y="4837176"/>
            <a:ext cx="6858000" cy="502920"/>
          </a:xfrm>
          <a:prstGeom prst="rect">
            <a:avLst/>
          </a:prstGeom>
          <a:noFill/>
          <a:ln/>
        </p:spPr>
        <p:txBody>
          <a:bodyPr wrap="square" lIns="0" tIns="0" rIns="0" bIns="0" rtlCol="0" anchor="t"/>
          <a:lstStyle/>
          <a:p>
            <a:pPr algn="l" indent="0" marL="0">
              <a:buNone/>
            </a:pPr>
            <a:r>
              <a:rPr lang="en-US" sz="1150" dirty="0">
                <a:solidFill>
                  <a:srgbClr val="44474F"/>
                </a:solidFill>
                <a:latin typeface="Calibri" pitchFamily="34" charset="0"/>
                <a:ea typeface="Calibri" pitchFamily="34" charset="-122"/>
                <a:cs typeface="Calibri" pitchFamily="34" charset="-120"/>
              </a:rPr>
              <a:t>Sudah diproses sebelumnya dan tersimpan di SQLite, jadi bisa langsung dibuka tanpa memanggil model.</a:t>
            </a:r>
            <a:endParaRPr lang="en-US" sz="1150" dirty="0"/>
          </a:p>
        </p:txBody>
      </p:sp>
      <p:sp>
        <p:nvSpPr>
          <p:cNvPr id="21" name="Shape 19"/>
          <p:cNvSpPr/>
          <p:nvPr/>
        </p:nvSpPr>
        <p:spPr>
          <a:xfrm>
            <a:off x="7772400" y="4544568"/>
            <a:ext cx="3611880" cy="420624"/>
          </a:xfrm>
          <a:prstGeom prst="rect">
            <a:avLst/>
          </a:prstGeom>
          <a:solidFill>
            <a:srgbClr val="F7F9FC"/>
          </a:solidFill>
          <a:ln w="12700">
            <a:solidFill>
              <a:srgbClr val="E3E8EF"/>
            </a:solidFill>
            <a:prstDash val="solid"/>
          </a:ln>
        </p:spPr>
        <p:txBody>
          <a:bodyPr/>
          <a:p/>
        </p:txBody>
      </p:sp>
      <p:sp>
        <p:nvSpPr>
          <p:cNvPr id="22" name="Text 20"/>
          <p:cNvSpPr/>
          <p:nvPr/>
        </p:nvSpPr>
        <p:spPr>
          <a:xfrm>
            <a:off x="7772400" y="4544568"/>
            <a:ext cx="3611880" cy="420624"/>
          </a:xfrm>
          <a:prstGeom prst="rect">
            <a:avLst/>
          </a:prstGeom>
          <a:noFill/>
          <a:ln/>
        </p:spPr>
        <p:txBody>
          <a:bodyPr wrap="square" lIns="0" tIns="0" rIns="0" bIns="0" rtlCol="0" anchor="ctr"/>
          <a:lstStyle/>
          <a:p>
            <a:pPr algn="ctr" indent="0" marL="0">
              <a:buNone/>
            </a:pPr>
            <a:r>
              <a:rPr lang="en-US" sz="1100" i="1" dirty="0">
                <a:solidFill>
                  <a:srgbClr val="9AA3AF"/>
                </a:solidFill>
                <a:latin typeface="Calibri" pitchFamily="34" charset="0"/>
                <a:ea typeface="Calibri" pitchFamily="34" charset="-122"/>
                <a:cs typeface="Calibri" pitchFamily="34" charset="-120"/>
              </a:rPr>
              <a:t>isi Doc ID di sini</a:t>
            </a:r>
            <a:endParaRPr lang="en-US" sz="1100" dirty="0"/>
          </a:p>
        </p:txBody>
      </p:sp>
      <p:sp>
        <p:nvSpPr>
          <p:cNvPr id="23" name="Text 21"/>
          <p:cNvSpPr/>
          <p:nvPr/>
        </p:nvSpPr>
        <p:spPr>
          <a:xfrm>
            <a:off x="777240" y="5623560"/>
            <a:ext cx="4114800" cy="274320"/>
          </a:xfrm>
          <a:prstGeom prst="rect">
            <a:avLst/>
          </a:prstGeom>
          <a:noFill/>
          <a:ln/>
        </p:spPr>
        <p:txBody>
          <a:bodyPr wrap="square" lIns="0" tIns="0" rIns="0" bIns="0" rtlCol="0" anchor="ctr"/>
          <a:lstStyle/>
          <a:p>
            <a:pPr indent="0" marL="0">
              <a:buNone/>
            </a:pPr>
            <a:r>
              <a:rPr lang="en-US" sz="1100" b="1" spc="80" kern="0" dirty="0">
                <a:solidFill>
                  <a:srgbClr val="44474F"/>
                </a:solidFill>
                <a:latin typeface="Calibri" pitchFamily="34" charset="0"/>
                <a:ea typeface="Calibri" pitchFamily="34" charset="-122"/>
                <a:cs typeface="Calibri" pitchFamily="34" charset="-120"/>
              </a:rPr>
              <a:t>Cara memilih dokumen bermasalah</a:t>
            </a:r>
            <a:endParaRPr lang="en-US" sz="1100" dirty="0"/>
          </a:p>
        </p:txBody>
      </p:sp>
      <p:sp>
        <p:nvSpPr>
          <p:cNvPr id="24" name="Text 22"/>
          <p:cNvSpPr/>
          <p:nvPr/>
        </p:nvSpPr>
        <p:spPr>
          <a:xfrm>
            <a:off x="777240" y="5943600"/>
            <a:ext cx="10607040" cy="457200"/>
          </a:xfrm>
          <a:prstGeom prst="rect">
            <a:avLst/>
          </a:prstGeom>
          <a:noFill/>
          <a:ln/>
        </p:spPr>
        <p:txBody>
          <a:bodyPr wrap="square" lIns="0" tIns="0" rIns="0" bIns="0" rtlCol="0" anchor="t"/>
          <a:lstStyle/>
          <a:p>
            <a:pPr algn="l" indent="0" marL="0">
              <a:buNone/>
            </a:pPr>
            <a:r>
              <a:rPr lang="en-US" sz="1150" dirty="0">
                <a:solidFill>
                  <a:srgbClr val="1A2433"/>
                </a:solidFill>
                <a:latin typeface="Calibri" pitchFamily="34" charset="0"/>
                <a:ea typeface="Calibri" pitchFamily="34" charset="-122"/>
                <a:cs typeface="Calibri" pitchFamily="34" charset="-120"/>
              </a:rPr>
              <a:t>Jalankan dulu kandidatnya di rumah dan lihat panel Validation Rules terisi apa. Dokumen yang menghasilkan badge Missing pada Doc Number dan Buyer adalah pilihan paling jelas dilihat dari jauh.</a:t>
            </a:r>
            <a:endParaRPr lang="en-US" sz="1150" dirty="0"/>
          </a:p>
        </p:txBody>
      </p:sp>
      <p:sp>
        <p:nvSpPr>
          <p:cNvPr id="25" name="Text 23"/>
          <p:cNvSpPr/>
          <p:nvPr/>
        </p:nvSpPr>
        <p:spPr>
          <a:xfrm>
            <a:off x="777240" y="6400800"/>
            <a:ext cx="10607040" cy="256032"/>
          </a:xfrm>
          <a:prstGeom prst="rect">
            <a:avLst/>
          </a:prstGeom>
          <a:noFill/>
          <a:ln/>
        </p:spPr>
        <p:txBody>
          <a:bodyPr wrap="square" lIns="0" tIns="0" rIns="0" bIns="0" rtlCol="0" anchor="ctr"/>
          <a:lstStyle/>
          <a:p>
            <a:pPr algn="l" indent="0" marL="0">
              <a:buNone/>
            </a:pPr>
            <a:r>
              <a:rPr lang="en-US" sz="900" dirty="0">
                <a:solidFill>
                  <a:srgbClr val="8A9099"/>
                </a:solidFill>
                <a:latin typeface="Calibri" pitchFamily="34" charset="0"/>
                <a:ea typeface="Calibri" pitchFamily="34" charset="-122"/>
                <a:cs typeface="Calibri" pitchFamily="34" charset="-120"/>
              </a:rPr>
              <a:t>Panduan demo, pegangan presenter  6/8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10607040" cy="502920"/>
          </a:xfrm>
          <a:prstGeom prst="rect">
            <a:avLst/>
          </a:prstGeom>
          <a:noFill/>
          <a:ln/>
        </p:spPr>
        <p:txBody>
          <a:bodyPr wrap="square" lIns="0" tIns="0" rIns="0" bIns="0" rtlCol="0" anchor="ctr"/>
          <a:lstStyle/>
          <a:p>
            <a:pPr algn="l" indent="0" marL="0">
              <a:buNone/>
            </a:pPr>
            <a:r>
              <a:rPr lang="en-US" sz="3000" b="1" dirty="0">
                <a:solidFill>
                  <a:srgbClr val="002452"/>
                </a:solidFill>
                <a:latin typeface="Calibri" pitchFamily="34" charset="0"/>
                <a:ea typeface="Calibri" pitchFamily="34" charset="-122"/>
                <a:cs typeface="Calibri" pitchFamily="34" charset="-120"/>
              </a:rPr>
              <a:t>Kalau modelnya lambat atau gagal</a:t>
            </a:r>
            <a:endParaRPr lang="en-US" sz="3000" dirty="0"/>
          </a:p>
        </p:txBody>
      </p:sp>
      <p:sp>
        <p:nvSpPr>
          <p:cNvPr id="3" name="Text 1"/>
          <p:cNvSpPr/>
          <p:nvPr/>
        </p:nvSpPr>
        <p:spPr>
          <a:xfrm>
            <a:off x="777240" y="969264"/>
            <a:ext cx="10607040" cy="310896"/>
          </a:xfrm>
          <a:prstGeom prst="rect">
            <a:avLst/>
          </a:prstGeom>
          <a:noFill/>
          <a:ln/>
        </p:spPr>
        <p:txBody>
          <a:bodyPr wrap="square" lIns="0" tIns="0" rIns="0" bIns="0" rtlCol="0" anchor="ctr"/>
          <a:lstStyle/>
          <a:p>
            <a:pPr algn="l" indent="0" marL="0">
              <a:buNone/>
            </a:pPr>
            <a:r>
              <a:rPr lang="en-US" sz="1350" dirty="0">
                <a:solidFill>
                  <a:srgbClr val="44474F"/>
                </a:solidFill>
                <a:latin typeface="Calibri" pitchFamily="34" charset="0"/>
                <a:ea typeface="Calibri" pitchFamily="34" charset="-122"/>
                <a:cs typeface="Calibri" pitchFamily="34" charset="-120"/>
              </a:rPr>
              <a:t>Tiga tingkat, pakai berurutan dari atas</a:t>
            </a:r>
            <a:endParaRPr lang="en-US" sz="1350" dirty="0"/>
          </a:p>
        </p:txBody>
      </p:sp>
      <p:sp>
        <p:nvSpPr>
          <p:cNvPr id="4" name="Shape 2"/>
          <p:cNvSpPr/>
          <p:nvPr/>
        </p:nvSpPr>
        <p:spPr>
          <a:xfrm>
            <a:off x="777240" y="1828800"/>
            <a:ext cx="914400" cy="237744"/>
          </a:xfrm>
          <a:prstGeom prst="roundRect">
            <a:avLst>
              <a:gd name="adj" fmla="val 23077"/>
            </a:avLst>
          </a:prstGeom>
          <a:solidFill>
            <a:srgbClr val="FFFFFF"/>
          </a:solidFill>
          <a:ln w="12700">
            <a:solidFill>
              <a:srgbClr val="15803D"/>
            </a:solidFill>
            <a:prstDash val="solid"/>
          </a:ln>
        </p:spPr>
        <p:txBody>
          <a:bodyPr/>
          <a:p/>
        </p:txBody>
      </p:sp>
      <p:sp>
        <p:nvSpPr>
          <p:cNvPr id="5" name="Text 3"/>
          <p:cNvSpPr/>
          <p:nvPr/>
        </p:nvSpPr>
        <p:spPr>
          <a:xfrm>
            <a:off x="777240" y="1828800"/>
            <a:ext cx="914400" cy="237744"/>
          </a:xfrm>
          <a:prstGeom prst="rect">
            <a:avLst/>
          </a:prstGeom>
          <a:noFill/>
          <a:ln/>
        </p:spPr>
        <p:txBody>
          <a:bodyPr wrap="square" lIns="0" tIns="0" rIns="0" bIns="0" rtlCol="0" anchor="ctr"/>
          <a:lstStyle/>
          <a:p>
            <a:pPr algn="ctr" indent="0" marL="0">
              <a:buNone/>
            </a:pPr>
            <a:r>
              <a:rPr lang="en-US" sz="900" b="1" spc="60" kern="0" dirty="0">
                <a:solidFill>
                  <a:srgbClr val="15803D"/>
                </a:solidFill>
                <a:latin typeface="Calibri" pitchFamily="34" charset="0"/>
                <a:ea typeface="Calibri" pitchFamily="34" charset="-122"/>
                <a:cs typeface="Calibri" pitchFamily="34" charset="-120"/>
              </a:rPr>
              <a:t>Tingkat 1</a:t>
            </a:r>
            <a:endParaRPr lang="en-US" sz="900" dirty="0"/>
          </a:p>
        </p:txBody>
      </p:sp>
      <p:sp>
        <p:nvSpPr>
          <p:cNvPr id="6" name="Text 4"/>
          <p:cNvSpPr/>
          <p:nvPr/>
        </p:nvSpPr>
        <p:spPr>
          <a:xfrm>
            <a:off x="1874520" y="1783080"/>
            <a:ext cx="9509760" cy="310896"/>
          </a:xfrm>
          <a:prstGeom prst="rect">
            <a:avLst/>
          </a:prstGeom>
          <a:noFill/>
          <a:ln/>
        </p:spPr>
        <p:txBody>
          <a:bodyPr wrap="square" lIns="0" tIns="0" rIns="0" bIns="0" rtlCol="0" anchor="ctr"/>
          <a:lstStyle/>
          <a:p>
            <a:pPr algn="l" indent="0" marL="0">
              <a:buNone/>
            </a:pPr>
            <a:r>
              <a:rPr lang="en-US" sz="1450" b="1" dirty="0">
                <a:solidFill>
                  <a:srgbClr val="002452"/>
                </a:solidFill>
                <a:latin typeface="Calibri" pitchFamily="34" charset="0"/>
                <a:ea typeface="Calibri" pitchFamily="34" charset="-122"/>
                <a:cs typeface="Calibri" pitchFamily="34" charset="-120"/>
              </a:rPr>
              <a:t>Model lambat tapi masih jalan</a:t>
            </a:r>
            <a:endParaRPr lang="en-US" sz="1450" dirty="0"/>
          </a:p>
        </p:txBody>
      </p:sp>
      <p:sp>
        <p:nvSpPr>
          <p:cNvPr id="7" name="Text 5"/>
          <p:cNvSpPr/>
          <p:nvPr/>
        </p:nvSpPr>
        <p:spPr>
          <a:xfrm>
            <a:off x="1874520" y="2112264"/>
            <a:ext cx="9509760" cy="548640"/>
          </a:xfrm>
          <a:prstGeom prst="rect">
            <a:avLst/>
          </a:prstGeom>
          <a:noFill/>
          <a:ln/>
        </p:spPr>
        <p:txBody>
          <a:bodyPr wrap="square" lIns="0" tIns="0" rIns="0" bIns="0" rtlCol="0" anchor="t"/>
          <a:lstStyle/>
          <a:p>
            <a:pPr algn="l" indent="0" marL="0">
              <a:buNone/>
            </a:pPr>
            <a:r>
              <a:rPr lang="en-US" sz="1150" dirty="0">
                <a:solidFill>
                  <a:srgbClr val="44474F"/>
                </a:solidFill>
                <a:latin typeface="Calibri" pitchFamily="34" charset="0"/>
                <a:ea typeface="Calibri" pitchFamily="34" charset="-122"/>
                <a:cs typeface="Calibri" pitchFamily="34" charset="-120"/>
              </a:rPr>
              <a:t>Jangan tunggu sampai selesai. Buka tab lain yang sudah berisi dokumen tersimpan dan lanjutkan alur dari sana. Ekstraksi yang tadi tetap berjalan di belakang.</a:t>
            </a:r>
            <a:endParaRPr lang="en-US" sz="1150" dirty="0"/>
          </a:p>
        </p:txBody>
      </p:sp>
      <p:sp>
        <p:nvSpPr>
          <p:cNvPr id="8" name="Text 6"/>
          <p:cNvSpPr/>
          <p:nvPr/>
        </p:nvSpPr>
        <p:spPr>
          <a:xfrm>
            <a:off x="1874520" y="2660904"/>
            <a:ext cx="9509760" cy="329184"/>
          </a:xfrm>
          <a:prstGeom prst="rect">
            <a:avLst/>
          </a:prstGeom>
          <a:noFill/>
          <a:ln/>
        </p:spPr>
        <p:txBody>
          <a:bodyPr wrap="square" lIns="0" tIns="0" rIns="0" bIns="0" rtlCol="0" anchor="t"/>
          <a:lstStyle/>
          <a:p>
            <a:pPr algn="l" indent="0" marL="0">
              <a:buNone/>
            </a:pPr>
            <a:r>
              <a:rPr lang="en-US" sz="1100" i="1" dirty="0">
                <a:solidFill>
                  <a:srgbClr val="1A2433"/>
                </a:solidFill>
                <a:latin typeface="Calibri" pitchFamily="34" charset="0"/>
                <a:ea typeface="Calibri" pitchFamily="34" charset="-122"/>
                <a:cs typeface="Calibri" pitchFamily="34" charset="-120"/>
              </a:rPr>
              <a:t>Ucapkan: mesin ini fanless dan sedang menjalankan model penuh, jadi biar tidak menunggu, saya pakai dokumen yang sudah diproses tadi pagi.</a:t>
            </a:r>
            <a:endParaRPr lang="en-US" sz="1100" dirty="0"/>
          </a:p>
        </p:txBody>
      </p:sp>
      <p:sp>
        <p:nvSpPr>
          <p:cNvPr id="9" name="Shape 7"/>
          <p:cNvSpPr/>
          <p:nvPr/>
        </p:nvSpPr>
        <p:spPr>
          <a:xfrm>
            <a:off x="777240" y="3035808"/>
            <a:ext cx="10607040" cy="0"/>
          </a:xfrm>
          <a:prstGeom prst="line">
            <a:avLst/>
          </a:prstGeom>
          <a:noFill/>
          <a:ln w="9525">
            <a:solidFill>
              <a:srgbClr val="E3E8EF"/>
            </a:solidFill>
            <a:prstDash val="solid"/>
          </a:ln>
        </p:spPr>
        <p:txBody>
          <a:bodyPr/>
          <a:p/>
        </p:txBody>
      </p:sp>
      <p:sp>
        <p:nvSpPr>
          <p:cNvPr id="10" name="Shape 8"/>
          <p:cNvSpPr/>
          <p:nvPr/>
        </p:nvSpPr>
        <p:spPr>
          <a:xfrm>
            <a:off x="777240" y="3246120"/>
            <a:ext cx="914400" cy="237744"/>
          </a:xfrm>
          <a:prstGeom prst="roundRect">
            <a:avLst>
              <a:gd name="adj" fmla="val 23077"/>
            </a:avLst>
          </a:prstGeom>
          <a:solidFill>
            <a:srgbClr val="FFFFFF"/>
          </a:solidFill>
          <a:ln w="12700">
            <a:solidFill>
              <a:srgbClr val="B45309"/>
            </a:solidFill>
            <a:prstDash val="solid"/>
          </a:ln>
        </p:spPr>
        <p:txBody>
          <a:bodyPr/>
          <a:p/>
        </p:txBody>
      </p:sp>
      <p:sp>
        <p:nvSpPr>
          <p:cNvPr id="11" name="Text 9"/>
          <p:cNvSpPr/>
          <p:nvPr/>
        </p:nvSpPr>
        <p:spPr>
          <a:xfrm>
            <a:off x="777240" y="3246120"/>
            <a:ext cx="914400" cy="237744"/>
          </a:xfrm>
          <a:prstGeom prst="rect">
            <a:avLst/>
          </a:prstGeom>
          <a:noFill/>
          <a:ln/>
        </p:spPr>
        <p:txBody>
          <a:bodyPr wrap="square" lIns="0" tIns="0" rIns="0" bIns="0" rtlCol="0" anchor="ctr"/>
          <a:lstStyle/>
          <a:p>
            <a:pPr algn="ctr" indent="0" marL="0">
              <a:buNone/>
            </a:pPr>
            <a:r>
              <a:rPr lang="en-US" sz="900" b="1" spc="60" kern="0" dirty="0">
                <a:solidFill>
                  <a:srgbClr val="B45309"/>
                </a:solidFill>
                <a:latin typeface="Calibri" pitchFamily="34" charset="0"/>
                <a:ea typeface="Calibri" pitchFamily="34" charset="-122"/>
                <a:cs typeface="Calibri" pitchFamily="34" charset="-120"/>
              </a:rPr>
              <a:t>Tingkat 2</a:t>
            </a:r>
            <a:endParaRPr lang="en-US" sz="900" dirty="0"/>
          </a:p>
        </p:txBody>
      </p:sp>
      <p:sp>
        <p:nvSpPr>
          <p:cNvPr id="12" name="Text 10"/>
          <p:cNvSpPr/>
          <p:nvPr/>
        </p:nvSpPr>
        <p:spPr>
          <a:xfrm>
            <a:off x="1874520" y="3200400"/>
            <a:ext cx="9509760" cy="310896"/>
          </a:xfrm>
          <a:prstGeom prst="rect">
            <a:avLst/>
          </a:prstGeom>
          <a:noFill/>
          <a:ln/>
        </p:spPr>
        <p:txBody>
          <a:bodyPr wrap="square" lIns="0" tIns="0" rIns="0" bIns="0" rtlCol="0" anchor="ctr"/>
          <a:lstStyle/>
          <a:p>
            <a:pPr algn="l" indent="0" marL="0">
              <a:buNone/>
            </a:pPr>
            <a:r>
              <a:rPr lang="en-US" sz="1450" b="1" dirty="0">
                <a:solidFill>
                  <a:srgbClr val="002452"/>
                </a:solidFill>
                <a:latin typeface="Calibri" pitchFamily="34" charset="0"/>
                <a:ea typeface="Calibri" pitchFamily="34" charset="-122"/>
                <a:cs typeface="Calibri" pitchFamily="34" charset="-120"/>
              </a:rPr>
              <a:t>Ekstraksi gagal atau backend tidak menjawab</a:t>
            </a:r>
            <a:endParaRPr lang="en-US" sz="1450" dirty="0"/>
          </a:p>
        </p:txBody>
      </p:sp>
      <p:sp>
        <p:nvSpPr>
          <p:cNvPr id="13" name="Text 11"/>
          <p:cNvSpPr/>
          <p:nvPr/>
        </p:nvSpPr>
        <p:spPr>
          <a:xfrm>
            <a:off x="1874520" y="3529584"/>
            <a:ext cx="9509760" cy="548640"/>
          </a:xfrm>
          <a:prstGeom prst="rect">
            <a:avLst/>
          </a:prstGeom>
          <a:noFill/>
          <a:ln/>
        </p:spPr>
        <p:txBody>
          <a:bodyPr wrap="square" lIns="0" tIns="0" rIns="0" bIns="0" rtlCol="0" anchor="t"/>
          <a:lstStyle/>
          <a:p>
            <a:pPr algn="l" indent="0" marL="0">
              <a:buNone/>
            </a:pPr>
            <a:r>
              <a:rPr lang="en-US" sz="1150" dirty="0">
                <a:solidFill>
                  <a:srgbClr val="44474F"/>
                </a:solidFill>
                <a:latin typeface="Calibri" pitchFamily="34" charset="0"/>
                <a:ea typeface="Calibri" pitchFamily="34" charset="-122"/>
                <a:cs typeface="Calibri" pitchFamily="34" charset="-120"/>
              </a:rPr>
              <a:t>Pindah ke Review Queue dan Archive. Semua dokumen sudah tersimpan di SQLite, jadi seluruh alur validasi, peran, approve, dan export tetap bisa didemokan tanpa memanggil model sama sekali.</a:t>
            </a:r>
            <a:endParaRPr lang="en-US" sz="1150" dirty="0"/>
          </a:p>
        </p:txBody>
      </p:sp>
      <p:sp>
        <p:nvSpPr>
          <p:cNvPr id="14" name="Text 12"/>
          <p:cNvSpPr/>
          <p:nvPr/>
        </p:nvSpPr>
        <p:spPr>
          <a:xfrm>
            <a:off x="1874520" y="4078224"/>
            <a:ext cx="9509760" cy="329184"/>
          </a:xfrm>
          <a:prstGeom prst="rect">
            <a:avLst/>
          </a:prstGeom>
          <a:noFill/>
          <a:ln/>
        </p:spPr>
        <p:txBody>
          <a:bodyPr wrap="square" lIns="0" tIns="0" rIns="0" bIns="0" rtlCol="0" anchor="t"/>
          <a:lstStyle/>
          <a:p>
            <a:pPr algn="l" indent="0" marL="0">
              <a:buNone/>
            </a:pPr>
            <a:r>
              <a:rPr lang="en-US" sz="1100" i="1" dirty="0">
                <a:solidFill>
                  <a:srgbClr val="1A2433"/>
                </a:solidFill>
                <a:latin typeface="Calibri" pitchFamily="34" charset="0"/>
                <a:ea typeface="Calibri" pitchFamily="34" charset="-122"/>
                <a:cs typeface="Calibri" pitchFamily="34" charset="-120"/>
              </a:rPr>
              <a:t>Ucapkan: bagian yang barusan itu yang memanggil model, dan itu bagian paling kecil. Sisanya semua tetap bisa saya tunjukkan sekarang.</a:t>
            </a:r>
            <a:endParaRPr lang="en-US" sz="1100" dirty="0"/>
          </a:p>
        </p:txBody>
      </p:sp>
      <p:sp>
        <p:nvSpPr>
          <p:cNvPr id="15" name="Shape 13"/>
          <p:cNvSpPr/>
          <p:nvPr/>
        </p:nvSpPr>
        <p:spPr>
          <a:xfrm>
            <a:off x="777240" y="4453128"/>
            <a:ext cx="10607040" cy="0"/>
          </a:xfrm>
          <a:prstGeom prst="line">
            <a:avLst/>
          </a:prstGeom>
          <a:noFill/>
          <a:ln w="9525">
            <a:solidFill>
              <a:srgbClr val="E3E8EF"/>
            </a:solidFill>
            <a:prstDash val="solid"/>
          </a:ln>
        </p:spPr>
        <p:txBody>
          <a:bodyPr/>
          <a:p/>
        </p:txBody>
      </p:sp>
      <p:sp>
        <p:nvSpPr>
          <p:cNvPr id="16" name="Shape 14"/>
          <p:cNvSpPr/>
          <p:nvPr/>
        </p:nvSpPr>
        <p:spPr>
          <a:xfrm>
            <a:off x="777240" y="4663440"/>
            <a:ext cx="914400" cy="237744"/>
          </a:xfrm>
          <a:prstGeom prst="roundRect">
            <a:avLst>
              <a:gd name="adj" fmla="val 23077"/>
            </a:avLst>
          </a:prstGeom>
          <a:solidFill>
            <a:srgbClr val="FFFFFF"/>
          </a:solidFill>
          <a:ln w="12700">
            <a:solidFill>
              <a:srgbClr val="B91C1C"/>
            </a:solidFill>
            <a:prstDash val="solid"/>
          </a:ln>
        </p:spPr>
        <p:txBody>
          <a:bodyPr/>
          <a:p/>
        </p:txBody>
      </p:sp>
      <p:sp>
        <p:nvSpPr>
          <p:cNvPr id="17" name="Text 15"/>
          <p:cNvSpPr/>
          <p:nvPr/>
        </p:nvSpPr>
        <p:spPr>
          <a:xfrm>
            <a:off x="777240" y="4663440"/>
            <a:ext cx="914400" cy="237744"/>
          </a:xfrm>
          <a:prstGeom prst="rect">
            <a:avLst/>
          </a:prstGeom>
          <a:noFill/>
          <a:ln/>
        </p:spPr>
        <p:txBody>
          <a:bodyPr wrap="square" lIns="0" tIns="0" rIns="0" bIns="0" rtlCol="0" anchor="ctr"/>
          <a:lstStyle/>
          <a:p>
            <a:pPr algn="ctr" indent="0" marL="0">
              <a:buNone/>
            </a:pPr>
            <a:r>
              <a:rPr lang="en-US" sz="900" b="1" spc="60" kern="0" dirty="0">
                <a:solidFill>
                  <a:srgbClr val="B91C1C"/>
                </a:solidFill>
                <a:latin typeface="Calibri" pitchFamily="34" charset="0"/>
                <a:ea typeface="Calibri" pitchFamily="34" charset="-122"/>
                <a:cs typeface="Calibri" pitchFamily="34" charset="-120"/>
              </a:rPr>
              <a:t>Tingkat 3</a:t>
            </a:r>
            <a:endParaRPr lang="en-US" sz="900" dirty="0"/>
          </a:p>
        </p:txBody>
      </p:sp>
      <p:sp>
        <p:nvSpPr>
          <p:cNvPr id="18" name="Text 16"/>
          <p:cNvSpPr/>
          <p:nvPr/>
        </p:nvSpPr>
        <p:spPr>
          <a:xfrm>
            <a:off x="1874520" y="4617720"/>
            <a:ext cx="9509760" cy="310896"/>
          </a:xfrm>
          <a:prstGeom prst="rect">
            <a:avLst/>
          </a:prstGeom>
          <a:noFill/>
          <a:ln/>
        </p:spPr>
        <p:txBody>
          <a:bodyPr wrap="square" lIns="0" tIns="0" rIns="0" bIns="0" rtlCol="0" anchor="ctr"/>
          <a:lstStyle/>
          <a:p>
            <a:pPr algn="l" indent="0" marL="0">
              <a:buNone/>
            </a:pPr>
            <a:r>
              <a:rPr lang="en-US" sz="1450" b="1" dirty="0">
                <a:solidFill>
                  <a:srgbClr val="002452"/>
                </a:solidFill>
                <a:latin typeface="Calibri" pitchFamily="34" charset="0"/>
                <a:ea typeface="Calibri" pitchFamily="34" charset="-122"/>
                <a:cs typeface="Calibri" pitchFamily="34" charset="-120"/>
              </a:rPr>
              <a:t>Aplikasi tidak bisa dibuka sama sekali</a:t>
            </a:r>
            <a:endParaRPr lang="en-US" sz="1450" dirty="0"/>
          </a:p>
        </p:txBody>
      </p:sp>
      <p:sp>
        <p:nvSpPr>
          <p:cNvPr id="19" name="Text 17"/>
          <p:cNvSpPr/>
          <p:nvPr/>
        </p:nvSpPr>
        <p:spPr>
          <a:xfrm>
            <a:off x="1874520" y="4946904"/>
            <a:ext cx="9509760" cy="548640"/>
          </a:xfrm>
          <a:prstGeom prst="rect">
            <a:avLst/>
          </a:prstGeom>
          <a:noFill/>
          <a:ln/>
        </p:spPr>
        <p:txBody>
          <a:bodyPr wrap="square" lIns="0" tIns="0" rIns="0" bIns="0" rtlCol="0" anchor="t"/>
          <a:lstStyle/>
          <a:p>
            <a:pPr algn="l" indent="0" marL="0">
              <a:buNone/>
            </a:pPr>
            <a:r>
              <a:rPr lang="en-US" sz="1150" dirty="0">
                <a:solidFill>
                  <a:srgbClr val="44474F"/>
                </a:solidFill>
                <a:latin typeface="Calibri" pitchFamily="34" charset="0"/>
                <a:ea typeface="Calibri" pitchFamily="34" charset="-122"/>
                <a:cs typeface="Calibri" pitchFamily="34" charset="-120"/>
              </a:rPr>
              <a:t>Putar rekaman layar demo yang sudah disiapkan sebelumnya, dan tetap narasikan sendiri sambil rekaman berjalan. Jangan diam membiarkan rekaman bicara sendiri.</a:t>
            </a:r>
            <a:endParaRPr lang="en-US" sz="1150" dirty="0"/>
          </a:p>
        </p:txBody>
      </p:sp>
      <p:sp>
        <p:nvSpPr>
          <p:cNvPr id="20" name="Text 18"/>
          <p:cNvSpPr/>
          <p:nvPr/>
        </p:nvSpPr>
        <p:spPr>
          <a:xfrm>
            <a:off x="1874520" y="5495544"/>
            <a:ext cx="9509760" cy="329184"/>
          </a:xfrm>
          <a:prstGeom prst="rect">
            <a:avLst/>
          </a:prstGeom>
          <a:noFill/>
          <a:ln/>
        </p:spPr>
        <p:txBody>
          <a:bodyPr wrap="square" lIns="0" tIns="0" rIns="0" bIns="0" rtlCol="0" anchor="t"/>
          <a:lstStyle/>
          <a:p>
            <a:pPr algn="l" indent="0" marL="0">
              <a:buNone/>
            </a:pPr>
            <a:r>
              <a:rPr lang="en-US" sz="1100" i="1" dirty="0">
                <a:solidFill>
                  <a:srgbClr val="1A2433"/>
                </a:solidFill>
                <a:latin typeface="Calibri" pitchFamily="34" charset="0"/>
                <a:ea typeface="Calibri" pitchFamily="34" charset="-122"/>
                <a:cs typeface="Calibri" pitchFamily="34" charset="-120"/>
              </a:rPr>
              <a:t>Ucapkan: supaya waktu bapak dan ibu tidak terbuang, saya putar rekaman alur yang sama dan saya jelaskan sambil jalan.</a:t>
            </a:r>
            <a:endParaRPr lang="en-US" sz="1100" dirty="0"/>
          </a:p>
        </p:txBody>
      </p:sp>
      <p:sp>
        <p:nvSpPr>
          <p:cNvPr id="21" name="Text 19"/>
          <p:cNvSpPr/>
          <p:nvPr/>
        </p:nvSpPr>
        <p:spPr>
          <a:xfrm>
            <a:off x="777240" y="6035040"/>
            <a:ext cx="2926080" cy="274320"/>
          </a:xfrm>
          <a:prstGeom prst="rect">
            <a:avLst/>
          </a:prstGeom>
          <a:noFill/>
          <a:ln/>
        </p:spPr>
        <p:txBody>
          <a:bodyPr wrap="square" lIns="0" tIns="0" rIns="0" bIns="0" rtlCol="0" anchor="ctr"/>
          <a:lstStyle/>
          <a:p>
            <a:pPr indent="0" marL="0">
              <a:buNone/>
            </a:pPr>
            <a:r>
              <a:rPr lang="en-US" sz="1100" b="1" spc="80" kern="0" dirty="0">
                <a:solidFill>
                  <a:srgbClr val="44474F"/>
                </a:solidFill>
                <a:latin typeface="Calibri" pitchFamily="34" charset="0"/>
                <a:ea typeface="Calibri" pitchFamily="34" charset="-122"/>
                <a:cs typeface="Calibri" pitchFamily="34" charset="-120"/>
              </a:rPr>
              <a:t>Siapkan sebelum hari H</a:t>
            </a:r>
            <a:endParaRPr lang="en-US" sz="1100" dirty="0"/>
          </a:p>
        </p:txBody>
      </p:sp>
      <p:sp>
        <p:nvSpPr>
          <p:cNvPr id="22" name="Text 20"/>
          <p:cNvSpPr/>
          <p:nvPr/>
        </p:nvSpPr>
        <p:spPr>
          <a:xfrm>
            <a:off x="3749040" y="6035040"/>
            <a:ext cx="7635240" cy="274320"/>
          </a:xfrm>
          <a:prstGeom prst="rect">
            <a:avLst/>
          </a:prstGeom>
          <a:noFill/>
          <a:ln/>
        </p:spPr>
        <p:txBody>
          <a:bodyPr wrap="square" lIns="0" tIns="0" rIns="0" bIns="0" rtlCol="0" anchor="ctr"/>
          <a:lstStyle/>
          <a:p>
            <a:pPr algn="l" indent="0" marL="0">
              <a:buNone/>
            </a:pPr>
            <a:r>
              <a:rPr lang="en-US" sz="1150" dirty="0">
                <a:solidFill>
                  <a:srgbClr val="1A2433"/>
                </a:solidFill>
                <a:latin typeface="Calibri" pitchFamily="34" charset="0"/>
                <a:ea typeface="Calibri" pitchFamily="34" charset="-122"/>
                <a:cs typeface="Calibri" pitchFamily="34" charset="-120"/>
              </a:rPr>
              <a:t>Rekaman layar alur penuh dari upload sampai export, disimpan lokal, bukan di cloud. Pastikan bisa diputar tanpa internet.</a:t>
            </a:r>
            <a:endParaRPr lang="en-US" sz="1150" dirty="0"/>
          </a:p>
        </p:txBody>
      </p:sp>
      <p:sp>
        <p:nvSpPr>
          <p:cNvPr id="23" name="Text 21"/>
          <p:cNvSpPr/>
          <p:nvPr/>
        </p:nvSpPr>
        <p:spPr>
          <a:xfrm>
            <a:off x="777240" y="6400800"/>
            <a:ext cx="10607040" cy="256032"/>
          </a:xfrm>
          <a:prstGeom prst="rect">
            <a:avLst/>
          </a:prstGeom>
          <a:noFill/>
          <a:ln/>
        </p:spPr>
        <p:txBody>
          <a:bodyPr wrap="square" lIns="0" tIns="0" rIns="0" bIns="0" rtlCol="0" anchor="ctr"/>
          <a:lstStyle/>
          <a:p>
            <a:pPr algn="l" indent="0" marL="0">
              <a:buNone/>
            </a:pPr>
            <a:r>
              <a:rPr lang="en-US" sz="900" dirty="0">
                <a:solidFill>
                  <a:srgbClr val="8A9099"/>
                </a:solidFill>
                <a:latin typeface="Calibri" pitchFamily="34" charset="0"/>
                <a:ea typeface="Calibri" pitchFamily="34" charset="-122"/>
                <a:cs typeface="Calibri" pitchFamily="34" charset="-120"/>
              </a:rPr>
              <a:t>Panduan demo, pegangan presenter  7/8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777240" y="457200"/>
            <a:ext cx="10607040" cy="502920"/>
          </a:xfrm>
          <a:prstGeom prst="rect">
            <a:avLst/>
          </a:prstGeom>
          <a:noFill/>
          <a:ln/>
        </p:spPr>
        <p:txBody>
          <a:bodyPr wrap="square" lIns="0" tIns="0" rIns="0" bIns="0" rtlCol="0" anchor="ctr"/>
          <a:lstStyle/>
          <a:p>
            <a:pPr algn="l" indent="0" marL="0">
              <a:buNone/>
            </a:pPr>
            <a:r>
              <a:rPr lang="en-US" sz="3000" b="1" dirty="0">
                <a:solidFill>
                  <a:srgbClr val="002452"/>
                </a:solidFill>
                <a:latin typeface="Calibri" pitchFamily="34" charset="0"/>
                <a:ea typeface="Calibri" pitchFamily="34" charset="-122"/>
                <a:cs typeface="Calibri" pitchFamily="34" charset="-120"/>
              </a:rPr>
              <a:t>Pertanyaan yang mungkin muncul</a:t>
            </a:r>
            <a:endParaRPr lang="en-US" sz="3000" dirty="0"/>
          </a:p>
        </p:txBody>
      </p:sp>
      <p:sp>
        <p:nvSpPr>
          <p:cNvPr id="3" name="Text 1"/>
          <p:cNvSpPr/>
          <p:nvPr/>
        </p:nvSpPr>
        <p:spPr>
          <a:xfrm>
            <a:off x="777240" y="969264"/>
            <a:ext cx="10607040" cy="310896"/>
          </a:xfrm>
          <a:prstGeom prst="rect">
            <a:avLst/>
          </a:prstGeom>
          <a:noFill/>
          <a:ln/>
        </p:spPr>
        <p:txBody>
          <a:bodyPr wrap="square" lIns="0" tIns="0" rIns="0" bIns="0" rtlCol="0" anchor="ctr"/>
          <a:lstStyle/>
          <a:p>
            <a:pPr algn="l" indent="0" marL="0">
              <a:buNone/>
            </a:pPr>
            <a:r>
              <a:rPr lang="en-US" sz="1350" dirty="0">
                <a:solidFill>
                  <a:srgbClr val="44474F"/>
                </a:solidFill>
                <a:latin typeface="Calibri" pitchFamily="34" charset="0"/>
                <a:ea typeface="Calibri" pitchFamily="34" charset="-122"/>
                <a:cs typeface="Calibri" pitchFamily="34" charset="-120"/>
              </a:rPr>
              <a:t>Jawab pendek, jangan berceramah. Kalau tidak tahu, bilang tidak tahu.</a:t>
            </a:r>
            <a:endParaRPr lang="en-US" sz="1350" dirty="0"/>
          </a:p>
        </p:txBody>
      </p:sp>
      <p:sp>
        <p:nvSpPr>
          <p:cNvPr id="4" name="Text 2"/>
          <p:cNvSpPr/>
          <p:nvPr/>
        </p:nvSpPr>
        <p:spPr>
          <a:xfrm>
            <a:off x="777240" y="1719072"/>
            <a:ext cx="10607040" cy="256032"/>
          </a:xfrm>
          <a:prstGeom prst="rect">
            <a:avLst/>
          </a:prstGeom>
          <a:noFill/>
          <a:ln/>
        </p:spPr>
        <p:txBody>
          <a:bodyPr wrap="square" lIns="0" tIns="0" rIns="0" bIns="0" rtlCol="0" anchor="ctr"/>
          <a:lstStyle/>
          <a:p>
            <a:pPr algn="l" indent="0" marL="0">
              <a:buNone/>
            </a:pPr>
            <a:r>
              <a:rPr lang="en-US" sz="1250" b="1" dirty="0">
                <a:solidFill>
                  <a:srgbClr val="002452"/>
                </a:solidFill>
                <a:latin typeface="Calibri" pitchFamily="34" charset="0"/>
                <a:ea typeface="Calibri" pitchFamily="34" charset="-122"/>
                <a:cs typeface="Calibri" pitchFamily="34" charset="-120"/>
              </a:rPr>
              <a:t>Kenapa tidak pakai Tesseract atau OCR biasa?</a:t>
            </a:r>
            <a:endParaRPr lang="en-US" sz="1250" dirty="0"/>
          </a:p>
        </p:txBody>
      </p:sp>
      <p:sp>
        <p:nvSpPr>
          <p:cNvPr id="5" name="Text 3"/>
          <p:cNvSpPr/>
          <p:nvPr/>
        </p:nvSpPr>
        <p:spPr>
          <a:xfrm>
            <a:off x="777240" y="1965960"/>
            <a:ext cx="10607040" cy="365760"/>
          </a:xfrm>
          <a:prstGeom prst="rect">
            <a:avLst/>
          </a:prstGeom>
          <a:noFill/>
          <a:ln/>
        </p:spPr>
        <p:txBody>
          <a:bodyPr wrap="square" lIns="0" tIns="0" rIns="0" bIns="0" rtlCol="0" anchor="t"/>
          <a:lstStyle/>
          <a:p>
            <a:pPr algn="l" indent="0" marL="0">
              <a:buNone/>
            </a:pPr>
            <a:r>
              <a:rPr lang="en-US" sz="1050" dirty="0">
                <a:solidFill>
                  <a:srgbClr val="44474F"/>
                </a:solidFill>
                <a:latin typeface="Calibri" pitchFamily="34" charset="0"/>
                <a:ea typeface="Calibri" pitchFamily="34" charset="-122"/>
                <a:cs typeface="Calibri" pitchFamily="34" charset="-120"/>
              </a:rPr>
              <a:t>OCR itu dua langkah, baca huruf lalu tebak strukturnya, dan kesalahan menumpuk di antaranya. Vision model membaca gambar lalu langsung mengeluarkan field terstruktur.</a:t>
            </a:r>
            <a:endParaRPr lang="en-US" sz="1050" dirty="0"/>
          </a:p>
        </p:txBody>
      </p:sp>
      <p:sp>
        <p:nvSpPr>
          <p:cNvPr id="6" name="Shape 4"/>
          <p:cNvSpPr/>
          <p:nvPr/>
        </p:nvSpPr>
        <p:spPr>
          <a:xfrm>
            <a:off x="777240" y="2286000"/>
            <a:ext cx="10607040" cy="0"/>
          </a:xfrm>
          <a:prstGeom prst="line">
            <a:avLst/>
          </a:prstGeom>
          <a:noFill/>
          <a:ln w="9525">
            <a:solidFill>
              <a:srgbClr val="E3E8EF"/>
            </a:solidFill>
            <a:prstDash val="solid"/>
          </a:ln>
        </p:spPr>
        <p:txBody>
          <a:bodyPr/>
          <a:p/>
        </p:txBody>
      </p:sp>
      <p:sp>
        <p:nvSpPr>
          <p:cNvPr id="7" name="Text 5"/>
          <p:cNvSpPr/>
          <p:nvPr/>
        </p:nvSpPr>
        <p:spPr>
          <a:xfrm>
            <a:off x="777240" y="2359152"/>
            <a:ext cx="10607040" cy="256032"/>
          </a:xfrm>
          <a:prstGeom prst="rect">
            <a:avLst/>
          </a:prstGeom>
          <a:noFill/>
          <a:ln/>
        </p:spPr>
        <p:txBody>
          <a:bodyPr wrap="square" lIns="0" tIns="0" rIns="0" bIns="0" rtlCol="0" anchor="ctr"/>
          <a:lstStyle/>
          <a:p>
            <a:pPr algn="l" indent="0" marL="0">
              <a:buNone/>
            </a:pPr>
            <a:r>
              <a:rPr lang="en-US" sz="1250" b="1" dirty="0">
                <a:solidFill>
                  <a:srgbClr val="002452"/>
                </a:solidFill>
                <a:latin typeface="Calibri" pitchFamily="34" charset="0"/>
                <a:ea typeface="Calibri" pitchFamily="34" charset="-122"/>
                <a:cs typeface="Calibri" pitchFamily="34" charset="-120"/>
              </a:rPr>
              <a:t>Akurasinya benar benar 100 persen?</a:t>
            </a:r>
            <a:endParaRPr lang="en-US" sz="1250" dirty="0"/>
          </a:p>
        </p:txBody>
      </p:sp>
      <p:sp>
        <p:nvSpPr>
          <p:cNvPr id="8" name="Text 6"/>
          <p:cNvSpPr/>
          <p:nvPr/>
        </p:nvSpPr>
        <p:spPr>
          <a:xfrm>
            <a:off x="777240" y="2606040"/>
            <a:ext cx="10607040" cy="365760"/>
          </a:xfrm>
          <a:prstGeom prst="rect">
            <a:avLst/>
          </a:prstGeom>
          <a:noFill/>
          <a:ln/>
        </p:spPr>
        <p:txBody>
          <a:bodyPr wrap="square" lIns="0" tIns="0" rIns="0" bIns="0" rtlCol="0" anchor="t"/>
          <a:lstStyle/>
          <a:p>
            <a:pPr algn="l" indent="0" marL="0">
              <a:buNone/>
            </a:pPr>
            <a:r>
              <a:rPr lang="en-US" sz="1050" dirty="0">
                <a:solidFill>
                  <a:srgbClr val="44474F"/>
                </a:solidFill>
                <a:latin typeface="Calibri" pitchFamily="34" charset="0"/>
                <a:ea typeface="Calibri" pitchFamily="34" charset="-122"/>
                <a:cs typeface="Calibri" pitchFamily="34" charset="-120"/>
              </a:rPr>
              <a:t>Pada 60 dokumen itu ya, dibanding ground_truth.csv. Tapi itu kumpulan yang sama dengan yang dipakai saat menyusun prompt, jadi itu batas atas.</a:t>
            </a:r>
            <a:endParaRPr lang="en-US" sz="1050" dirty="0"/>
          </a:p>
        </p:txBody>
      </p:sp>
      <p:sp>
        <p:nvSpPr>
          <p:cNvPr id="9" name="Shape 7"/>
          <p:cNvSpPr/>
          <p:nvPr/>
        </p:nvSpPr>
        <p:spPr>
          <a:xfrm>
            <a:off x="777240" y="2926080"/>
            <a:ext cx="10607040" cy="0"/>
          </a:xfrm>
          <a:prstGeom prst="line">
            <a:avLst/>
          </a:prstGeom>
          <a:noFill/>
          <a:ln w="9525">
            <a:solidFill>
              <a:srgbClr val="E3E8EF"/>
            </a:solidFill>
            <a:prstDash val="solid"/>
          </a:ln>
        </p:spPr>
        <p:txBody>
          <a:bodyPr/>
          <a:p/>
        </p:txBody>
      </p:sp>
      <p:sp>
        <p:nvSpPr>
          <p:cNvPr id="10" name="Text 8"/>
          <p:cNvSpPr/>
          <p:nvPr/>
        </p:nvSpPr>
        <p:spPr>
          <a:xfrm>
            <a:off x="777240" y="2999232"/>
            <a:ext cx="10607040" cy="256032"/>
          </a:xfrm>
          <a:prstGeom prst="rect">
            <a:avLst/>
          </a:prstGeom>
          <a:noFill/>
          <a:ln/>
        </p:spPr>
        <p:txBody>
          <a:bodyPr wrap="square" lIns="0" tIns="0" rIns="0" bIns="0" rtlCol="0" anchor="ctr"/>
          <a:lstStyle/>
          <a:p>
            <a:pPr algn="l" indent="0" marL="0">
              <a:buNone/>
            </a:pPr>
            <a:r>
              <a:rPr lang="en-US" sz="1250" b="1" dirty="0">
                <a:solidFill>
                  <a:srgbClr val="002452"/>
                </a:solidFill>
                <a:latin typeface="Calibri" pitchFamily="34" charset="0"/>
                <a:ea typeface="Calibri" pitchFamily="34" charset="-122"/>
                <a:cs typeface="Calibri" pitchFamily="34" charset="-120"/>
              </a:rPr>
              <a:t>Kalau modelnya salah baca, ketahuan dari mana?</a:t>
            </a:r>
            <a:endParaRPr lang="en-US" sz="1250" dirty="0"/>
          </a:p>
        </p:txBody>
      </p:sp>
      <p:sp>
        <p:nvSpPr>
          <p:cNvPr id="11" name="Text 9"/>
          <p:cNvSpPr/>
          <p:nvPr/>
        </p:nvSpPr>
        <p:spPr>
          <a:xfrm>
            <a:off x="777240" y="3246120"/>
            <a:ext cx="10607040" cy="365760"/>
          </a:xfrm>
          <a:prstGeom prst="rect">
            <a:avLst/>
          </a:prstGeom>
          <a:noFill/>
          <a:ln/>
        </p:spPr>
        <p:txBody>
          <a:bodyPr wrap="square" lIns="0" tIns="0" rIns="0" bIns="0" rtlCol="0" anchor="t"/>
          <a:lstStyle/>
          <a:p>
            <a:pPr algn="l" indent="0" marL="0">
              <a:buNone/>
            </a:pPr>
            <a:r>
              <a:rPr lang="en-US" sz="1050" dirty="0">
                <a:solidFill>
                  <a:srgbClr val="44474F"/>
                </a:solidFill>
                <a:latin typeface="Calibri" pitchFamily="34" charset="0"/>
                <a:ea typeface="Calibri" pitchFamily="34" charset="-122"/>
                <a:cs typeface="Calibri" pitchFamily="34" charset="-120"/>
              </a:rPr>
              <a:t>Dari 9 aturan validasi dan dari reviewer manusia. Satu kelas kesalahan lolos, yaitu kalau semua angka salah dengan faktor yang sama. Itu sebabnya titik ribuan kami selesaikan di prompt.</a:t>
            </a:r>
            <a:endParaRPr lang="en-US" sz="1050" dirty="0"/>
          </a:p>
        </p:txBody>
      </p:sp>
      <p:sp>
        <p:nvSpPr>
          <p:cNvPr id="12" name="Shape 10"/>
          <p:cNvSpPr/>
          <p:nvPr/>
        </p:nvSpPr>
        <p:spPr>
          <a:xfrm>
            <a:off x="777240" y="3566160"/>
            <a:ext cx="10607040" cy="0"/>
          </a:xfrm>
          <a:prstGeom prst="line">
            <a:avLst/>
          </a:prstGeom>
          <a:noFill/>
          <a:ln w="9525">
            <a:solidFill>
              <a:srgbClr val="E3E8EF"/>
            </a:solidFill>
            <a:prstDash val="solid"/>
          </a:ln>
        </p:spPr>
        <p:txBody>
          <a:bodyPr/>
          <a:p/>
        </p:txBody>
      </p:sp>
      <p:sp>
        <p:nvSpPr>
          <p:cNvPr id="13" name="Text 11"/>
          <p:cNvSpPr/>
          <p:nvPr/>
        </p:nvSpPr>
        <p:spPr>
          <a:xfrm>
            <a:off x="777240" y="3639312"/>
            <a:ext cx="10607040" cy="256032"/>
          </a:xfrm>
          <a:prstGeom prst="rect">
            <a:avLst/>
          </a:prstGeom>
          <a:noFill/>
          <a:ln/>
        </p:spPr>
        <p:txBody>
          <a:bodyPr wrap="square" lIns="0" tIns="0" rIns="0" bIns="0" rtlCol="0" anchor="ctr"/>
          <a:lstStyle/>
          <a:p>
            <a:pPr algn="l" indent="0" marL="0">
              <a:buNone/>
            </a:pPr>
            <a:r>
              <a:rPr lang="en-US" sz="1250" b="1" dirty="0">
                <a:solidFill>
                  <a:srgbClr val="002452"/>
                </a:solidFill>
                <a:latin typeface="Calibri" pitchFamily="34" charset="0"/>
                <a:ea typeface="Calibri" pitchFamily="34" charset="-122"/>
                <a:cs typeface="Calibri" pitchFamily="34" charset="-120"/>
              </a:rPr>
              <a:t>Datanya aman tidak?</a:t>
            </a:r>
            <a:endParaRPr lang="en-US" sz="1250" dirty="0"/>
          </a:p>
        </p:txBody>
      </p:sp>
      <p:sp>
        <p:nvSpPr>
          <p:cNvPr id="14" name="Text 12"/>
          <p:cNvSpPr/>
          <p:nvPr/>
        </p:nvSpPr>
        <p:spPr>
          <a:xfrm>
            <a:off x="777240" y="3886200"/>
            <a:ext cx="10607040" cy="365760"/>
          </a:xfrm>
          <a:prstGeom prst="rect">
            <a:avLst/>
          </a:prstGeom>
          <a:noFill/>
          <a:ln/>
        </p:spPr>
        <p:txBody>
          <a:bodyPr wrap="square" lIns="0" tIns="0" rIns="0" bIns="0" rtlCol="0" anchor="t"/>
          <a:lstStyle/>
          <a:p>
            <a:pPr algn="l" indent="0" marL="0">
              <a:buNone/>
            </a:pPr>
            <a:r>
              <a:rPr lang="en-US" sz="1050" dirty="0">
                <a:solidFill>
                  <a:srgbClr val="44474F"/>
                </a:solidFill>
                <a:latin typeface="Calibri" pitchFamily="34" charset="0"/>
                <a:ea typeface="Calibri" pitchFamily="34" charset="-122"/>
                <a:cs typeface="Calibri" pitchFamily="34" charset="-120"/>
              </a:rPr>
              <a:t>Model jalan lokal lewat LM Studio, jadi berkas tidak pernah keluar dari mesin ini. Tidak ada panggilan ke API pihak ketiga.</a:t>
            </a:r>
            <a:endParaRPr lang="en-US" sz="1050" dirty="0"/>
          </a:p>
        </p:txBody>
      </p:sp>
      <p:sp>
        <p:nvSpPr>
          <p:cNvPr id="15" name="Shape 13"/>
          <p:cNvSpPr/>
          <p:nvPr/>
        </p:nvSpPr>
        <p:spPr>
          <a:xfrm>
            <a:off x="777240" y="4206240"/>
            <a:ext cx="10607040" cy="0"/>
          </a:xfrm>
          <a:prstGeom prst="line">
            <a:avLst/>
          </a:prstGeom>
          <a:noFill/>
          <a:ln w="9525">
            <a:solidFill>
              <a:srgbClr val="E3E8EF"/>
            </a:solidFill>
            <a:prstDash val="solid"/>
          </a:ln>
        </p:spPr>
        <p:txBody>
          <a:bodyPr/>
          <a:p/>
        </p:txBody>
      </p:sp>
      <p:sp>
        <p:nvSpPr>
          <p:cNvPr id="16" name="Text 14"/>
          <p:cNvSpPr/>
          <p:nvPr/>
        </p:nvSpPr>
        <p:spPr>
          <a:xfrm>
            <a:off x="777240" y="4279392"/>
            <a:ext cx="10607040" cy="256032"/>
          </a:xfrm>
          <a:prstGeom prst="rect">
            <a:avLst/>
          </a:prstGeom>
          <a:noFill/>
          <a:ln/>
        </p:spPr>
        <p:txBody>
          <a:bodyPr wrap="square" lIns="0" tIns="0" rIns="0" bIns="0" rtlCol="0" anchor="ctr"/>
          <a:lstStyle/>
          <a:p>
            <a:pPr algn="l" indent="0" marL="0">
              <a:buNone/>
            </a:pPr>
            <a:r>
              <a:rPr lang="en-US" sz="1250" b="1" dirty="0">
                <a:solidFill>
                  <a:srgbClr val="002452"/>
                </a:solidFill>
                <a:latin typeface="Calibri" pitchFamily="34" charset="0"/>
                <a:ea typeface="Calibri" pitchFamily="34" charset="-122"/>
                <a:cs typeface="Calibri" pitchFamily="34" charset="-120"/>
              </a:rPr>
              <a:t>Kenapa finance tidak boleh approve?</a:t>
            </a:r>
            <a:endParaRPr lang="en-US" sz="1250" dirty="0"/>
          </a:p>
        </p:txBody>
      </p:sp>
      <p:sp>
        <p:nvSpPr>
          <p:cNvPr id="17" name="Text 15"/>
          <p:cNvSpPr/>
          <p:nvPr/>
        </p:nvSpPr>
        <p:spPr>
          <a:xfrm>
            <a:off x="777240" y="4526280"/>
            <a:ext cx="10607040" cy="365760"/>
          </a:xfrm>
          <a:prstGeom prst="rect">
            <a:avLst/>
          </a:prstGeom>
          <a:noFill/>
          <a:ln/>
        </p:spPr>
        <p:txBody>
          <a:bodyPr wrap="square" lIns="0" tIns="0" rIns="0" bIns="0" rtlCol="0" anchor="t"/>
          <a:lstStyle/>
          <a:p>
            <a:pPr algn="l" indent="0" marL="0">
              <a:buNone/>
            </a:pPr>
            <a:r>
              <a:rPr lang="en-US" sz="1050" dirty="0">
                <a:solidFill>
                  <a:srgbClr val="44474F"/>
                </a:solidFill>
                <a:latin typeface="Calibri" pitchFamily="34" charset="0"/>
                <a:ea typeface="Calibri" pitchFamily="34" charset="-122"/>
                <a:cs typeface="Calibri" pitchFamily="34" charset="-120"/>
              </a:rPr>
              <a:t>Pemisahan tugas. Yang mengoreksi dan yang menyetujui tidak boleh orang yang sama. Penolakannya di server, bukan menu yang disembunyikan.</a:t>
            </a:r>
            <a:endParaRPr lang="en-US" sz="1050" dirty="0"/>
          </a:p>
        </p:txBody>
      </p:sp>
      <p:sp>
        <p:nvSpPr>
          <p:cNvPr id="18" name="Shape 16"/>
          <p:cNvSpPr/>
          <p:nvPr/>
        </p:nvSpPr>
        <p:spPr>
          <a:xfrm>
            <a:off x="777240" y="4846320"/>
            <a:ext cx="10607040" cy="0"/>
          </a:xfrm>
          <a:prstGeom prst="line">
            <a:avLst/>
          </a:prstGeom>
          <a:noFill/>
          <a:ln w="9525">
            <a:solidFill>
              <a:srgbClr val="E3E8EF"/>
            </a:solidFill>
            <a:prstDash val="solid"/>
          </a:ln>
        </p:spPr>
        <p:txBody>
          <a:bodyPr/>
          <a:p/>
        </p:txBody>
      </p:sp>
      <p:sp>
        <p:nvSpPr>
          <p:cNvPr id="19" name="Text 17"/>
          <p:cNvSpPr/>
          <p:nvPr/>
        </p:nvSpPr>
        <p:spPr>
          <a:xfrm>
            <a:off x="777240" y="4919472"/>
            <a:ext cx="10607040" cy="256032"/>
          </a:xfrm>
          <a:prstGeom prst="rect">
            <a:avLst/>
          </a:prstGeom>
          <a:noFill/>
          <a:ln/>
        </p:spPr>
        <p:txBody>
          <a:bodyPr wrap="square" lIns="0" tIns="0" rIns="0" bIns="0" rtlCol="0" anchor="ctr"/>
          <a:lstStyle/>
          <a:p>
            <a:pPr algn="l" indent="0" marL="0">
              <a:buNone/>
            </a:pPr>
            <a:r>
              <a:rPr lang="en-US" sz="1250" b="1" dirty="0">
                <a:solidFill>
                  <a:srgbClr val="002452"/>
                </a:solidFill>
                <a:latin typeface="Calibri" pitchFamily="34" charset="0"/>
                <a:ea typeface="Calibri" pitchFamily="34" charset="-122"/>
                <a:cs typeface="Calibri" pitchFamily="34" charset="-120"/>
              </a:rPr>
              <a:t>Berapa lama satu dokumen diproses?</a:t>
            </a:r>
            <a:endParaRPr lang="en-US" sz="1250" dirty="0"/>
          </a:p>
        </p:txBody>
      </p:sp>
      <p:sp>
        <p:nvSpPr>
          <p:cNvPr id="20" name="Text 18"/>
          <p:cNvSpPr/>
          <p:nvPr/>
        </p:nvSpPr>
        <p:spPr>
          <a:xfrm>
            <a:off x="777240" y="5166360"/>
            <a:ext cx="10607040" cy="365760"/>
          </a:xfrm>
          <a:prstGeom prst="rect">
            <a:avLst/>
          </a:prstGeom>
          <a:noFill/>
          <a:ln/>
        </p:spPr>
        <p:txBody>
          <a:bodyPr wrap="square" lIns="0" tIns="0" rIns="0" bIns="0" rtlCol="0" anchor="t"/>
          <a:lstStyle/>
          <a:p>
            <a:pPr algn="l" indent="0" marL="0">
              <a:buNone/>
            </a:pPr>
            <a:r>
              <a:rPr lang="en-US" sz="1050" dirty="0">
                <a:solidFill>
                  <a:srgbClr val="44474F"/>
                </a:solidFill>
                <a:latin typeface="Calibri" pitchFamily="34" charset="0"/>
                <a:ea typeface="Calibri" pitchFamily="34" charset="-122"/>
                <a:cs typeface="Calibri" pitchFamily="34" charset="-120"/>
              </a:rPr>
              <a:t>Tergantung perangkat kerasnya. Halaman Model Speed mencatat latensi tiap ekstraksi, dan angkanya bisa dibuka sekarang kalau mau dilihat.</a:t>
            </a:r>
            <a:endParaRPr lang="en-US" sz="1050" dirty="0"/>
          </a:p>
        </p:txBody>
      </p:sp>
      <p:sp>
        <p:nvSpPr>
          <p:cNvPr id="21" name="Shape 19"/>
          <p:cNvSpPr/>
          <p:nvPr/>
        </p:nvSpPr>
        <p:spPr>
          <a:xfrm>
            <a:off x="777240" y="5486400"/>
            <a:ext cx="10607040" cy="0"/>
          </a:xfrm>
          <a:prstGeom prst="line">
            <a:avLst/>
          </a:prstGeom>
          <a:noFill/>
          <a:ln w="9525">
            <a:solidFill>
              <a:srgbClr val="E3E8EF"/>
            </a:solidFill>
            <a:prstDash val="solid"/>
          </a:ln>
        </p:spPr>
        <p:txBody>
          <a:bodyPr/>
          <a:p/>
        </p:txBody>
      </p:sp>
      <p:sp>
        <p:nvSpPr>
          <p:cNvPr id="22" name="Text 20"/>
          <p:cNvSpPr/>
          <p:nvPr/>
        </p:nvSpPr>
        <p:spPr>
          <a:xfrm>
            <a:off x="777240" y="5559552"/>
            <a:ext cx="10607040" cy="256032"/>
          </a:xfrm>
          <a:prstGeom prst="rect">
            <a:avLst/>
          </a:prstGeom>
          <a:noFill/>
          <a:ln/>
        </p:spPr>
        <p:txBody>
          <a:bodyPr wrap="square" lIns="0" tIns="0" rIns="0" bIns="0" rtlCol="0" anchor="ctr"/>
          <a:lstStyle/>
          <a:p>
            <a:pPr algn="l" indent="0" marL="0">
              <a:buNone/>
            </a:pPr>
            <a:r>
              <a:rPr lang="en-US" sz="1250" b="1" dirty="0">
                <a:solidFill>
                  <a:srgbClr val="002452"/>
                </a:solidFill>
                <a:latin typeface="Calibri" pitchFamily="34" charset="0"/>
                <a:ea typeface="Calibri" pitchFamily="34" charset="-122"/>
                <a:cs typeface="Calibri" pitchFamily="34" charset="-120"/>
              </a:rPr>
              <a:t>Apa yang belum jalan?</a:t>
            </a:r>
            <a:endParaRPr lang="en-US" sz="1250" dirty="0"/>
          </a:p>
        </p:txBody>
      </p:sp>
      <p:sp>
        <p:nvSpPr>
          <p:cNvPr id="23" name="Text 21"/>
          <p:cNvSpPr/>
          <p:nvPr/>
        </p:nvSpPr>
        <p:spPr>
          <a:xfrm>
            <a:off x="777240" y="5806440"/>
            <a:ext cx="10607040" cy="365760"/>
          </a:xfrm>
          <a:prstGeom prst="rect">
            <a:avLst/>
          </a:prstGeom>
          <a:noFill/>
          <a:ln/>
        </p:spPr>
        <p:txBody>
          <a:bodyPr wrap="square" lIns="0" tIns="0" rIns="0" bIns="0" rtlCol="0" anchor="t"/>
          <a:lstStyle/>
          <a:p>
            <a:pPr algn="l" indent="0" marL="0">
              <a:buNone/>
            </a:pPr>
            <a:r>
              <a:rPr lang="en-US" sz="1050" dirty="0">
                <a:solidFill>
                  <a:srgbClr val="44474F"/>
                </a:solidFill>
                <a:latin typeface="Calibri" pitchFamily="34" charset="0"/>
                <a:ea typeface="Calibri" pitchFamily="34" charset="-122"/>
                <a:cs typeface="Calibri" pitchFamily="34" charset="-120"/>
              </a:rPr>
              <a:t>Multi-page PDF baru terbaca halaman pertama, dan penolakan jenis berkas tidak didukung belum sesuai harapan. Dua duanya tercatat Fail dan sudah masuk daftar perbaikan.</a:t>
            </a:r>
            <a:endParaRPr lang="en-US" sz="1050" dirty="0"/>
          </a:p>
        </p:txBody>
      </p:sp>
      <p:sp>
        <p:nvSpPr>
          <p:cNvPr id="24" name="Text 22"/>
          <p:cNvSpPr/>
          <p:nvPr/>
        </p:nvSpPr>
        <p:spPr>
          <a:xfrm>
            <a:off x="777240" y="6400800"/>
            <a:ext cx="10607040" cy="256032"/>
          </a:xfrm>
          <a:prstGeom prst="rect">
            <a:avLst/>
          </a:prstGeom>
          <a:noFill/>
          <a:ln/>
        </p:spPr>
        <p:txBody>
          <a:bodyPr wrap="square" lIns="0" tIns="0" rIns="0" bIns="0" rtlCol="0" anchor="ctr"/>
          <a:lstStyle/>
          <a:p>
            <a:pPr algn="l" indent="0" marL="0">
              <a:buNone/>
            </a:pPr>
            <a:r>
              <a:rPr lang="en-US" sz="900" dirty="0">
                <a:solidFill>
                  <a:srgbClr val="8A9099"/>
                </a:solidFill>
                <a:latin typeface="Calibri" pitchFamily="34" charset="0"/>
                <a:ea typeface="Calibri" pitchFamily="34" charset="-122"/>
                <a:cs typeface="Calibri" pitchFamily="34" charset="-120"/>
              </a:rPr>
              <a:t>Panduan demo, pegangan presenter  8/8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DocExtract - Panduan Demo</dc:title>
  <dc:subject>PptxGenJS Presentation</dc:subject>
  <dc:creator>Tim DocExtract</dc:creator>
  <cp:lastModifiedBy>Tim DocExtract</cp:lastModifiedBy>
  <cp:revision>1</cp:revision>
  <dcterms:created xsi:type="dcterms:W3CDTF">2026-08-03T14:12:54Z</dcterms:created>
  <dcterms:modified xsi:type="dcterms:W3CDTF">2026-08-03T14:12:54Z</dcterms:modified>
</cp:coreProperties>
</file>