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I am presenting DocExtract, our Project 4 build for the AI Project Topic Offering at President University, done for the brief set by LapisAI and Xquisite AI. The four of us split the work across data and business case, backend and extraction, frontend and model configuration, and evaluation and performance. We built this between 24 June and 30 July 2026. I will walk through the problem, what we built, the choices we made, and finish with a bonus feature we added once the core pipeline was solid.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problem statement straight from the official brief, not our own framing. Manual data entry from invoices, purchase orders and receipts is slow and error prone, and it gets worse as the document volume grows. Xquisite AI's ask was specific. use a multimodal model to read the document directly, validate what it returns, and keep a human reviewing before anything is exported. That last part, the human review step, is a constraint we kept all the way through, it shows up again on slide seven and 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covers the whole pipeline, upload, extraction, validation, human review, approval, export. All six deliverables from the brief are complete. I want to flag two of them specifically. deliverable two has nine validation rules behind it, and deliverable four went further than the brief asked, we export to PDF, Word and Excel on top of CSV, JSON and the mock API. The RAG assistant at the bottom is explicitly outside the six deliverables. We built it after the core pipeline was working, it is a bonus, not something the brief graded us on, and I will come back to it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matters because it shows the deviations from the brief were deliberate, not accidental. Document loading and structured output follow the brief exactly, PyMuPDF and pydantic. The two real deviations are the model and the review interface. We moved off OpenAI and Ollama onto a local model served through LM Studio, because it keeps financial documents on our own machine and keeps compute cost close to zero, which is the foundation of our business case on slide five. We also moved off Streamlit onto React, because we needed real role based routing and a side by side view of the source document and the extracted fields, which Streamlit does not handle well. And one thing to say plainly here, there is no separate OCR step anywhere in this pipeline. The vision model reads the image and returns structured fields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upload time the user can pick one of three model profiles. qwen3 vl 4b through LM Studio is local and is our default. minicpm v4.6 through Ollama is also local, we kept it as a comparison point. Gemini is hosted through the Google API, and we deliberately did not make it the default, because sending documents to Google breaks two claims our business case depends on, near zero compute cost and documents never leaving the machine. A fourth model, a local embedding model, powers the bonus RAG feature, so even that stays on our machine. On the right is our evaluation result, 100 percent field level accuracy across 60 documents and 10 fields each, checked against ground_truth.csv, spread across invoices, purchase orders and receipts. I want to be upfront about the limitation here, that number is a ceiling, not a generalization claim, because those 60 documents are the same ones we used while writing the extraction prompt. We do not have a separate held out test set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the shape of the repo. Backend is eleven Python modules under backend/app, each one doing a single job, routes, schemas, the model call, validation, loading, export, auth, storage, evaluation, and the RAG module. Frontend is ten React pages, and the database is five SQLite tables. Our test data is 60 synthetic documents with a ground truth file, that is what feeds the accuracy number from the previous slide. And the role split at the bottom is the backbone of the whole review workflow, a staff account only sees their own uploads, finance can correct but never approve, and admin is the only role that can approve, which is also the action that files a document into the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access matrix. Everyone can log in, upload, pick a model, and use the RAG assistant. Finance sits above that, they can see every document, work the review queue, correct fields, and export, but they cannot approve anything. Approval, deletion, the audit log, validation settings, user management, and running the evaluation are all admin only. The line at the bottom is important, we do not just hide a menu item on the frontend, every one of these checks is re-enforced on the server, so a finance account cannot reach an admin route by guessing a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thin boxes and arrows, nothing fancier than that. React and Vite is presentation only. It talks over HTTP to FastAPI, and FastAPI is where extraction, validation, export and authentication all live. FastAPI is also the only thing that talks to the model, which is served through LM Studio, and the only thing that writes to SQLite. That boundary is intentional, React never touches the model directly. Below that is the seven step path a single document takes, from upload, through rendering the PDF at a high zoom so small digits stay readable, through extraction at temperature zero, parsing and validation, a human review step, and finally approval and export in five formats plus the mock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lifecycle of one document, and who is responsible at each step. A staff member uploads, the system extracts and validates and sets a status, finance opens anything flagged, presses Correction, fixes the fields and saves, and finance has no Approve button anywhere in the interface. Admin is the one who reviews and presses Approve and Export, that action stamps the approval time and files the document into the Archive by that date. From there a whole period can be exported, and every action along the way lands in the Audit Log. The two screenshots make the point faster than I can explain it. on the left, the admin view of a review detail page with decision controls. on the right, the exact same kind of page for a regular staff account, a flat No access screen. The person entering the data is structurally not the person who can release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thing, and I want to be clear this sits outside the six graded deliverables, we built it after the core pipeline was solid. It lets you ask a plain language question about the documents you have extracted, and it answers with citations back to the source documents. The routing decision is simple, at 60 documents or fewer we just put every document summary into context, above that we switch to embeddings and cosine similarity and retrieve the 12 most relevant. The 60 document threshold is not arbitrary, a summary costs about 150 tokens, so 60 of them is around 9,000 tokens, which still fits comfortably, and below that line, feeding everything in beats top k retrieval for aggregate questions like how many documents are flagged. That is DocExtract. Every document stays on our machine, and a human still decides what gets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452"/>
        </a:solidFill>
      </p:bgPr>
    </p:bg>
    <p:spTree>
      <p:nvGrpSpPr>
        <p:cNvPr id="1" name=""/>
        <p:cNvGrpSpPr/>
        <p:nvPr/>
      </p:nvGrpSpPr>
      <p:grpSpPr>
        <a:xfrm>
          <a:off x="0" y="0"/>
          <a:ext cx="0" cy="0"/>
          <a:chOff x="0" y="0"/>
          <a:chExt cx="0" cy="0"/>
        </a:xfrm>
      </p:grpSpPr>
      <p:sp>
        <p:nvSpPr>
          <p:cNvPr id="2" name="Text 0"/>
          <p:cNvSpPr/>
          <p:nvPr/>
        </p:nvSpPr>
        <p:spPr>
          <a:xfrm>
            <a:off x="548640" y="2148840"/>
            <a:ext cx="11094415" cy="914400"/>
          </a:xfrm>
          <a:prstGeom prst="rect">
            <a:avLst/>
          </a:prstGeom>
          <a:noFill/>
          <a:ln/>
        </p:spPr>
        <p:txBody>
          <a:bodyPr wrap="square" lIns="0" tIns="0" rIns="0" bIns="0" rtlCol="0" anchor="ctr"/>
          <a:lstStyle/>
          <a:p>
            <a:pPr algn="l" indent="0" marL="0">
              <a:buNone/>
            </a:pPr>
            <a:r>
              <a:rPr lang="en-US" sz="5400" b="1" dirty="0">
                <a:solidFill>
                  <a:srgbClr val="FFFFFF"/>
                </a:solidFill>
                <a:latin typeface="Calibri" pitchFamily="34" charset="0"/>
                <a:ea typeface="Calibri" pitchFamily="34" charset="-122"/>
                <a:cs typeface="Calibri" pitchFamily="34" charset="-120"/>
              </a:rPr>
              <a:t>DocExtract</a:t>
            </a:r>
            <a:endParaRPr lang="en-US" sz="5400" dirty="0"/>
          </a:p>
        </p:txBody>
      </p:sp>
      <p:sp>
        <p:nvSpPr>
          <p:cNvPr id="3" name="Text 1"/>
          <p:cNvSpPr/>
          <p:nvPr/>
        </p:nvSpPr>
        <p:spPr>
          <a:xfrm>
            <a:off x="548640" y="2971800"/>
            <a:ext cx="11094415" cy="502920"/>
          </a:xfrm>
          <a:prstGeom prst="rect">
            <a:avLst/>
          </a:prstGeom>
          <a:noFill/>
          <a:ln/>
        </p:spPr>
        <p:txBody>
          <a:bodyPr wrap="square" lIns="0" tIns="0" rIns="0" bIns="0" rtlCol="0" anchor="ctr"/>
          <a:lstStyle/>
          <a:p>
            <a:pPr algn="l" indent="0" marL="0">
              <a:buNone/>
            </a:pPr>
            <a:r>
              <a:rPr lang="en-US" sz="2200" dirty="0">
                <a:solidFill>
                  <a:srgbClr val="9FC2FF"/>
                </a:solidFill>
                <a:latin typeface="Calibri" pitchFamily="34" charset="0"/>
                <a:ea typeface="Calibri" pitchFamily="34" charset="-122"/>
                <a:cs typeface="Calibri" pitchFamily="34" charset="-120"/>
              </a:rPr>
              <a:t>Intelligent Document Processing</a:t>
            </a:r>
            <a:endParaRPr lang="en-US" sz="2200" dirty="0"/>
          </a:p>
        </p:txBody>
      </p:sp>
      <p:sp>
        <p:nvSpPr>
          <p:cNvPr id="4" name="Shape 2"/>
          <p:cNvSpPr/>
          <p:nvPr/>
        </p:nvSpPr>
        <p:spPr>
          <a:xfrm>
            <a:off x="548640" y="3657600"/>
            <a:ext cx="2011680" cy="0"/>
          </a:xfrm>
          <a:prstGeom prst="line">
            <a:avLst/>
          </a:prstGeom>
          <a:noFill/>
          <a:ln w="25400">
            <a:solidFill>
              <a:srgbClr val="0051D5"/>
            </a:solidFill>
            <a:prstDash val="solid"/>
          </a:ln>
        </p:spPr>
        <p:txBody>
          <a:bodyPr/>
          <a:p/>
        </p:txBody>
      </p:sp>
      <p:sp>
        <p:nvSpPr>
          <p:cNvPr id="5" name="Text 3"/>
          <p:cNvSpPr/>
          <p:nvPr/>
        </p:nvSpPr>
        <p:spPr>
          <a:xfrm>
            <a:off x="548640" y="3977640"/>
            <a:ext cx="11094415" cy="1645920"/>
          </a:xfrm>
          <a:prstGeom prst="rect">
            <a:avLst/>
          </a:prstGeom>
          <a:noFill/>
          <a:ln/>
        </p:spPr>
        <p:txBody>
          <a:bodyPr wrap="square" lIns="0" tIns="0" rIns="0" bIns="0" rtlCol="0" anchor="ctr"/>
          <a:lstStyle/>
          <a:p>
            <a:pPr algn="l" indent="0" marL="0">
              <a:lnSpc>
                <a:spcPct val="135000"/>
              </a:lnSpc>
              <a:buNone/>
            </a:pPr>
            <a:r>
              <a:rPr lang="en-US" sz="1500" dirty="0">
                <a:solidFill>
                  <a:srgbClr val="D7E2F5"/>
                </a:solidFill>
                <a:latin typeface="Calibri" pitchFamily="34" charset="0"/>
                <a:ea typeface="Calibri" pitchFamily="34" charset="-122"/>
                <a:cs typeface="Calibri" pitchFamily="34" charset="-120"/>
              </a:rPr>
              <a:t>Project 4, AI Project Topic Offering, President University
</a:t>
            </a:r>
            <a:endParaRPr lang="en-US" sz="1500" dirty="0"/>
          </a:p>
          <a:p>
            <a:pPr algn="l" indent="0" marL="0">
              <a:lnSpc>
                <a:spcPct val="135000"/>
              </a:lnSpc>
              <a:buNone/>
            </a:pPr>
            <a:r>
              <a:rPr lang="en-US" sz="1500" dirty="0">
                <a:solidFill>
                  <a:srgbClr val="D7E2F5"/>
                </a:solidFill>
                <a:latin typeface="Calibri" pitchFamily="34" charset="0"/>
                <a:ea typeface="Calibri" pitchFamily="34" charset="-122"/>
                <a:cs typeface="Calibri" pitchFamily="34" charset="-120"/>
              </a:rPr>
              <a:t>Offered by LapisAI and Xquisite AI
</a:t>
            </a:r>
            <a:endParaRPr lang="en-US" sz="1500" dirty="0"/>
          </a:p>
          <a:p>
            <a:pPr algn="l" indent="0" marL="0">
              <a:lnSpc>
                <a:spcPct val="135000"/>
              </a:lnSpc>
              <a:buNone/>
            </a:pPr>
            <a:r>
              <a:rPr lang="en-US" sz="1500" dirty="0">
                <a:solidFill>
                  <a:srgbClr val="D7E2F5"/>
                </a:solidFill>
                <a:latin typeface="Calibri" pitchFamily="34" charset="0"/>
                <a:ea typeface="Calibri" pitchFamily="34" charset="-122"/>
                <a:cs typeface="Calibri" pitchFamily="34" charset="-120"/>
              </a:rPr>
              <a:t>Team: Fazza Arrantisi, Fadhil, Gifari Madia, Yazid
</a:t>
            </a:r>
            <a:endParaRPr lang="en-US" sz="1500" dirty="0"/>
          </a:p>
          <a:p>
            <a:pPr algn="l" indent="0" marL="0">
              <a:lnSpc>
                <a:spcPct val="135000"/>
              </a:lnSpc>
              <a:buNone/>
            </a:pPr>
            <a:r>
              <a:rPr lang="en-US" sz="1500" dirty="0">
                <a:solidFill>
                  <a:srgbClr val="D7E2F5"/>
                </a:solidFill>
                <a:latin typeface="Calibri" pitchFamily="34" charset="0"/>
                <a:ea typeface="Calibri" pitchFamily="34" charset="-122"/>
                <a:cs typeface="Calibri" pitchFamily="34" charset="-120"/>
              </a:rPr>
              <a:t>Period: 24 June to 30 July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t"/>
          <a:lstStyle/>
          <a:p>
            <a:pPr algn="l" indent="0" marL="0">
              <a:buNone/>
            </a:pPr>
            <a:r>
              <a:rPr lang="en-US" sz="3000" b="1" dirty="0">
                <a:solidFill>
                  <a:srgbClr val="002452"/>
                </a:solidFill>
                <a:latin typeface="Calibri" pitchFamily="34" charset="0"/>
                <a:ea typeface="Calibri" pitchFamily="34" charset="-122"/>
                <a:cs typeface="Calibri" pitchFamily="34" charset="-120"/>
              </a:rPr>
              <a:t>Background and problem</a:t>
            </a:r>
            <a:endParaRPr lang="en-US" sz="3000" dirty="0"/>
          </a:p>
        </p:txBody>
      </p:sp>
      <p:sp>
        <p:nvSpPr>
          <p:cNvPr id="3" name="Text 1"/>
          <p:cNvSpPr/>
          <p:nvPr/>
        </p:nvSpPr>
        <p:spPr>
          <a:xfrm>
            <a:off x="548640" y="1463040"/>
            <a:ext cx="9097420" cy="1463040"/>
          </a:xfrm>
          <a:prstGeom prst="rect">
            <a:avLst/>
          </a:prstGeom>
          <a:noFill/>
          <a:ln/>
        </p:spPr>
        <p:txBody>
          <a:bodyPr wrap="square" lIns="0" tIns="0" rIns="0" bIns="0" rtlCol="0" anchor="ctr"/>
          <a:lstStyle/>
          <a:p>
            <a:pPr algn="l" indent="0" marL="0">
              <a:lnSpc>
                <a:spcPct val="130000"/>
              </a:lnSpc>
              <a:buNone/>
            </a:pPr>
            <a:r>
              <a:rPr lang="en-US" sz="2000" dirty="0">
                <a:solidFill>
                  <a:srgbClr val="1A2433"/>
                </a:solidFill>
                <a:latin typeface="Calibri" pitchFamily="34" charset="0"/>
                <a:ea typeface="Calibri" pitchFamily="34" charset="-122"/>
                <a:cs typeface="Calibri" pitchFamily="34" charset="-120"/>
              </a:rPr>
              <a:t>Finance and operations teams spend hours manually keying data from invoices, purchase orders, receipts and forms into their systems. The work is slow, costly and error prone, and it scales badly as volume grows.</a:t>
            </a:r>
            <a:endParaRPr lang="en-US" sz="2000" dirty="0"/>
          </a:p>
        </p:txBody>
      </p:sp>
      <p:sp>
        <p:nvSpPr>
          <p:cNvPr id="4" name="Text 2"/>
          <p:cNvSpPr/>
          <p:nvPr/>
        </p:nvSpPr>
        <p:spPr>
          <a:xfrm>
            <a:off x="548640" y="3246120"/>
            <a:ext cx="9097420" cy="1463040"/>
          </a:xfrm>
          <a:prstGeom prst="rect">
            <a:avLst/>
          </a:prstGeom>
          <a:noFill/>
          <a:ln/>
        </p:spPr>
        <p:txBody>
          <a:bodyPr wrap="square" lIns="0" tIns="0" rIns="0" bIns="0" rtlCol="0" anchor="ctr"/>
          <a:lstStyle/>
          <a:p>
            <a:pPr algn="l" indent="0" marL="0">
              <a:lnSpc>
                <a:spcPct val="130000"/>
              </a:lnSpc>
              <a:buNone/>
            </a:pPr>
            <a:r>
              <a:rPr lang="en-US" sz="2000" dirty="0">
                <a:solidFill>
                  <a:srgbClr val="44474F"/>
                </a:solidFill>
                <a:latin typeface="Calibri" pitchFamily="34" charset="0"/>
                <a:ea typeface="Calibri" pitchFamily="34" charset="-122"/>
                <a:cs typeface="Calibri" pitchFamily="34" charset="-120"/>
              </a:rPr>
              <a:t>Xquisite AI asked students to build an intelligent document processing pipeline that uses a multimodal LLM to read a document and output clean structured data, with validation and a human review step before export.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t"/>
          <a:lstStyle/>
          <a:p>
            <a:pPr algn="l" indent="0" marL="0">
              <a:buNone/>
            </a:pPr>
            <a:r>
              <a:rPr lang="en-US" sz="3000" b="1" dirty="0">
                <a:solidFill>
                  <a:srgbClr val="002452"/>
                </a:solidFill>
                <a:latin typeface="Calibri" pitchFamily="34" charset="0"/>
                <a:ea typeface="Calibri" pitchFamily="34" charset="-122"/>
                <a:cs typeface="Calibri" pitchFamily="34" charset="-120"/>
              </a:rPr>
              <a:t>Solution and the six deliverables</a:t>
            </a:r>
            <a:endParaRPr lang="en-US" sz="3000" dirty="0"/>
          </a:p>
        </p:txBody>
      </p:sp>
      <p:sp>
        <p:nvSpPr>
          <p:cNvPr id="3" name="Text 1"/>
          <p:cNvSpPr/>
          <p:nvPr/>
        </p:nvSpPr>
        <p:spPr>
          <a:xfrm>
            <a:off x="548640" y="1143000"/>
            <a:ext cx="11094415" cy="685800"/>
          </a:xfrm>
          <a:prstGeom prst="rect">
            <a:avLst/>
          </a:prstGeom>
          <a:noFill/>
          <a:ln/>
        </p:spPr>
        <p:txBody>
          <a:bodyPr wrap="square" lIns="0" tIns="0" rIns="0" bIns="0" rtlCol="0" anchor="ctr"/>
          <a:lstStyle/>
          <a:p>
            <a:pPr algn="l" indent="0" marL="0">
              <a:lnSpc>
                <a:spcPct val="120000"/>
              </a:lnSpc>
              <a:buNone/>
            </a:pPr>
            <a:r>
              <a:rPr lang="en-US" sz="1500" i="1" dirty="0">
                <a:solidFill>
                  <a:srgbClr val="44474F"/>
                </a:solidFill>
                <a:latin typeface="Calibri" pitchFamily="34" charset="0"/>
                <a:ea typeface="Calibri" pitchFamily="34" charset="-122"/>
                <a:cs typeface="Calibri" pitchFamily="34" charset="-120"/>
              </a:rPr>
              <a:t>A document is uploaded, a vision model reads the image directly and returns structured JSON, business rules validate it, a human reviews and corrects it, an admin approves it, and the data is exported.</a:t>
            </a:r>
            <a:endParaRPr lang="en-US" sz="1500" dirty="0"/>
          </a:p>
        </p:txBody>
      </p:sp>
      <p:sp>
        <p:nvSpPr>
          <p:cNvPr id="4" name="Text 2"/>
          <p:cNvSpPr/>
          <p:nvPr/>
        </p:nvSpPr>
        <p:spPr>
          <a:xfrm>
            <a:off x="548640" y="1965960"/>
            <a:ext cx="365760" cy="502920"/>
          </a:xfrm>
          <a:prstGeom prst="rect">
            <a:avLst/>
          </a:prstGeom>
          <a:noFill/>
          <a:ln/>
        </p:spPr>
        <p:txBody>
          <a:bodyPr wrap="square" lIns="0" tIns="0" rIns="0" bIns="0" rtlCol="0" anchor="t"/>
          <a:lstStyle/>
          <a:p>
            <a:pPr algn="l" indent="0" marL="0">
              <a:buNone/>
            </a:pPr>
            <a:r>
              <a:rPr lang="en-US" sz="1400" b="1" dirty="0">
                <a:solidFill>
                  <a:srgbClr val="0051D5"/>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960120" y="1965960"/>
            <a:ext cx="7818120" cy="502920"/>
          </a:xfrm>
          <a:prstGeom prst="rect">
            <a:avLst/>
          </a:prstGeom>
          <a:noFill/>
          <a:ln/>
        </p:spPr>
        <p:txBody>
          <a:bodyPr wrap="square" lIns="0" tIns="0" rIns="0" bIns="0" rtlCol="0" anchor="t"/>
          <a:lstStyle/>
          <a:p>
            <a:pPr algn="l" indent="0" marL="0">
              <a:lnSpc>
                <a:spcPct val="105000"/>
              </a:lnSpc>
              <a:buNone/>
            </a:pPr>
            <a:r>
              <a:rPr lang="en-US" sz="1300" dirty="0">
                <a:solidFill>
                  <a:srgbClr val="1A2433"/>
                </a:solidFill>
                <a:latin typeface="Calibri" pitchFamily="34" charset="0"/>
                <a:ea typeface="Calibri" pitchFamily="34" charset="-122"/>
                <a:cs typeface="Calibri" pitchFamily="34" charset="-120"/>
              </a:rPr>
              <a:t>Upload and structured field extraction per document type: invoice, PO and receipt.</a:t>
            </a:r>
            <a:endParaRPr lang="en-US" sz="1300" dirty="0"/>
          </a:p>
        </p:txBody>
      </p:sp>
      <p:sp>
        <p:nvSpPr>
          <p:cNvPr id="6" name="Text 4"/>
          <p:cNvSpPr/>
          <p:nvPr/>
        </p:nvSpPr>
        <p:spPr>
          <a:xfrm>
            <a:off x="8595360" y="1965960"/>
            <a:ext cx="3063240" cy="502920"/>
          </a:xfrm>
          <a:prstGeom prst="rect">
            <a:avLst/>
          </a:prstGeom>
          <a:noFill/>
          <a:ln/>
        </p:spPr>
        <p:txBody>
          <a:bodyPr wrap="square" lIns="0" tIns="0" rIns="0" bIns="0" rtlCol="0" anchor="t"/>
          <a:lstStyle/>
          <a:p>
            <a:pPr algn="l" indent="0" marL="0">
              <a:buNone/>
            </a:pPr>
            <a:r>
              <a:rPr lang="en-US" sz="1200" b="1" dirty="0">
                <a:solidFill>
                  <a:srgbClr val="15803D"/>
                </a:solidFill>
                <a:latin typeface="Calibri" pitchFamily="34" charset="0"/>
                <a:ea typeface="Calibri" pitchFamily="34" charset="-122"/>
                <a:cs typeface="Calibri" pitchFamily="34" charset="-120"/>
              </a:rPr>
              <a:t>Complete</a:t>
            </a:r>
            <a:endParaRPr lang="en-US" sz="1200" dirty="0"/>
          </a:p>
        </p:txBody>
      </p:sp>
      <p:sp>
        <p:nvSpPr>
          <p:cNvPr id="7" name="Text 5"/>
          <p:cNvSpPr/>
          <p:nvPr/>
        </p:nvSpPr>
        <p:spPr>
          <a:xfrm>
            <a:off x="548640" y="2468880"/>
            <a:ext cx="365760" cy="502920"/>
          </a:xfrm>
          <a:prstGeom prst="rect">
            <a:avLst/>
          </a:prstGeom>
          <a:noFill/>
          <a:ln/>
        </p:spPr>
        <p:txBody>
          <a:bodyPr wrap="square" lIns="0" tIns="0" rIns="0" bIns="0" rtlCol="0" anchor="t"/>
          <a:lstStyle/>
          <a:p>
            <a:pPr algn="l" indent="0" marL="0">
              <a:buNone/>
            </a:pPr>
            <a:r>
              <a:rPr lang="en-US" sz="1400" b="1" dirty="0">
                <a:solidFill>
                  <a:srgbClr val="0051D5"/>
                </a:solidFill>
                <a:latin typeface="Calibri" pitchFamily="34" charset="0"/>
                <a:ea typeface="Calibri" pitchFamily="34" charset="-122"/>
                <a:cs typeface="Calibri" pitchFamily="34" charset="-120"/>
              </a:rPr>
              <a:t>2</a:t>
            </a:r>
            <a:endParaRPr lang="en-US" sz="1400" dirty="0"/>
          </a:p>
        </p:txBody>
      </p:sp>
      <p:sp>
        <p:nvSpPr>
          <p:cNvPr id="8" name="Text 6"/>
          <p:cNvSpPr/>
          <p:nvPr/>
        </p:nvSpPr>
        <p:spPr>
          <a:xfrm>
            <a:off x="960120" y="2468880"/>
            <a:ext cx="7818120" cy="502920"/>
          </a:xfrm>
          <a:prstGeom prst="rect">
            <a:avLst/>
          </a:prstGeom>
          <a:noFill/>
          <a:ln/>
        </p:spPr>
        <p:txBody>
          <a:bodyPr wrap="square" lIns="0" tIns="0" rIns="0" bIns="0" rtlCol="0" anchor="t"/>
          <a:lstStyle/>
          <a:p>
            <a:pPr algn="l" indent="0" marL="0">
              <a:lnSpc>
                <a:spcPct val="105000"/>
              </a:lnSpc>
              <a:buNone/>
            </a:pPr>
            <a:r>
              <a:rPr lang="en-US" sz="1300" dirty="0">
                <a:solidFill>
                  <a:srgbClr val="1A2433"/>
                </a:solidFill>
                <a:latin typeface="Calibri" pitchFamily="34" charset="0"/>
                <a:ea typeface="Calibri" pitchFamily="34" charset="-122"/>
                <a:cs typeface="Calibri" pitchFamily="34" charset="-120"/>
              </a:rPr>
              <a:t>Validation rules that flag issues: totals reconcile, required fields present, format checks.</a:t>
            </a:r>
            <a:endParaRPr lang="en-US" sz="1300" dirty="0"/>
          </a:p>
        </p:txBody>
      </p:sp>
      <p:sp>
        <p:nvSpPr>
          <p:cNvPr id="9" name="Text 7"/>
          <p:cNvSpPr/>
          <p:nvPr/>
        </p:nvSpPr>
        <p:spPr>
          <a:xfrm>
            <a:off x="8595360" y="2468880"/>
            <a:ext cx="3063240" cy="502920"/>
          </a:xfrm>
          <a:prstGeom prst="rect">
            <a:avLst/>
          </a:prstGeom>
          <a:noFill/>
          <a:ln/>
        </p:spPr>
        <p:txBody>
          <a:bodyPr wrap="square" lIns="0" tIns="0" rIns="0" bIns="0" rtlCol="0" anchor="t"/>
          <a:lstStyle/>
          <a:p>
            <a:pPr algn="l" indent="0" marL="0">
              <a:buNone/>
            </a:pPr>
            <a:r>
              <a:rPr lang="en-US" sz="1200" b="1" dirty="0">
                <a:solidFill>
                  <a:srgbClr val="15803D"/>
                </a:solidFill>
                <a:latin typeface="Calibri" pitchFamily="34" charset="0"/>
                <a:ea typeface="Calibri" pitchFamily="34" charset="-122"/>
                <a:cs typeface="Calibri" pitchFamily="34" charset="-120"/>
              </a:rPr>
              <a:t>Complete, 9 rules</a:t>
            </a:r>
            <a:endParaRPr lang="en-US" sz="1200" dirty="0"/>
          </a:p>
        </p:txBody>
      </p:sp>
      <p:sp>
        <p:nvSpPr>
          <p:cNvPr id="10" name="Text 8"/>
          <p:cNvSpPr/>
          <p:nvPr/>
        </p:nvSpPr>
        <p:spPr>
          <a:xfrm>
            <a:off x="548640" y="2971800"/>
            <a:ext cx="365760" cy="502920"/>
          </a:xfrm>
          <a:prstGeom prst="rect">
            <a:avLst/>
          </a:prstGeom>
          <a:noFill/>
          <a:ln/>
        </p:spPr>
        <p:txBody>
          <a:bodyPr wrap="square" lIns="0" tIns="0" rIns="0" bIns="0" rtlCol="0" anchor="t"/>
          <a:lstStyle/>
          <a:p>
            <a:pPr algn="l" indent="0" marL="0">
              <a:buNone/>
            </a:pPr>
            <a:r>
              <a:rPr lang="en-US" sz="1400" b="1" dirty="0">
                <a:solidFill>
                  <a:srgbClr val="0051D5"/>
                </a:solidFill>
                <a:latin typeface="Calibri" pitchFamily="34" charset="0"/>
                <a:ea typeface="Calibri" pitchFamily="34" charset="-122"/>
                <a:cs typeface="Calibri" pitchFamily="34" charset="-120"/>
              </a:rPr>
              <a:t>3</a:t>
            </a:r>
            <a:endParaRPr lang="en-US" sz="1400" dirty="0"/>
          </a:p>
        </p:txBody>
      </p:sp>
      <p:sp>
        <p:nvSpPr>
          <p:cNvPr id="11" name="Text 9"/>
          <p:cNvSpPr/>
          <p:nvPr/>
        </p:nvSpPr>
        <p:spPr>
          <a:xfrm>
            <a:off x="960120" y="2971800"/>
            <a:ext cx="7818120" cy="502920"/>
          </a:xfrm>
          <a:prstGeom prst="rect">
            <a:avLst/>
          </a:prstGeom>
          <a:noFill/>
          <a:ln/>
        </p:spPr>
        <p:txBody>
          <a:bodyPr wrap="square" lIns="0" tIns="0" rIns="0" bIns="0" rtlCol="0" anchor="t"/>
          <a:lstStyle/>
          <a:p>
            <a:pPr algn="l" indent="0" marL="0">
              <a:lnSpc>
                <a:spcPct val="105000"/>
              </a:lnSpc>
              <a:buNone/>
            </a:pPr>
            <a:r>
              <a:rPr lang="en-US" sz="1300" dirty="0">
                <a:solidFill>
                  <a:srgbClr val="1A2433"/>
                </a:solidFill>
                <a:latin typeface="Calibri" pitchFamily="34" charset="0"/>
                <a:ea typeface="Calibri" pitchFamily="34" charset="-122"/>
                <a:cs typeface="Calibri" pitchFamily="34" charset="-120"/>
              </a:rPr>
              <a:t>Human in the loop review screen to correct and approve.</a:t>
            </a:r>
            <a:endParaRPr lang="en-US" sz="1300" dirty="0"/>
          </a:p>
        </p:txBody>
      </p:sp>
      <p:sp>
        <p:nvSpPr>
          <p:cNvPr id="12" name="Text 10"/>
          <p:cNvSpPr/>
          <p:nvPr/>
        </p:nvSpPr>
        <p:spPr>
          <a:xfrm>
            <a:off x="8595360" y="2971800"/>
            <a:ext cx="3063240" cy="502920"/>
          </a:xfrm>
          <a:prstGeom prst="rect">
            <a:avLst/>
          </a:prstGeom>
          <a:noFill/>
          <a:ln/>
        </p:spPr>
        <p:txBody>
          <a:bodyPr wrap="square" lIns="0" tIns="0" rIns="0" bIns="0" rtlCol="0" anchor="t"/>
          <a:lstStyle/>
          <a:p>
            <a:pPr algn="l" indent="0" marL="0">
              <a:buNone/>
            </a:pPr>
            <a:r>
              <a:rPr lang="en-US" sz="1200" b="1" dirty="0">
                <a:solidFill>
                  <a:srgbClr val="15803D"/>
                </a:solidFill>
                <a:latin typeface="Calibri" pitchFamily="34" charset="0"/>
                <a:ea typeface="Calibri" pitchFamily="34" charset="-122"/>
                <a:cs typeface="Calibri" pitchFamily="34" charset="-120"/>
              </a:rPr>
              <a:t>Complete</a:t>
            </a:r>
            <a:endParaRPr lang="en-US" sz="1200" dirty="0"/>
          </a:p>
        </p:txBody>
      </p:sp>
      <p:sp>
        <p:nvSpPr>
          <p:cNvPr id="13" name="Text 11"/>
          <p:cNvSpPr/>
          <p:nvPr/>
        </p:nvSpPr>
        <p:spPr>
          <a:xfrm>
            <a:off x="548640" y="3474720"/>
            <a:ext cx="365760" cy="502920"/>
          </a:xfrm>
          <a:prstGeom prst="rect">
            <a:avLst/>
          </a:prstGeom>
          <a:noFill/>
          <a:ln/>
        </p:spPr>
        <p:txBody>
          <a:bodyPr wrap="square" lIns="0" tIns="0" rIns="0" bIns="0" rtlCol="0" anchor="t"/>
          <a:lstStyle/>
          <a:p>
            <a:pPr algn="l" indent="0" marL="0">
              <a:buNone/>
            </a:pPr>
            <a:r>
              <a:rPr lang="en-US" sz="1400" b="1" dirty="0">
                <a:solidFill>
                  <a:srgbClr val="0051D5"/>
                </a:solidFill>
                <a:latin typeface="Calibri" pitchFamily="34" charset="0"/>
                <a:ea typeface="Calibri" pitchFamily="34" charset="-122"/>
                <a:cs typeface="Calibri" pitchFamily="34" charset="-120"/>
              </a:rPr>
              <a:t>4</a:t>
            </a:r>
            <a:endParaRPr lang="en-US" sz="1400" dirty="0"/>
          </a:p>
        </p:txBody>
      </p:sp>
      <p:sp>
        <p:nvSpPr>
          <p:cNvPr id="14" name="Text 12"/>
          <p:cNvSpPr/>
          <p:nvPr/>
        </p:nvSpPr>
        <p:spPr>
          <a:xfrm>
            <a:off x="960120" y="3474720"/>
            <a:ext cx="7818120" cy="502920"/>
          </a:xfrm>
          <a:prstGeom prst="rect">
            <a:avLst/>
          </a:prstGeom>
          <a:noFill/>
          <a:ln/>
        </p:spPr>
        <p:txBody>
          <a:bodyPr wrap="square" lIns="0" tIns="0" rIns="0" bIns="0" rtlCol="0" anchor="t"/>
          <a:lstStyle/>
          <a:p>
            <a:pPr algn="l" indent="0" marL="0">
              <a:lnSpc>
                <a:spcPct val="105000"/>
              </a:lnSpc>
              <a:buNone/>
            </a:pPr>
            <a:r>
              <a:rPr lang="en-US" sz="1300" dirty="0">
                <a:solidFill>
                  <a:srgbClr val="1A2433"/>
                </a:solidFill>
                <a:latin typeface="Calibri" pitchFamily="34" charset="0"/>
                <a:ea typeface="Calibri" pitchFamily="34" charset="-122"/>
                <a:cs typeface="Calibri" pitchFamily="34" charset="-120"/>
              </a:rPr>
              <a:t>Export to CSV/JSON and a mock API endpoint.</a:t>
            </a:r>
            <a:endParaRPr lang="en-US" sz="1300" dirty="0"/>
          </a:p>
        </p:txBody>
      </p:sp>
      <p:sp>
        <p:nvSpPr>
          <p:cNvPr id="15" name="Text 13"/>
          <p:cNvSpPr/>
          <p:nvPr/>
        </p:nvSpPr>
        <p:spPr>
          <a:xfrm>
            <a:off x="8595360" y="3474720"/>
            <a:ext cx="3063240" cy="502920"/>
          </a:xfrm>
          <a:prstGeom prst="rect">
            <a:avLst/>
          </a:prstGeom>
          <a:noFill/>
          <a:ln/>
        </p:spPr>
        <p:txBody>
          <a:bodyPr wrap="square" lIns="0" tIns="0" rIns="0" bIns="0" rtlCol="0" anchor="t"/>
          <a:lstStyle/>
          <a:p>
            <a:pPr algn="l" indent="0" marL="0">
              <a:buNone/>
            </a:pPr>
            <a:r>
              <a:rPr lang="en-US" sz="1200" b="1" dirty="0">
                <a:solidFill>
                  <a:srgbClr val="15803D"/>
                </a:solidFill>
                <a:latin typeface="Calibri" pitchFamily="34" charset="0"/>
                <a:ea typeface="Calibri" pitchFamily="34" charset="-122"/>
                <a:cs typeface="Calibri" pitchFamily="34" charset="-120"/>
              </a:rPr>
              <a:t>Complete, extended to PDF, Word and Excel</a:t>
            </a:r>
            <a:endParaRPr lang="en-US" sz="1200" dirty="0"/>
          </a:p>
        </p:txBody>
      </p:sp>
      <p:sp>
        <p:nvSpPr>
          <p:cNvPr id="16" name="Text 14"/>
          <p:cNvSpPr/>
          <p:nvPr/>
        </p:nvSpPr>
        <p:spPr>
          <a:xfrm>
            <a:off x="548640" y="3977640"/>
            <a:ext cx="365760" cy="502920"/>
          </a:xfrm>
          <a:prstGeom prst="rect">
            <a:avLst/>
          </a:prstGeom>
          <a:noFill/>
          <a:ln/>
        </p:spPr>
        <p:txBody>
          <a:bodyPr wrap="square" lIns="0" tIns="0" rIns="0" bIns="0" rtlCol="0" anchor="t"/>
          <a:lstStyle/>
          <a:p>
            <a:pPr algn="l" indent="0" marL="0">
              <a:buNone/>
            </a:pPr>
            <a:r>
              <a:rPr lang="en-US" sz="1400" b="1" dirty="0">
                <a:solidFill>
                  <a:srgbClr val="0051D5"/>
                </a:solidFill>
                <a:latin typeface="Calibri" pitchFamily="34" charset="0"/>
                <a:ea typeface="Calibri" pitchFamily="34" charset="-122"/>
                <a:cs typeface="Calibri" pitchFamily="34" charset="-120"/>
              </a:rPr>
              <a:t>5</a:t>
            </a:r>
            <a:endParaRPr lang="en-US" sz="1400" dirty="0"/>
          </a:p>
        </p:txBody>
      </p:sp>
      <p:sp>
        <p:nvSpPr>
          <p:cNvPr id="17" name="Text 15"/>
          <p:cNvSpPr/>
          <p:nvPr/>
        </p:nvSpPr>
        <p:spPr>
          <a:xfrm>
            <a:off x="960120" y="3977640"/>
            <a:ext cx="7818120" cy="502920"/>
          </a:xfrm>
          <a:prstGeom prst="rect">
            <a:avLst/>
          </a:prstGeom>
          <a:noFill/>
          <a:ln/>
        </p:spPr>
        <p:txBody>
          <a:bodyPr wrap="square" lIns="0" tIns="0" rIns="0" bIns="0" rtlCol="0" anchor="t"/>
          <a:lstStyle/>
          <a:p>
            <a:pPr algn="l" indent="0" marL="0">
              <a:lnSpc>
                <a:spcPct val="105000"/>
              </a:lnSpc>
              <a:buNone/>
            </a:pPr>
            <a:r>
              <a:rPr lang="en-US" sz="1300" dirty="0">
                <a:solidFill>
                  <a:srgbClr val="1A2433"/>
                </a:solidFill>
                <a:latin typeface="Calibri" pitchFamily="34" charset="0"/>
                <a:ea typeface="Calibri" pitchFamily="34" charset="-122"/>
                <a:cs typeface="Calibri" pitchFamily="34" charset="-120"/>
              </a:rPr>
              <a:t>Field level accuracy evaluation against ground truth labels.</a:t>
            </a:r>
            <a:endParaRPr lang="en-US" sz="1300" dirty="0"/>
          </a:p>
        </p:txBody>
      </p:sp>
      <p:sp>
        <p:nvSpPr>
          <p:cNvPr id="18" name="Text 16"/>
          <p:cNvSpPr/>
          <p:nvPr/>
        </p:nvSpPr>
        <p:spPr>
          <a:xfrm>
            <a:off x="8595360" y="3977640"/>
            <a:ext cx="3063240" cy="502920"/>
          </a:xfrm>
          <a:prstGeom prst="rect">
            <a:avLst/>
          </a:prstGeom>
          <a:noFill/>
          <a:ln/>
        </p:spPr>
        <p:txBody>
          <a:bodyPr wrap="square" lIns="0" tIns="0" rIns="0" bIns="0" rtlCol="0" anchor="t"/>
          <a:lstStyle/>
          <a:p>
            <a:pPr algn="l" indent="0" marL="0">
              <a:buNone/>
            </a:pPr>
            <a:r>
              <a:rPr lang="en-US" sz="1200" b="1" dirty="0">
                <a:solidFill>
                  <a:srgbClr val="15803D"/>
                </a:solidFill>
                <a:latin typeface="Calibri" pitchFamily="34" charset="0"/>
                <a:ea typeface="Calibri" pitchFamily="34" charset="-122"/>
                <a:cs typeface="Calibri" pitchFamily="34" charset="-120"/>
              </a:rPr>
              <a:t>Complete, 60 documents</a:t>
            </a:r>
            <a:endParaRPr lang="en-US" sz="1200" dirty="0"/>
          </a:p>
        </p:txBody>
      </p:sp>
      <p:sp>
        <p:nvSpPr>
          <p:cNvPr id="19" name="Text 17"/>
          <p:cNvSpPr/>
          <p:nvPr/>
        </p:nvSpPr>
        <p:spPr>
          <a:xfrm>
            <a:off x="548640" y="4480560"/>
            <a:ext cx="365760" cy="502920"/>
          </a:xfrm>
          <a:prstGeom prst="rect">
            <a:avLst/>
          </a:prstGeom>
          <a:noFill/>
          <a:ln/>
        </p:spPr>
        <p:txBody>
          <a:bodyPr wrap="square" lIns="0" tIns="0" rIns="0" bIns="0" rtlCol="0" anchor="t"/>
          <a:lstStyle/>
          <a:p>
            <a:pPr algn="l" indent="0" marL="0">
              <a:buNone/>
            </a:pPr>
            <a:r>
              <a:rPr lang="en-US" sz="1400" b="1" dirty="0">
                <a:solidFill>
                  <a:srgbClr val="0051D5"/>
                </a:solidFill>
                <a:latin typeface="Calibri" pitchFamily="34" charset="0"/>
                <a:ea typeface="Calibri" pitchFamily="34" charset="-122"/>
                <a:cs typeface="Calibri" pitchFamily="34" charset="-120"/>
              </a:rPr>
              <a:t>6</a:t>
            </a:r>
            <a:endParaRPr lang="en-US" sz="1400" dirty="0"/>
          </a:p>
        </p:txBody>
      </p:sp>
      <p:sp>
        <p:nvSpPr>
          <p:cNvPr id="20" name="Text 18"/>
          <p:cNvSpPr/>
          <p:nvPr/>
        </p:nvSpPr>
        <p:spPr>
          <a:xfrm>
            <a:off x="960120" y="4480560"/>
            <a:ext cx="7818120" cy="502920"/>
          </a:xfrm>
          <a:prstGeom prst="rect">
            <a:avLst/>
          </a:prstGeom>
          <a:noFill/>
          <a:ln/>
        </p:spPr>
        <p:txBody>
          <a:bodyPr wrap="square" lIns="0" tIns="0" rIns="0" bIns="0" rtlCol="0" anchor="t"/>
          <a:lstStyle/>
          <a:p>
            <a:pPr algn="l" indent="0" marL="0">
              <a:lnSpc>
                <a:spcPct val="105000"/>
              </a:lnSpc>
              <a:buNone/>
            </a:pPr>
            <a:r>
              <a:rPr lang="en-US" sz="1300" dirty="0">
                <a:solidFill>
                  <a:srgbClr val="1A2433"/>
                </a:solidFill>
                <a:latin typeface="Calibri" pitchFamily="34" charset="0"/>
                <a:ea typeface="Calibri" pitchFamily="34" charset="-122"/>
                <a:cs typeface="Calibri" pitchFamily="34" charset="-120"/>
              </a:rPr>
              <a:t>Cost benefit business case versus manual data entry.</a:t>
            </a:r>
            <a:endParaRPr lang="en-US" sz="1300" dirty="0"/>
          </a:p>
        </p:txBody>
      </p:sp>
      <p:sp>
        <p:nvSpPr>
          <p:cNvPr id="21" name="Text 19"/>
          <p:cNvSpPr/>
          <p:nvPr/>
        </p:nvSpPr>
        <p:spPr>
          <a:xfrm>
            <a:off x="8595360" y="4480560"/>
            <a:ext cx="3063240" cy="502920"/>
          </a:xfrm>
          <a:prstGeom prst="rect">
            <a:avLst/>
          </a:prstGeom>
          <a:noFill/>
          <a:ln/>
        </p:spPr>
        <p:txBody>
          <a:bodyPr wrap="square" lIns="0" tIns="0" rIns="0" bIns="0" rtlCol="0" anchor="t"/>
          <a:lstStyle/>
          <a:p>
            <a:pPr algn="l" indent="0" marL="0">
              <a:buNone/>
            </a:pPr>
            <a:r>
              <a:rPr lang="en-US" sz="1200" b="1" dirty="0">
                <a:solidFill>
                  <a:srgbClr val="15803D"/>
                </a:solidFill>
                <a:latin typeface="Calibri" pitchFamily="34" charset="0"/>
                <a:ea typeface="Calibri" pitchFamily="34" charset="-122"/>
                <a:cs typeface="Calibri" pitchFamily="34" charset="-120"/>
              </a:rPr>
              <a:t>Complete</a:t>
            </a:r>
            <a:endParaRPr lang="en-US" sz="1200" dirty="0"/>
          </a:p>
        </p:txBody>
      </p:sp>
      <p:sp>
        <p:nvSpPr>
          <p:cNvPr id="22" name="Shape 20"/>
          <p:cNvSpPr/>
          <p:nvPr/>
        </p:nvSpPr>
        <p:spPr>
          <a:xfrm>
            <a:off x="548640" y="5056632"/>
            <a:ext cx="11094415" cy="0"/>
          </a:xfrm>
          <a:prstGeom prst="line">
            <a:avLst/>
          </a:prstGeom>
          <a:noFill/>
          <a:ln w="12700">
            <a:solidFill>
              <a:srgbClr val="E3E8EF"/>
            </a:solidFill>
            <a:prstDash val="solid"/>
          </a:ln>
        </p:spPr>
        <p:txBody>
          <a:bodyPr/>
          <a:p/>
        </p:txBody>
      </p:sp>
      <p:sp>
        <p:nvSpPr>
          <p:cNvPr id="23" name="Text 21"/>
          <p:cNvSpPr/>
          <p:nvPr/>
        </p:nvSpPr>
        <p:spPr>
          <a:xfrm>
            <a:off x="548640" y="5184648"/>
            <a:ext cx="11094415" cy="640080"/>
          </a:xfrm>
          <a:prstGeom prst="rect">
            <a:avLst/>
          </a:prstGeom>
          <a:noFill/>
          <a:ln/>
        </p:spPr>
        <p:txBody>
          <a:bodyPr wrap="square" lIns="0" tIns="0" rIns="0" bIns="0" rtlCol="0" anchor="ctr"/>
          <a:lstStyle/>
          <a:p>
            <a:pPr algn="l" indent="0" marL="0">
              <a:lnSpc>
                <a:spcPct val="115000"/>
              </a:lnSpc>
              <a:buNone/>
            </a:pPr>
            <a:r>
              <a:rPr lang="en-US" sz="1300" b="1" dirty="0">
                <a:solidFill>
                  <a:srgbClr val="002452"/>
                </a:solidFill>
                <a:latin typeface="Calibri" pitchFamily="34" charset="0"/>
                <a:ea typeface="Calibri" pitchFamily="34" charset="-122"/>
                <a:cs typeface="Calibri" pitchFamily="34" charset="-120"/>
              </a:rPr>
              <a:t>Bonus, outside the brief: </a:t>
            </a:r>
            <a:pPr algn="l" indent="0" marL="0">
              <a:lnSpc>
                <a:spcPct val="115000"/>
              </a:lnSpc>
              <a:buNone/>
            </a:pPr>
            <a:r>
              <a:rPr lang="en-US" sz="1300" dirty="0">
                <a:solidFill>
                  <a:srgbClr val="44474F"/>
                </a:solidFill>
                <a:latin typeface="Calibri" pitchFamily="34" charset="0"/>
                <a:ea typeface="Calibri" pitchFamily="34" charset="-122"/>
                <a:cs typeface="Calibri" pitchFamily="34" charset="-120"/>
              </a:rPr>
              <a:t>a RAG assistant for asking questions about the extracted documents, with answers citing their source documents. Built after the main pipeline was solid.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t"/>
          <a:lstStyle/>
          <a:p>
            <a:pPr algn="l" indent="0" marL="0">
              <a:buNone/>
            </a:pPr>
            <a:r>
              <a:rPr lang="en-US" sz="3000" b="1" dirty="0">
                <a:solidFill>
                  <a:srgbClr val="002452"/>
                </a:solidFill>
                <a:latin typeface="Calibri" pitchFamily="34" charset="0"/>
                <a:ea typeface="Calibri" pitchFamily="34" charset="-122"/>
                <a:cs typeface="Calibri" pitchFamily="34" charset="-120"/>
              </a:rPr>
              <a:t>Technology choices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94415" cy="914400"/>
        </p:xfrm>
        <a:graphic>
          <a:graphicData uri="http://schemas.openxmlformats.org/drawingml/2006/table">
            <a:tbl>
              <a:tblPr/>
              <a:tblGrid>
                <a:gridCol w="1554480"/>
                <a:gridCol w="2880360"/>
                <a:gridCol w="2331720"/>
                <a:gridCol w="4318711"/>
              </a:tblGrid>
              <a:tr h="0">
                <a:tc>
                  <a:txBody>
                    <a:bodyPr/>
                    <a:lstStyle/>
                    <a:p>
                      <a:pPr indent="0" marL="0">
                        <a:buNone/>
                      </a:pPr>
                      <a:r>
                        <a:rPr lang="en-US" sz="1150" b="1" dirty="0">
                          <a:solidFill>
                            <a:srgbClr val="FFFFFF"/>
                          </a:solidFill>
                        </a:rPr>
                        <a:t>Area</a:t>
                      </a:r>
                      <a:endParaRPr lang="en-US" sz="1150" dirty="0"/>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solidFill>
                      <a:srgbClr val="002452"/>
                    </a:solidFill>
                  </a:tcPr>
                </a:tc>
                <a:tc>
                  <a:txBody>
                    <a:bodyPr/>
                    <a:lstStyle/>
                    <a:p>
                      <a:pPr indent="0" marL="0">
                        <a:buNone/>
                      </a:pPr>
                      <a:r>
                        <a:rPr lang="en-US" sz="1150" b="1" dirty="0">
                          <a:solidFill>
                            <a:srgbClr val="FFFFFF"/>
                          </a:solidFill>
                        </a:rPr>
                        <a:t>Brief recommended</a:t>
                      </a:r>
                      <a:endParaRPr lang="en-US" sz="1150" dirty="0"/>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solidFill>
                      <a:srgbClr val="002452"/>
                    </a:solidFill>
                  </a:tcPr>
                </a:tc>
                <a:tc>
                  <a:txBody>
                    <a:bodyPr/>
                    <a:lstStyle/>
                    <a:p>
                      <a:pPr indent="0" marL="0">
                        <a:buNone/>
                      </a:pPr>
                      <a:r>
                        <a:rPr lang="en-US" sz="1150" b="1" dirty="0">
                          <a:solidFill>
                            <a:srgbClr val="FFFFFF"/>
                          </a:solidFill>
                        </a:rPr>
                        <a:t>What we chose</a:t>
                      </a:r>
                      <a:endParaRPr lang="en-US" sz="1150" dirty="0"/>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solidFill>
                      <a:srgbClr val="002452"/>
                    </a:solidFill>
                  </a:tcPr>
                </a:tc>
                <a:tc>
                  <a:txBody>
                    <a:bodyPr/>
                    <a:lstStyle/>
                    <a:p>
                      <a:pPr indent="0" marL="0">
                        <a:buNone/>
                      </a:pPr>
                      <a:r>
                        <a:rPr lang="en-US" sz="1150" b="1" dirty="0">
                          <a:solidFill>
                            <a:srgbClr val="FFFFFF"/>
                          </a:solidFill>
                        </a:rPr>
                        <a:t>Reason</a:t>
                      </a:r>
                      <a:endParaRPr lang="en-US" sz="1150" dirty="0"/>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solidFill>
                      <a:srgbClr val="002452"/>
                    </a:solidFill>
                  </a:tcPr>
                </a:tc>
              </a:tr>
              <a:tr h="0">
                <a:tc>
                  <a:txBody>
                    <a:bodyPr/>
                    <a:lstStyle/>
                    <a:p>
                      <a:pPr indent="0" marL="0">
                        <a:buNone/>
                      </a:pPr>
                      <a:r>
                        <a:rPr lang="en-US" sz="1100" b="1" dirty="0">
                          <a:solidFill>
                            <a:srgbClr val="1A2433"/>
                          </a:solidFill>
                          <a:latin typeface="Calibri" pitchFamily="34" charset="0"/>
                          <a:ea typeface="Calibri" pitchFamily="34" charset="-122"/>
                          <a:cs typeface="Calibri" pitchFamily="34" charset="-120"/>
                        </a:rPr>
                        <a:t>Document loading</a:t>
                      </a:r>
                      <a:endParaRPr lang="en-US" sz="110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r>
                        <a:rPr lang="en-US" sz="1050" dirty="0">
                          <a:solidFill>
                            <a:srgbClr val="44474F"/>
                          </a:solidFill>
                          <a:latin typeface="Calibri" pitchFamily="34" charset="0"/>
                          <a:ea typeface="Calibri" pitchFamily="34" charset="-122"/>
                          <a:cs typeface="Calibri" pitchFamily="34" charset="-120"/>
                        </a:rPr>
                        <a:t>PyMuPDF or pdf2image</a:t>
                      </a: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r>
                        <a:rPr lang="en-US" sz="1050" dirty="0">
                          <a:solidFill>
                            <a:srgbClr val="44474F"/>
                          </a:solidFill>
                          <a:latin typeface="Calibri" pitchFamily="34" charset="0"/>
                          <a:ea typeface="Calibri" pitchFamily="34" charset="-122"/>
                          <a:cs typeface="Calibri" pitchFamily="34" charset="-120"/>
                        </a:rPr>
                        <a:t>PyMuPDF</a:t>
                      </a: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r>
                        <a:rPr lang="en-US" sz="1050" dirty="0">
                          <a:solidFill>
                            <a:srgbClr val="44474F"/>
                          </a:solidFill>
                          <a:latin typeface="Calibri" pitchFamily="34" charset="0"/>
                          <a:ea typeface="Calibri" pitchFamily="34" charset="-122"/>
                          <a:cs typeface="Calibri" pitchFamily="34" charset="-120"/>
                        </a:rPr>
                        <a:t>Followed the recommendation.</a:t>
                      </a: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r>
              <a:tr h="0">
                <a:tc>
                  <a:txBody>
                    <a:bodyPr/>
                    <a:lstStyle/>
                    <a:p>
                      <a:pPr indent="0" marL="0">
                        <a:buNone/>
                      </a:pPr>
                      <a:r>
                        <a:rPr lang="en-US" sz="1100" b="1" dirty="0">
                          <a:solidFill>
                            <a:srgbClr val="1A2433"/>
                          </a:solidFill>
                          <a:latin typeface="Calibri" pitchFamily="34" charset="0"/>
                          <a:ea typeface="Calibri" pitchFamily="34" charset="-122"/>
                          <a:cs typeface="Calibri" pitchFamily="34" charset="-120"/>
                        </a:rPr>
                        <a:t>Structured output</a:t>
                      </a:r>
                      <a:endParaRPr lang="en-US" sz="110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r>
                        <a:rPr lang="en-US" sz="1050" dirty="0">
                          <a:solidFill>
                            <a:srgbClr val="44474F"/>
                          </a:solidFill>
                          <a:latin typeface="Calibri" pitchFamily="34" charset="0"/>
                          <a:ea typeface="Calibri" pitchFamily="34" charset="-122"/>
                          <a:cs typeface="Calibri" pitchFamily="34" charset="-120"/>
                        </a:rPr>
                        <a:t>pydantic</a:t>
                      </a: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r>
                        <a:rPr lang="en-US" sz="1050" dirty="0">
                          <a:solidFill>
                            <a:srgbClr val="44474F"/>
                          </a:solidFill>
                          <a:latin typeface="Calibri" pitchFamily="34" charset="0"/>
                          <a:ea typeface="Calibri" pitchFamily="34" charset="-122"/>
                          <a:cs typeface="Calibri" pitchFamily="34" charset="-120"/>
                        </a:rPr>
                        <a:t>pydantic</a:t>
                      </a: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r>
                        <a:rPr lang="en-US" sz="1050" dirty="0">
                          <a:solidFill>
                            <a:srgbClr val="44474F"/>
                          </a:solidFill>
                          <a:latin typeface="Calibri" pitchFamily="34" charset="0"/>
                          <a:ea typeface="Calibri" pitchFamily="34" charset="-122"/>
                          <a:cs typeface="Calibri" pitchFamily="34" charset="-120"/>
                        </a:rPr>
                        <a:t>Followed the recommendation.</a:t>
                      </a: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r>
              <a:tr h="0">
                <a:tc>
                  <a:txBody>
                    <a:bodyPr/>
                    <a:lstStyle/>
                    <a:p>
                      <a:pPr indent="0" marL="0">
                        <a:buNone/>
                      </a:pPr>
                      <a:r>
                        <a:rPr lang="en-US" sz="1100" b="1" dirty="0">
                          <a:solidFill>
                            <a:srgbClr val="1A2433"/>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r>
                        <a:rPr lang="en-US" sz="1050" dirty="0">
                          <a:solidFill>
                            <a:srgbClr val="44474F"/>
                          </a:solidFill>
                          <a:latin typeface="Calibri" pitchFamily="34" charset="0"/>
                          <a:ea typeface="Calibri" pitchFamily="34" charset="-122"/>
                          <a:cs typeface="Calibri" pitchFamily="34" charset="-120"/>
                        </a:rPr>
                        <a:t>OpenAI GPT-4o vision, or a vision capable local model via Ollama</a:t>
                      </a: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r>
                        <a:rPr lang="en-US" sz="1050" dirty="0">
                          <a:solidFill>
                            <a:srgbClr val="44474F"/>
                          </a:solidFill>
                          <a:latin typeface="Calibri" pitchFamily="34" charset="0"/>
                          <a:ea typeface="Calibri" pitchFamily="34" charset="-122"/>
                          <a:cs typeface="Calibri" pitchFamily="34" charset="-120"/>
                        </a:rPr>
                        <a:t>Local model through LM Studio</a:t>
                      </a: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r>
                        <a:rPr lang="en-US" sz="1050" dirty="0">
                          <a:solidFill>
                            <a:srgbClr val="44474F"/>
                          </a:solidFill>
                          <a:latin typeface="Calibri" pitchFamily="34" charset="0"/>
                          <a:ea typeface="Calibri" pitchFamily="34" charset="-122"/>
                          <a:cs typeface="Calibri" pitchFamily="34" charset="-120"/>
                        </a:rPr>
                        <a:t>Financial documents never leave the machine, and per document compute cost is close to zero, which is what makes our business case hold.</a:t>
                      </a: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r>
              <a:tr h="0">
                <a:tc>
                  <a:txBody>
                    <a:bodyPr/>
                    <a:lstStyle/>
                    <a:p>
                      <a:pPr indent="0" marL="0">
                        <a:buNone/>
                      </a:pPr>
                      <a:r>
                        <a:rPr lang="en-US" sz="1100" b="1" dirty="0">
                          <a:solidFill>
                            <a:srgbClr val="1A2433"/>
                          </a:solidFill>
                          <a:latin typeface="Calibri" pitchFamily="34" charset="0"/>
                          <a:ea typeface="Calibri" pitchFamily="34" charset="-122"/>
                          <a:cs typeface="Calibri" pitchFamily="34" charset="-120"/>
                        </a:rPr>
                        <a:t>Review UI</a:t>
                      </a:r>
                      <a:endParaRPr lang="en-US" sz="110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r>
                        <a:rPr lang="en-US" sz="1050" dirty="0">
                          <a:solidFill>
                            <a:srgbClr val="44474F"/>
                          </a:solidFill>
                          <a:latin typeface="Calibri" pitchFamily="34" charset="0"/>
                          <a:ea typeface="Calibri" pitchFamily="34" charset="-122"/>
                          <a:cs typeface="Calibri" pitchFamily="34" charset="-120"/>
                        </a:rPr>
                        <a:t>Streamlit</a:t>
                      </a: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r>
                        <a:rPr lang="en-US" sz="1050" dirty="0">
                          <a:solidFill>
                            <a:srgbClr val="44474F"/>
                          </a:solidFill>
                          <a:latin typeface="Calibri" pitchFamily="34" charset="0"/>
                          <a:ea typeface="Calibri" pitchFamily="34" charset="-122"/>
                          <a:cs typeface="Calibri" pitchFamily="34" charset="-120"/>
                        </a:rPr>
                        <a:t>React with Vite and Tailwind</a:t>
                      </a: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r>
                        <a:rPr lang="en-US" sz="1050" dirty="0">
                          <a:solidFill>
                            <a:srgbClr val="44474F"/>
                          </a:solidFill>
                          <a:latin typeface="Calibri" pitchFamily="34" charset="0"/>
                          <a:ea typeface="Calibri" pitchFamily="34" charset="-122"/>
                          <a:cs typeface="Calibri" pitchFamily="34" charset="-120"/>
                        </a:rPr>
                        <a:t>We needed layered roles, guarded routes, and the source document shown side by side with the extracted fields, which Streamlit does not do well.</a:t>
                      </a: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r>
              <a:tr h="0">
                <a:tc>
                  <a:txBody>
                    <a:bodyPr/>
                    <a:lstStyle/>
                    <a:p>
                      <a:pPr indent="0" marL="0">
                        <a:buNone/>
                      </a:pPr>
                      <a:r>
                        <a:rPr lang="en-US" sz="1100" b="1" dirty="0">
                          <a:solidFill>
                            <a:srgbClr val="1A2433"/>
                          </a:solidFill>
                          <a:latin typeface="Calibri" pitchFamily="34" charset="0"/>
                          <a:ea typeface="Calibri" pitchFamily="34" charset="-122"/>
                          <a:cs typeface="Calibri" pitchFamily="34" charset="-120"/>
                        </a:rPr>
                        <a:t>Backend</a:t>
                      </a:r>
                      <a:endParaRPr lang="en-US" sz="110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r>
                        <a:rPr lang="en-US" sz="1050" dirty="0">
                          <a:solidFill>
                            <a:srgbClr val="44474F"/>
                          </a:solidFill>
                          <a:latin typeface="Calibri" pitchFamily="34" charset="0"/>
                          <a:ea typeface="Calibri" pitchFamily="34" charset="-122"/>
                          <a:cs typeface="Calibri" pitchFamily="34" charset="-120"/>
                        </a:rPr>
                        <a:t>Not specified in the brief</a:t>
                      </a: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r>
                        <a:rPr lang="en-US" sz="1050" dirty="0">
                          <a:solidFill>
                            <a:srgbClr val="44474F"/>
                          </a:solidFill>
                          <a:latin typeface="Calibri" pitchFamily="34" charset="0"/>
                          <a:ea typeface="Calibri" pitchFamily="34" charset="-122"/>
                          <a:cs typeface="Calibri" pitchFamily="34" charset="-120"/>
                        </a:rPr>
                        <a:t>FastAPI</a:t>
                      </a: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r>
              <a:tr h="0">
                <a:tc>
                  <a:txBody>
                    <a:bodyPr/>
                    <a:lstStyle/>
                    <a:p>
                      <a:pPr indent="0" marL="0">
                        <a:buNone/>
                      </a:pPr>
                      <a:r>
                        <a:rPr lang="en-US" sz="1100" b="1" dirty="0">
                          <a:solidFill>
                            <a:srgbClr val="1A2433"/>
                          </a:solidFill>
                          <a:latin typeface="Calibri" pitchFamily="34" charset="0"/>
                          <a:ea typeface="Calibri" pitchFamily="34" charset="-122"/>
                          <a:cs typeface="Calibri" pitchFamily="34" charset="-120"/>
                        </a:rPr>
                        <a:t>Storage</a:t>
                      </a:r>
                      <a:endParaRPr lang="en-US" sz="110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r>
                        <a:rPr lang="en-US" sz="1050" dirty="0">
                          <a:solidFill>
                            <a:srgbClr val="44474F"/>
                          </a:solidFill>
                          <a:latin typeface="Calibri" pitchFamily="34" charset="0"/>
                          <a:ea typeface="Calibri" pitchFamily="34" charset="-122"/>
                          <a:cs typeface="Calibri" pitchFamily="34" charset="-120"/>
                        </a:rPr>
                        <a:t>Not specified in the brief</a:t>
                      </a: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r>
                        <a:rPr lang="en-US" sz="1050" dirty="0">
                          <a:solidFill>
                            <a:srgbClr val="44474F"/>
                          </a:solidFill>
                          <a:latin typeface="Calibri" pitchFamily="34" charset="0"/>
                          <a:ea typeface="Calibri" pitchFamily="34" charset="-122"/>
                          <a:cs typeface="Calibri" pitchFamily="34" charset="-120"/>
                        </a:rPr>
                        <a:t>SQLite</a:t>
                      </a: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76200" marR="76200" marT="38100" marB="38100" anchor="ctr">
                    <a:lnL w="9525" cap="flat" cmpd="sng" algn="ctr">
                      <a:solidFill>
                        <a:srgbClr val="E3E8EF"/>
                      </a:solidFill>
                      <a:prstDash val="solid"/>
                      <a:round/>
                      <a:headEnd type="none" w="med" len="med"/>
                      <a:tailEnd type="none" w="med" len="med"/>
                    </a:lnL>
                    <a:lnR w="9525" cap="flat" cmpd="sng" algn="ctr">
                      <a:solidFill>
                        <a:srgbClr val="E3E8EF"/>
                      </a:solidFill>
                      <a:prstDash val="solid"/>
                      <a:round/>
                      <a:headEnd type="none" w="med" len="med"/>
                      <a:tailEnd type="none" w="med" len="med"/>
                    </a:lnR>
                    <a:lnT w="9525" cap="flat" cmpd="sng" algn="ctr">
                      <a:solidFill>
                        <a:srgbClr val="E3E8EF"/>
                      </a:solidFill>
                      <a:prstDash val="solid"/>
                      <a:round/>
                      <a:headEnd type="none" w="med" len="med"/>
                      <a:tailEnd type="none" w="med" len="med"/>
                    </a:lnT>
                    <a:lnB w="9525" cap="flat" cmpd="sng" algn="ctr">
                      <a:solidFill>
                        <a:srgbClr val="E3E8EF"/>
                      </a:solidFill>
                      <a:prstDash val="solid"/>
                      <a:round/>
                      <a:headEnd type="none" w="med" len="med"/>
                      <a:tailEnd type="none" w="med" len="med"/>
                    </a:lnB>
                  </a:tcPr>
                </a:tc>
              </a:tr>
            </a:tbl>
          </a:graphicData>
        </a:graphic>
      </p:graphicFrame>
      <p:sp>
        <p:nvSpPr>
          <p:cNvPr id="4" name="Shape 1"/>
          <p:cNvSpPr/>
          <p:nvPr/>
        </p:nvSpPr>
        <p:spPr>
          <a:xfrm>
            <a:off x="548640" y="4069080"/>
            <a:ext cx="11094415" cy="777240"/>
          </a:xfrm>
          <a:prstGeom prst="rect">
            <a:avLst/>
          </a:prstGeom>
          <a:solidFill>
            <a:srgbClr val="F7F9FC"/>
          </a:solidFill>
          <a:ln w="12700">
            <a:solidFill>
              <a:srgbClr val="E3E8EF"/>
            </a:solidFill>
            <a:prstDash val="solid"/>
          </a:ln>
        </p:spPr>
        <p:txBody>
          <a:bodyPr/>
          <a:p/>
        </p:txBody>
      </p:sp>
      <p:sp>
        <p:nvSpPr>
          <p:cNvPr id="5" name="Text 2"/>
          <p:cNvSpPr/>
          <p:nvPr/>
        </p:nvSpPr>
        <p:spPr>
          <a:xfrm>
            <a:off x="731520" y="4069080"/>
            <a:ext cx="10728655" cy="777240"/>
          </a:xfrm>
          <a:prstGeom prst="rect">
            <a:avLst/>
          </a:prstGeom>
          <a:noFill/>
          <a:ln/>
        </p:spPr>
        <p:txBody>
          <a:bodyPr wrap="square" lIns="0" tIns="0" rIns="0" bIns="0" rtlCol="0" anchor="ctr"/>
          <a:lstStyle/>
          <a:p>
            <a:pPr algn="l" indent="0" marL="0">
              <a:lnSpc>
                <a:spcPct val="115000"/>
              </a:lnSpc>
              <a:buNone/>
            </a:pPr>
            <a:r>
              <a:rPr lang="en-US" sz="1400" b="1" dirty="0">
                <a:solidFill>
                  <a:srgbClr val="002452"/>
                </a:solidFill>
                <a:latin typeface="Calibri" pitchFamily="34" charset="0"/>
                <a:ea typeface="Calibri" pitchFamily="34" charset="-122"/>
                <a:cs typeface="Calibri" pitchFamily="34" charset="-120"/>
              </a:rPr>
              <a:t>The vision model IS the OCR. </a:t>
            </a:r>
            <a:pPr algn="l" indent="0" marL="0">
              <a:lnSpc>
                <a:spcPct val="115000"/>
              </a:lnSpc>
              <a:buNone/>
            </a:pPr>
            <a:r>
              <a:rPr lang="en-US" sz="1400" dirty="0">
                <a:solidFill>
                  <a:srgbClr val="1A2433"/>
                </a:solidFill>
                <a:latin typeface="Calibri" pitchFamily="34" charset="0"/>
                <a:ea typeface="Calibri" pitchFamily="34" charset="-122"/>
                <a:cs typeface="Calibri" pitchFamily="34" charset="-120"/>
              </a:rPr>
              <a:t>There is no Tesseract and no separate OCR engine. The model reads the image and returns structured fields in a single step.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t"/>
          <a:lstStyle/>
          <a:p>
            <a:pPr algn="l" indent="0" marL="0">
              <a:buNone/>
            </a:pPr>
            <a:r>
              <a:rPr lang="en-US" sz="3000" b="1" dirty="0">
                <a:solidFill>
                  <a:srgbClr val="002452"/>
                </a:solidFill>
                <a:latin typeface="Calibri" pitchFamily="34" charset="0"/>
                <a:ea typeface="Calibri" pitchFamily="34" charset="-122"/>
                <a:cs typeface="Calibri" pitchFamily="34" charset="-120"/>
              </a:rPr>
              <a:t>Models used</a:t>
            </a:r>
            <a:endParaRPr lang="en-US" sz="3000" dirty="0"/>
          </a:p>
        </p:txBody>
      </p:sp>
      <p:sp>
        <p:nvSpPr>
          <p:cNvPr id="3" name="Text 1"/>
          <p:cNvSpPr/>
          <p:nvPr/>
        </p:nvSpPr>
        <p:spPr>
          <a:xfrm>
            <a:off x="548640" y="1097280"/>
            <a:ext cx="6309360" cy="365760"/>
          </a:xfrm>
          <a:prstGeom prst="rect">
            <a:avLst/>
          </a:prstGeom>
          <a:noFill/>
          <a:ln/>
        </p:spPr>
        <p:txBody>
          <a:bodyPr wrap="square" lIns="0" tIns="0" rIns="0" bIns="0" rtlCol="0" anchor="ctr"/>
          <a:lstStyle/>
          <a:p>
            <a:pPr algn="l" indent="0" marL="0">
              <a:buNone/>
            </a:pPr>
            <a:r>
              <a:rPr lang="en-US" sz="1300" b="1" dirty="0">
                <a:solidFill>
                  <a:srgbClr val="44474F"/>
                </a:solidFill>
                <a:latin typeface="Calibri" pitchFamily="34" charset="0"/>
                <a:ea typeface="Calibri" pitchFamily="34" charset="-122"/>
                <a:cs typeface="Calibri" pitchFamily="34" charset="-120"/>
              </a:rPr>
              <a:t>Three profiles the user can pick from at upload time</a:t>
            </a:r>
            <a:endParaRPr lang="en-US" sz="1300" dirty="0"/>
          </a:p>
        </p:txBody>
      </p:sp>
      <p:sp>
        <p:nvSpPr>
          <p:cNvPr id="4" name="Text 2"/>
          <p:cNvSpPr/>
          <p:nvPr/>
        </p:nvSpPr>
        <p:spPr>
          <a:xfrm>
            <a:off x="548640" y="1554480"/>
            <a:ext cx="320040" cy="548640"/>
          </a:xfrm>
          <a:prstGeom prst="rect">
            <a:avLst/>
          </a:prstGeom>
          <a:noFill/>
          <a:ln/>
        </p:spPr>
        <p:txBody>
          <a:bodyPr wrap="square" lIns="0" tIns="0" rIns="0" bIns="0" rtlCol="0" anchor="t"/>
          <a:lstStyle/>
          <a:p>
            <a:pPr indent="0" marL="0">
              <a:buNone/>
            </a:pPr>
            <a:r>
              <a:rPr lang="en-US" sz="1300" b="1" dirty="0">
                <a:solidFill>
                  <a:srgbClr val="0051D5"/>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914400" y="1554480"/>
            <a:ext cx="5943600" cy="548640"/>
          </a:xfrm>
          <a:prstGeom prst="rect">
            <a:avLst/>
          </a:prstGeom>
          <a:noFill/>
          <a:ln/>
        </p:spPr>
        <p:txBody>
          <a:bodyPr wrap="square" lIns="0" tIns="0" rIns="0" bIns="0" rtlCol="0" anchor="t"/>
          <a:lstStyle/>
          <a:p>
            <a:pPr indent="0" marL="0">
              <a:lnSpc>
                <a:spcPct val="110000"/>
              </a:lnSpc>
              <a:buNone/>
            </a:pPr>
            <a:r>
              <a:rPr lang="en-US" sz="1300" b="1" dirty="0">
                <a:solidFill>
                  <a:srgbClr val="1A2433"/>
                </a:solidFill>
                <a:latin typeface="Calibri" pitchFamily="34" charset="0"/>
                <a:ea typeface="Calibri" pitchFamily="34" charset="-122"/>
                <a:cs typeface="Calibri" pitchFamily="34" charset="-120"/>
              </a:rPr>
              <a:t>qwen/qwen3-vl-4b
</a:t>
            </a:r>
            <a:endParaRPr lang="en-US" sz="1300" dirty="0"/>
          </a:p>
          <a:p>
            <a:pPr indent="0" marL="0">
              <a:lnSpc>
                <a:spcPct val="110000"/>
              </a:lnSpc>
              <a:buNone/>
            </a:pPr>
            <a:r>
              <a:rPr lang="en-US" sz="1150" dirty="0">
                <a:solidFill>
                  <a:srgbClr val="44474F"/>
                </a:solidFill>
                <a:latin typeface="Calibri" pitchFamily="34" charset="0"/>
                <a:ea typeface="Calibri" pitchFamily="34" charset="-122"/>
                <a:cs typeface="Calibri" pitchFamily="34" charset="-120"/>
              </a:rPr>
              <a:t>LM Studio, local. This is the default.</a:t>
            </a:r>
            <a:endParaRPr lang="en-US" sz="1300" dirty="0"/>
          </a:p>
        </p:txBody>
      </p:sp>
      <p:sp>
        <p:nvSpPr>
          <p:cNvPr id="6" name="Text 4"/>
          <p:cNvSpPr/>
          <p:nvPr/>
        </p:nvSpPr>
        <p:spPr>
          <a:xfrm>
            <a:off x="548640" y="2212848"/>
            <a:ext cx="320040" cy="548640"/>
          </a:xfrm>
          <a:prstGeom prst="rect">
            <a:avLst/>
          </a:prstGeom>
          <a:noFill/>
          <a:ln/>
        </p:spPr>
        <p:txBody>
          <a:bodyPr wrap="square" lIns="0" tIns="0" rIns="0" bIns="0" rtlCol="0" anchor="t"/>
          <a:lstStyle/>
          <a:p>
            <a:pPr indent="0" marL="0">
              <a:buNone/>
            </a:pPr>
            <a:r>
              <a:rPr lang="en-US" sz="1300" b="1" dirty="0">
                <a:solidFill>
                  <a:srgbClr val="0051D5"/>
                </a:solidFill>
                <a:latin typeface="Calibri" pitchFamily="34" charset="0"/>
                <a:ea typeface="Calibri" pitchFamily="34" charset="-122"/>
                <a:cs typeface="Calibri" pitchFamily="34" charset="-120"/>
              </a:rPr>
              <a:t>2</a:t>
            </a:r>
            <a:endParaRPr lang="en-US" sz="1300" dirty="0"/>
          </a:p>
        </p:txBody>
      </p:sp>
      <p:sp>
        <p:nvSpPr>
          <p:cNvPr id="7" name="Text 5"/>
          <p:cNvSpPr/>
          <p:nvPr/>
        </p:nvSpPr>
        <p:spPr>
          <a:xfrm>
            <a:off x="914400" y="2212848"/>
            <a:ext cx="5943600" cy="548640"/>
          </a:xfrm>
          <a:prstGeom prst="rect">
            <a:avLst/>
          </a:prstGeom>
          <a:noFill/>
          <a:ln/>
        </p:spPr>
        <p:txBody>
          <a:bodyPr wrap="square" lIns="0" tIns="0" rIns="0" bIns="0" rtlCol="0" anchor="t"/>
          <a:lstStyle/>
          <a:p>
            <a:pPr indent="0" marL="0">
              <a:lnSpc>
                <a:spcPct val="110000"/>
              </a:lnSpc>
              <a:buNone/>
            </a:pPr>
            <a:r>
              <a:rPr lang="en-US" sz="1300" b="1" dirty="0">
                <a:solidFill>
                  <a:srgbClr val="1A2433"/>
                </a:solidFill>
                <a:latin typeface="Calibri" pitchFamily="34" charset="0"/>
                <a:ea typeface="Calibri" pitchFamily="34" charset="-122"/>
                <a:cs typeface="Calibri" pitchFamily="34" charset="-120"/>
              </a:rPr>
              <a:t>minicpm-v4.6
</a:t>
            </a:r>
            <a:endParaRPr lang="en-US" sz="1300" dirty="0"/>
          </a:p>
          <a:p>
            <a:pPr indent="0" marL="0">
              <a:lnSpc>
                <a:spcPct val="110000"/>
              </a:lnSpc>
              <a:buNone/>
            </a:pPr>
            <a:r>
              <a:rPr lang="en-US" sz="1150" dirty="0">
                <a:solidFill>
                  <a:srgbClr val="44474F"/>
                </a:solidFill>
                <a:latin typeface="Calibri" pitchFamily="34" charset="0"/>
                <a:ea typeface="Calibri" pitchFamily="34" charset="-122"/>
                <a:cs typeface="Calibri" pitchFamily="34" charset="-120"/>
              </a:rPr>
              <a:t>Ollama, local. Kept as a comparison.</a:t>
            </a:r>
            <a:endParaRPr lang="en-US" sz="1300" dirty="0"/>
          </a:p>
        </p:txBody>
      </p:sp>
      <p:sp>
        <p:nvSpPr>
          <p:cNvPr id="8" name="Text 6"/>
          <p:cNvSpPr/>
          <p:nvPr/>
        </p:nvSpPr>
        <p:spPr>
          <a:xfrm>
            <a:off x="548640" y="2871216"/>
            <a:ext cx="320040" cy="1051560"/>
          </a:xfrm>
          <a:prstGeom prst="rect">
            <a:avLst/>
          </a:prstGeom>
          <a:noFill/>
          <a:ln/>
        </p:spPr>
        <p:txBody>
          <a:bodyPr wrap="square" lIns="0" tIns="0" rIns="0" bIns="0" rtlCol="0" anchor="t"/>
          <a:lstStyle/>
          <a:p>
            <a:pPr indent="0" marL="0">
              <a:buNone/>
            </a:pPr>
            <a:r>
              <a:rPr lang="en-US" sz="1300" b="1" dirty="0">
                <a:solidFill>
                  <a:srgbClr val="0051D5"/>
                </a:solidFill>
                <a:latin typeface="Calibri" pitchFamily="34" charset="0"/>
                <a:ea typeface="Calibri" pitchFamily="34" charset="-122"/>
                <a:cs typeface="Calibri" pitchFamily="34" charset="-120"/>
              </a:rPr>
              <a:t>3</a:t>
            </a:r>
            <a:endParaRPr lang="en-US" sz="1300" dirty="0"/>
          </a:p>
        </p:txBody>
      </p:sp>
      <p:sp>
        <p:nvSpPr>
          <p:cNvPr id="9" name="Text 7"/>
          <p:cNvSpPr/>
          <p:nvPr/>
        </p:nvSpPr>
        <p:spPr>
          <a:xfrm>
            <a:off x="914400" y="2871216"/>
            <a:ext cx="5943600" cy="1051560"/>
          </a:xfrm>
          <a:prstGeom prst="rect">
            <a:avLst/>
          </a:prstGeom>
          <a:noFill/>
          <a:ln/>
        </p:spPr>
        <p:txBody>
          <a:bodyPr wrap="square" lIns="0" tIns="0" rIns="0" bIns="0" rtlCol="0" anchor="t"/>
          <a:lstStyle/>
          <a:p>
            <a:pPr indent="0" marL="0">
              <a:lnSpc>
                <a:spcPct val="110000"/>
              </a:lnSpc>
              <a:buNone/>
            </a:pPr>
            <a:r>
              <a:rPr lang="en-US" sz="1300" b="1" dirty="0">
                <a:solidFill>
                  <a:srgbClr val="1A2433"/>
                </a:solidFill>
                <a:latin typeface="Calibri" pitchFamily="34" charset="0"/>
                <a:ea typeface="Calibri" pitchFamily="34" charset="-122"/>
                <a:cs typeface="Calibri" pitchFamily="34" charset="-120"/>
              </a:rPr>
              <a:t>Gemini
</a:t>
            </a:r>
            <a:endParaRPr lang="en-US" sz="1300" dirty="0"/>
          </a:p>
          <a:p>
            <a:pPr indent="0" marL="0">
              <a:lnSpc>
                <a:spcPct val="110000"/>
              </a:lnSpc>
              <a:buNone/>
            </a:pPr>
            <a:r>
              <a:rPr lang="en-US" sz="1150" dirty="0">
                <a:solidFill>
                  <a:srgbClr val="44474F"/>
                </a:solidFill>
                <a:latin typeface="Calibri" pitchFamily="34" charset="0"/>
                <a:ea typeface="Calibri" pitchFamily="34" charset="-122"/>
                <a:cs typeface="Calibri" pitchFamily="34" charset="-120"/>
              </a:rPr>
              <a:t>Google API, hosted. Deliberately not the default: it sends documents to Google, which breaks two claims in our business case, near zero compute cost and data never leaving the machine.</a:t>
            </a:r>
            <a:endParaRPr lang="en-US" sz="1300" dirty="0"/>
          </a:p>
        </p:txBody>
      </p:sp>
      <p:sp>
        <p:nvSpPr>
          <p:cNvPr id="10" name="Shape 8"/>
          <p:cNvSpPr/>
          <p:nvPr/>
        </p:nvSpPr>
        <p:spPr>
          <a:xfrm>
            <a:off x="548640" y="4078224"/>
            <a:ext cx="6309360" cy="0"/>
          </a:xfrm>
          <a:prstGeom prst="line">
            <a:avLst/>
          </a:prstGeom>
          <a:noFill/>
          <a:ln w="12700">
            <a:solidFill>
              <a:srgbClr val="E3E8EF"/>
            </a:solidFill>
            <a:prstDash val="solid"/>
          </a:ln>
        </p:spPr>
        <p:txBody>
          <a:bodyPr/>
          <a:p/>
        </p:txBody>
      </p:sp>
      <p:sp>
        <p:nvSpPr>
          <p:cNvPr id="11" name="Text 9"/>
          <p:cNvSpPr/>
          <p:nvPr/>
        </p:nvSpPr>
        <p:spPr>
          <a:xfrm>
            <a:off x="548640" y="4215384"/>
            <a:ext cx="6309360" cy="685800"/>
          </a:xfrm>
          <a:prstGeom prst="rect">
            <a:avLst/>
          </a:prstGeom>
          <a:noFill/>
          <a:ln/>
        </p:spPr>
        <p:txBody>
          <a:bodyPr wrap="square" lIns="0" tIns="0" rIns="0" bIns="0" rtlCol="0" anchor="t"/>
          <a:lstStyle/>
          <a:p>
            <a:pPr indent="0" marL="0">
              <a:lnSpc>
                <a:spcPct val="110000"/>
              </a:lnSpc>
              <a:buNone/>
            </a:pPr>
            <a:r>
              <a:rPr lang="en-US" sz="1300" b="1" dirty="0">
                <a:solidFill>
                  <a:srgbClr val="1A2433"/>
                </a:solidFill>
                <a:latin typeface="Calibri" pitchFamily="34" charset="0"/>
                <a:ea typeface="Calibri" pitchFamily="34" charset="-122"/>
                <a:cs typeface="Calibri" pitchFamily="34" charset="-120"/>
              </a:rPr>
              <a:t>text-embedding-nomic-embed-text-v1.5
</a:t>
            </a:r>
            <a:endParaRPr lang="en-US" sz="1300" dirty="0"/>
          </a:p>
          <a:p>
            <a:pPr indent="0" marL="0">
              <a:lnSpc>
                <a:spcPct val="110000"/>
              </a:lnSpc>
              <a:buNone/>
            </a:pPr>
            <a:r>
              <a:rPr lang="en-US" sz="1150" dirty="0">
                <a:solidFill>
                  <a:srgbClr val="44474F"/>
                </a:solidFill>
                <a:latin typeface="Calibri" pitchFamily="34" charset="0"/>
                <a:ea typeface="Calibri" pitchFamily="34" charset="-122"/>
                <a:cs typeface="Calibri" pitchFamily="34" charset="-120"/>
              </a:rPr>
              <a:t>Serves the bonus RAG feature, loaded in the same LM Studio instance, so embeddings stay local too.</a:t>
            </a:r>
            <a:endParaRPr lang="en-US" sz="1300" dirty="0"/>
          </a:p>
        </p:txBody>
      </p:sp>
      <p:sp>
        <p:nvSpPr>
          <p:cNvPr id="12" name="Text 10"/>
          <p:cNvSpPr/>
          <p:nvPr/>
        </p:nvSpPr>
        <p:spPr>
          <a:xfrm>
            <a:off x="548640" y="5038344"/>
            <a:ext cx="6309360" cy="640080"/>
          </a:xfrm>
          <a:prstGeom prst="rect">
            <a:avLst/>
          </a:prstGeom>
          <a:noFill/>
          <a:ln/>
        </p:spPr>
        <p:txBody>
          <a:bodyPr wrap="square" lIns="0" tIns="0" rIns="0" bIns="0" rtlCol="0" anchor="t"/>
          <a:lstStyle/>
          <a:p>
            <a:pPr indent="0" marL="0">
              <a:lnSpc>
                <a:spcPct val="115000"/>
              </a:lnSpc>
              <a:buNone/>
            </a:pPr>
            <a:r>
              <a:rPr lang="en-US" sz="1150" i="1" dirty="0">
                <a:solidFill>
                  <a:srgbClr val="44474F"/>
                </a:solidFill>
                <a:latin typeface="Calibri" pitchFamily="34" charset="0"/>
                <a:ea typeface="Calibri" pitchFamily="34" charset="-122"/>
                <a:cs typeface="Calibri" pitchFamily="34" charset="-120"/>
              </a:rPr>
              <a:t>Worth stating: the model must be loaded with roughly 16k context, since one rendered document image costs about 4,000 to 5,000 tokens.</a:t>
            </a:r>
            <a:endParaRPr lang="en-US" sz="1150" dirty="0"/>
          </a:p>
        </p:txBody>
      </p:sp>
      <p:sp>
        <p:nvSpPr>
          <p:cNvPr id="13" name="Shape 11"/>
          <p:cNvSpPr/>
          <p:nvPr/>
        </p:nvSpPr>
        <p:spPr>
          <a:xfrm>
            <a:off x="7315200" y="1097280"/>
            <a:ext cx="4325112" cy="5120640"/>
          </a:xfrm>
          <a:prstGeom prst="rect">
            <a:avLst/>
          </a:prstGeom>
          <a:solidFill>
            <a:srgbClr val="F7F9FC"/>
          </a:solidFill>
          <a:ln w="12700">
            <a:solidFill>
              <a:srgbClr val="E3E8EF"/>
            </a:solidFill>
            <a:prstDash val="solid"/>
          </a:ln>
        </p:spPr>
        <p:txBody>
          <a:bodyPr/>
          <a:p/>
        </p:txBody>
      </p:sp>
      <p:sp>
        <p:nvSpPr>
          <p:cNvPr id="14" name="Text 12"/>
          <p:cNvSpPr/>
          <p:nvPr/>
        </p:nvSpPr>
        <p:spPr>
          <a:xfrm>
            <a:off x="7315200" y="1417320"/>
            <a:ext cx="4325112" cy="1188720"/>
          </a:xfrm>
          <a:prstGeom prst="rect">
            <a:avLst/>
          </a:prstGeom>
          <a:noFill/>
          <a:ln/>
        </p:spPr>
        <p:txBody>
          <a:bodyPr wrap="square" lIns="0" tIns="0" rIns="0" bIns="0" rtlCol="0" anchor="ctr"/>
          <a:lstStyle/>
          <a:p>
            <a:pPr algn="ctr" indent="0" marL="0">
              <a:buNone/>
            </a:pPr>
            <a:r>
              <a:rPr lang="en-US" sz="6400" b="1" dirty="0">
                <a:solidFill>
                  <a:srgbClr val="0051D5"/>
                </a:solidFill>
                <a:latin typeface="Calibri" pitchFamily="34" charset="0"/>
                <a:ea typeface="Calibri" pitchFamily="34" charset="-122"/>
                <a:cs typeface="Calibri" pitchFamily="34" charset="-120"/>
              </a:rPr>
              <a:t>100%</a:t>
            </a:r>
            <a:endParaRPr lang="en-US" sz="6400" dirty="0"/>
          </a:p>
        </p:txBody>
      </p:sp>
      <p:sp>
        <p:nvSpPr>
          <p:cNvPr id="15" name="Text 13"/>
          <p:cNvSpPr/>
          <p:nvPr/>
        </p:nvSpPr>
        <p:spPr>
          <a:xfrm>
            <a:off x="7315200" y="2514600"/>
            <a:ext cx="4325112" cy="365760"/>
          </a:xfrm>
          <a:prstGeom prst="rect">
            <a:avLst/>
          </a:prstGeom>
          <a:noFill/>
          <a:ln/>
        </p:spPr>
        <p:txBody>
          <a:bodyPr wrap="square" lIns="0" tIns="0" rIns="0" bIns="0" rtlCol="0" anchor="ctr"/>
          <a:lstStyle/>
          <a:p>
            <a:pPr algn="ctr" indent="0" marL="0">
              <a:buNone/>
            </a:pPr>
            <a:r>
              <a:rPr lang="en-US" sz="1500" b="1" dirty="0">
                <a:solidFill>
                  <a:srgbClr val="002452"/>
                </a:solidFill>
                <a:latin typeface="Calibri" pitchFamily="34" charset="0"/>
                <a:ea typeface="Calibri" pitchFamily="34" charset="-122"/>
                <a:cs typeface="Calibri" pitchFamily="34" charset="-120"/>
              </a:rPr>
              <a:t>field level accuracy</a:t>
            </a:r>
            <a:endParaRPr lang="en-US" sz="1500" dirty="0"/>
          </a:p>
        </p:txBody>
      </p:sp>
      <p:sp>
        <p:nvSpPr>
          <p:cNvPr id="16" name="Text 14"/>
          <p:cNvSpPr/>
          <p:nvPr/>
        </p:nvSpPr>
        <p:spPr>
          <a:xfrm>
            <a:off x="7315200" y="2880360"/>
            <a:ext cx="4325112" cy="365760"/>
          </a:xfrm>
          <a:prstGeom prst="rect">
            <a:avLst/>
          </a:prstGeom>
          <a:noFill/>
          <a:ln/>
        </p:spPr>
        <p:txBody>
          <a:bodyPr wrap="square" lIns="0" tIns="0" rIns="0" bIns="0" rtlCol="0" anchor="ctr"/>
          <a:lstStyle/>
          <a:p>
            <a:pPr algn="ctr" indent="0" marL="0">
              <a:buNone/>
            </a:pPr>
            <a:r>
              <a:rPr lang="en-US" sz="1200" dirty="0">
                <a:solidFill>
                  <a:srgbClr val="44474F"/>
                </a:solidFill>
                <a:latin typeface="Calibri" pitchFamily="34" charset="0"/>
                <a:ea typeface="Calibri" pitchFamily="34" charset="-122"/>
                <a:cs typeface="Calibri" pitchFamily="34" charset="-120"/>
              </a:rPr>
              <a:t>60 of 60 documents fully correct</a:t>
            </a:r>
            <a:endParaRPr lang="en-US" sz="1200" dirty="0"/>
          </a:p>
        </p:txBody>
      </p:sp>
      <p:sp>
        <p:nvSpPr>
          <p:cNvPr id="17" name="Text 15"/>
          <p:cNvSpPr/>
          <p:nvPr/>
        </p:nvSpPr>
        <p:spPr>
          <a:xfrm>
            <a:off x="7589520" y="3429000"/>
            <a:ext cx="3776472" cy="1188720"/>
          </a:xfrm>
          <a:prstGeom prst="rect">
            <a:avLst/>
          </a:prstGeom>
          <a:noFill/>
          <a:ln/>
        </p:spPr>
        <p:txBody>
          <a:bodyPr wrap="square" lIns="0" tIns="0" rIns="0" bIns="0" rtlCol="0" anchor="ctr"/>
          <a:lstStyle/>
          <a:p>
            <a:pPr algn="l" indent="0" marL="0">
              <a:lnSpc>
                <a:spcPct val="120000"/>
              </a:lnSpc>
              <a:buNone/>
            </a:pPr>
            <a:r>
              <a:rPr lang="en-US" sz="1200" dirty="0">
                <a:solidFill>
                  <a:srgbClr val="1A2433"/>
                </a:solidFill>
                <a:latin typeface="Calibri" pitchFamily="34" charset="0"/>
                <a:ea typeface="Calibri" pitchFamily="34" charset="-122"/>
                <a:cs typeface="Calibri" pitchFamily="34" charset="-120"/>
              </a:rPr>
              <a:t>60 documents, 10 fields each, compared against ground_truth.csv.</a:t>
            </a:r>
            <a:endParaRPr lang="en-US" sz="1200" dirty="0"/>
          </a:p>
          <a:p>
            <a:pPr algn="l" indent="0" marL="0">
              <a:lnSpc>
                <a:spcPct val="120000"/>
              </a:lnSpc>
              <a:buNone/>
            </a:pPr>
            <a:endParaRPr lang="en-US" sz="1200" dirty="0"/>
          </a:p>
          <a:p>
            <a:pPr algn="l" indent="0" marL="0">
              <a:lnSpc>
                <a:spcPct val="120000"/>
              </a:lnSpc>
              <a:buNone/>
            </a:pPr>
            <a:r>
              <a:rPr lang="en-US" sz="1200" dirty="0">
                <a:solidFill>
                  <a:srgbClr val="1A2433"/>
                </a:solidFill>
                <a:latin typeface="Calibri" pitchFamily="34" charset="0"/>
                <a:ea typeface="Calibri" pitchFamily="34" charset="-122"/>
                <a:cs typeface="Calibri" pitchFamily="34" charset="-120"/>
              </a:rPr>
              <a:t>Spread: 25 invoices, 20 purchase orders, 15 receipts.</a:t>
            </a:r>
            <a:endParaRPr lang="en-US" sz="1200" dirty="0"/>
          </a:p>
        </p:txBody>
      </p:sp>
      <p:sp>
        <p:nvSpPr>
          <p:cNvPr id="18" name="Shape 16"/>
          <p:cNvSpPr/>
          <p:nvPr/>
        </p:nvSpPr>
        <p:spPr>
          <a:xfrm>
            <a:off x="7589520" y="4709160"/>
            <a:ext cx="3776472" cy="0"/>
          </a:xfrm>
          <a:prstGeom prst="line">
            <a:avLst/>
          </a:prstGeom>
          <a:noFill/>
          <a:ln w="12700">
            <a:solidFill>
              <a:srgbClr val="E3E8EF"/>
            </a:solidFill>
            <a:prstDash val="solid"/>
          </a:ln>
        </p:spPr>
        <p:txBody>
          <a:bodyPr/>
          <a:p/>
        </p:txBody>
      </p:sp>
      <p:sp>
        <p:nvSpPr>
          <p:cNvPr id="19" name="Text 17"/>
          <p:cNvSpPr/>
          <p:nvPr/>
        </p:nvSpPr>
        <p:spPr>
          <a:xfrm>
            <a:off x="7589520" y="4846320"/>
            <a:ext cx="3776472" cy="1234440"/>
          </a:xfrm>
          <a:prstGeom prst="rect">
            <a:avLst/>
          </a:prstGeom>
          <a:noFill/>
          <a:ln/>
        </p:spPr>
        <p:txBody>
          <a:bodyPr wrap="square" lIns="0" tIns="0" rIns="0" bIns="0" rtlCol="0" anchor="ctr"/>
          <a:lstStyle/>
          <a:p>
            <a:pPr algn="l" indent="0" marL="0">
              <a:lnSpc>
                <a:spcPct val="120000"/>
              </a:lnSpc>
              <a:buNone/>
            </a:pPr>
            <a:r>
              <a:rPr lang="en-US" sz="1100" i="1" dirty="0">
                <a:solidFill>
                  <a:srgbClr val="B45309"/>
                </a:solidFill>
                <a:latin typeface="Calibri" pitchFamily="34" charset="0"/>
                <a:ea typeface="Calibri" pitchFamily="34" charset="-122"/>
                <a:cs typeface="Calibri" pitchFamily="34" charset="-120"/>
              </a:rPr>
              <a:t>Limitation: this figure is a ceiling. These 60 documents come from the same set used while writing the prompt, and there is no separate held out test set.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t"/>
          <a:lstStyle/>
          <a:p>
            <a:pPr algn="l" indent="0" marL="0">
              <a:buNone/>
            </a:pPr>
            <a:r>
              <a:rPr lang="en-US" sz="3000" b="1" dirty="0">
                <a:solidFill>
                  <a:srgbClr val="002452"/>
                </a:solidFill>
                <a:latin typeface="Calibri" pitchFamily="34" charset="0"/>
                <a:ea typeface="Calibri" pitchFamily="34" charset="-122"/>
                <a:cs typeface="Calibri" pitchFamily="34" charset="-120"/>
              </a:rPr>
              <a:t>Project structure</a:t>
            </a:r>
            <a:endParaRPr lang="en-US" sz="3000" dirty="0"/>
          </a:p>
        </p:txBody>
      </p:sp>
      <p:sp>
        <p:nvSpPr>
          <p:cNvPr id="3" name="Shape 1"/>
          <p:cNvSpPr/>
          <p:nvPr/>
        </p:nvSpPr>
        <p:spPr>
          <a:xfrm>
            <a:off x="548640" y="1097280"/>
            <a:ext cx="5394960" cy="3657600"/>
          </a:xfrm>
          <a:prstGeom prst="rect">
            <a:avLst/>
          </a:prstGeom>
          <a:solidFill>
            <a:srgbClr val="F7F9FC"/>
          </a:solidFill>
          <a:ln w="12700">
            <a:solidFill>
              <a:srgbClr val="E3E8EF"/>
            </a:solidFill>
            <a:prstDash val="solid"/>
          </a:ln>
        </p:spPr>
        <p:txBody>
          <a:bodyPr/>
          <a:p/>
        </p:txBody>
      </p:sp>
      <p:sp>
        <p:nvSpPr>
          <p:cNvPr id="4" name="Text 2"/>
          <p:cNvSpPr/>
          <p:nvPr/>
        </p:nvSpPr>
        <p:spPr>
          <a:xfrm>
            <a:off x="777240" y="1280160"/>
            <a:ext cx="4937760" cy="3291840"/>
          </a:xfrm>
          <a:prstGeom prst="rect">
            <a:avLst/>
          </a:prstGeom>
          <a:noFill/>
          <a:ln/>
        </p:spPr>
        <p:txBody>
          <a:bodyPr wrap="square" lIns="0" tIns="0" rIns="0" bIns="0" rtlCol="0" anchor="t"/>
          <a:lstStyle/>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backend/app  (11 Python modules)</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  main.py         routes</a:t>
            </a:r>
            <a:endParaRPr lang="en-US" sz="1250" dirty="0"/>
          </a:p>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  schemas.py      pydantic models</a:t>
            </a:r>
            <a:endParaRPr lang="en-US" sz="1250" dirty="0"/>
          </a:p>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  extraction.py   the model call</a:t>
            </a:r>
            <a:endParaRPr lang="en-US" sz="1250" dirty="0"/>
          </a:p>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  validation.py   9 rules</a:t>
            </a:r>
            <a:endParaRPr lang="en-US" sz="1250" dirty="0"/>
          </a:p>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  loaders.py      PDF to image</a:t>
            </a:r>
            <a:endParaRPr lang="en-US" sz="1250" dirty="0"/>
          </a:p>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  export.py       5 formats</a:t>
            </a:r>
            <a:endParaRPr lang="en-US" sz="1250" dirty="0"/>
          </a:p>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  auth.py         roles and tokens</a:t>
            </a:r>
            <a:endParaRPr lang="en-US" sz="1250" dirty="0"/>
          </a:p>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  db.py           SQLite</a:t>
            </a:r>
            <a:endParaRPr lang="en-US" sz="1250" dirty="0"/>
          </a:p>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  evaluation.py   accuracy</a:t>
            </a:r>
            <a:endParaRPr lang="en-US" sz="1250" dirty="0"/>
          </a:p>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  rag.py          the bonus assistant</a:t>
            </a:r>
            <a:endParaRPr lang="en-US" sz="1250" dirty="0"/>
          </a:p>
        </p:txBody>
      </p:sp>
      <p:sp>
        <p:nvSpPr>
          <p:cNvPr id="5" name="Shape 3"/>
          <p:cNvSpPr/>
          <p:nvPr/>
        </p:nvSpPr>
        <p:spPr>
          <a:xfrm>
            <a:off x="6172200" y="1097280"/>
            <a:ext cx="5470855" cy="3657600"/>
          </a:xfrm>
          <a:prstGeom prst="rect">
            <a:avLst/>
          </a:prstGeom>
          <a:solidFill>
            <a:srgbClr val="F7F9FC"/>
          </a:solidFill>
          <a:ln w="12700">
            <a:solidFill>
              <a:srgbClr val="E3E8EF"/>
            </a:solidFill>
            <a:prstDash val="solid"/>
          </a:ln>
        </p:spPr>
        <p:txBody>
          <a:bodyPr/>
          <a:p/>
        </p:txBody>
      </p:sp>
      <p:sp>
        <p:nvSpPr>
          <p:cNvPr id="6" name="Text 4"/>
          <p:cNvSpPr/>
          <p:nvPr/>
        </p:nvSpPr>
        <p:spPr>
          <a:xfrm>
            <a:off x="6400800" y="1280160"/>
            <a:ext cx="5029200" cy="3291840"/>
          </a:xfrm>
          <a:prstGeom prst="rect">
            <a:avLst/>
          </a:prstGeom>
          <a:noFill/>
          <a:ln/>
        </p:spPr>
        <p:txBody>
          <a:bodyPr wrap="square" lIns="0" tIns="0" rIns="0" bIns="0" rtlCol="0" anchor="t"/>
          <a:lstStyle/>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frontend/src/pages  (10 React pages)</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  Login, Upload, ReviewQueue, Review,</a:t>
            </a:r>
            <a:endParaRPr lang="en-US" sz="1250" dirty="0"/>
          </a:p>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  Archive, Dashboard, Audit, Settings,</a:t>
            </a:r>
            <a:endParaRPr lang="en-US" sz="1250" dirty="0"/>
          </a:p>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  Performance, Chat</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SQLite  (5 tables)</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  documents, users, settings,</a:t>
            </a:r>
            <a:endParaRPr lang="en-US" sz="1250" dirty="0"/>
          </a:p>
          <a:p>
            <a:pPr algn="l" indent="0" marL="0">
              <a:lnSpc>
                <a:spcPct val="115000"/>
              </a:lnSpc>
              <a:buNone/>
            </a:pPr>
            <a:r>
              <a:rPr lang="en-US" sz="1250" dirty="0">
                <a:solidFill>
                  <a:srgbClr val="1A2433"/>
                </a:solidFill>
                <a:latin typeface="Courier New" pitchFamily="34" charset="0"/>
                <a:ea typeface="Courier New" pitchFamily="34" charset="-122"/>
                <a:cs typeface="Courier New" pitchFamily="34" charset="-120"/>
              </a:rPr>
              <a:t>  audit_log, chat_sessions</a:t>
            </a:r>
            <a:endParaRPr lang="en-US" sz="1250" dirty="0"/>
          </a:p>
        </p:txBody>
      </p:sp>
      <p:sp>
        <p:nvSpPr>
          <p:cNvPr id="7" name="Text 5"/>
          <p:cNvSpPr/>
          <p:nvPr/>
        </p:nvSpPr>
        <p:spPr>
          <a:xfrm>
            <a:off x="548640" y="4892040"/>
            <a:ext cx="11094415" cy="365760"/>
          </a:xfrm>
          <a:prstGeom prst="rect">
            <a:avLst/>
          </a:prstGeom>
          <a:noFill/>
          <a:ln/>
        </p:spPr>
        <p:txBody>
          <a:bodyPr wrap="square" lIns="0" tIns="0" rIns="0" bIns="0" rtlCol="0" anchor="ctr"/>
          <a:lstStyle/>
          <a:p>
            <a:pPr algn="l" indent="0" marL="0">
              <a:buNone/>
            </a:pPr>
            <a:r>
              <a:rPr lang="en-US" sz="1300" b="1" dirty="0">
                <a:solidFill>
                  <a:srgbClr val="002452"/>
                </a:solidFill>
                <a:latin typeface="Calibri" pitchFamily="34" charset="0"/>
                <a:ea typeface="Calibri" pitchFamily="34" charset="-122"/>
                <a:cs typeface="Calibri" pitchFamily="34" charset="-120"/>
              </a:rPr>
              <a:t>Test data: </a:t>
            </a:r>
            <a:pPr algn="l" indent="0" marL="0">
              <a:buNone/>
            </a:pPr>
            <a:r>
              <a:rPr lang="en-US" sz="1300" dirty="0">
                <a:solidFill>
                  <a:srgbClr val="1A2433"/>
                </a:solidFill>
                <a:latin typeface="Calibri" pitchFamily="34" charset="0"/>
                <a:ea typeface="Calibri" pitchFamily="34" charset="-122"/>
                <a:cs typeface="Calibri" pitchFamily="34" charset="-120"/>
              </a:rPr>
              <a:t>60 synthetic documents in Source/documents plus ground_truth.csv</a:t>
            </a:r>
            <a:endParaRPr lang="en-US" sz="1300" dirty="0"/>
          </a:p>
        </p:txBody>
      </p:sp>
      <p:sp>
        <p:nvSpPr>
          <p:cNvPr id="8" name="Shape 6"/>
          <p:cNvSpPr/>
          <p:nvPr/>
        </p:nvSpPr>
        <p:spPr>
          <a:xfrm>
            <a:off x="548640" y="5349240"/>
            <a:ext cx="11094415" cy="0"/>
          </a:xfrm>
          <a:prstGeom prst="line">
            <a:avLst/>
          </a:prstGeom>
          <a:noFill/>
          <a:ln w="12700">
            <a:solidFill>
              <a:srgbClr val="E3E8EF"/>
            </a:solidFill>
            <a:prstDash val="solid"/>
          </a:ln>
        </p:spPr>
        <p:txBody>
          <a:bodyPr/>
          <a:p/>
        </p:txBody>
      </p:sp>
      <p:sp>
        <p:nvSpPr>
          <p:cNvPr id="9" name="Text 7"/>
          <p:cNvSpPr/>
          <p:nvPr/>
        </p:nvSpPr>
        <p:spPr>
          <a:xfrm>
            <a:off x="548640" y="5486400"/>
            <a:ext cx="11094415" cy="822960"/>
          </a:xfrm>
          <a:prstGeom prst="rect">
            <a:avLst/>
          </a:prstGeom>
          <a:noFill/>
          <a:ln/>
        </p:spPr>
        <p:txBody>
          <a:bodyPr wrap="square" lIns="0" tIns="0" rIns="0" bIns="0" rtlCol="0" anchor="ctr"/>
          <a:lstStyle/>
          <a:p>
            <a:pPr algn="l" indent="0" marL="0">
              <a:lnSpc>
                <a:spcPct val="120000"/>
              </a:lnSpc>
              <a:buNone/>
            </a:pPr>
            <a:r>
              <a:rPr lang="en-US" sz="1300" b="1" dirty="0">
                <a:solidFill>
                  <a:srgbClr val="002452"/>
                </a:solidFill>
                <a:latin typeface="Calibri" pitchFamily="34" charset="0"/>
                <a:ea typeface="Calibri" pitchFamily="34" charset="-122"/>
                <a:cs typeface="Calibri" pitchFamily="34" charset="-120"/>
              </a:rPr>
              <a:t>Three roles: </a:t>
            </a:r>
            <a:pPr algn="l" indent="0" marL="0">
              <a:lnSpc>
                <a:spcPct val="120000"/>
              </a:lnSpc>
              <a:buNone/>
            </a:pPr>
            <a:r>
              <a:rPr lang="en-US" sz="1300" dirty="0">
                <a:solidFill>
                  <a:srgbClr val="44474F"/>
                </a:solidFill>
                <a:latin typeface="Calibri" pitchFamily="34" charset="0"/>
                <a:ea typeface="Calibri" pitchFamily="34" charset="-122"/>
                <a:cs typeface="Calibri" pitchFamily="34" charset="-120"/>
              </a:rPr>
              <a:t>staff uploads and sees only their own documents, finance corrects but cannot approve, admin is the only role that can approve, and approval is what files a document into the Archive.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502920"/>
          </a:xfrm>
          <a:prstGeom prst="rect">
            <a:avLst/>
          </a:prstGeom>
          <a:noFill/>
          <a:ln/>
        </p:spPr>
        <p:txBody>
          <a:bodyPr wrap="square" lIns="0" tIns="0" rIns="0" bIns="0" rtlCol="0" anchor="t"/>
          <a:lstStyle/>
          <a:p>
            <a:pPr algn="l" indent="0" marL="0">
              <a:buNone/>
            </a:pPr>
            <a:r>
              <a:rPr lang="en-US" sz="2600" b="1" dirty="0">
                <a:solidFill>
                  <a:srgbClr val="002452"/>
                </a:solidFill>
                <a:latin typeface="Calibri" pitchFamily="34" charset="0"/>
                <a:ea typeface="Calibri" pitchFamily="34" charset="-122"/>
                <a:cs typeface="Calibri" pitchFamily="34" charset="-120"/>
              </a:rPr>
              <a:t>Features and access by role</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960120"/>
          <a:ext cx="11094415" cy="914400"/>
        </p:xfrm>
        <a:graphic>
          <a:graphicData uri="http://schemas.openxmlformats.org/drawingml/2006/table">
            <a:tbl>
              <a:tblPr/>
              <a:tblGrid>
                <a:gridCol w="6766560"/>
                <a:gridCol w="1442009"/>
                <a:gridCol w="1442923"/>
                <a:gridCol w="1442923"/>
              </a:tblGrid>
              <a:tr h="0">
                <a:tc>
                  <a:txBody>
                    <a:bodyPr/>
                    <a:lstStyle/>
                    <a:p>
                      <a:pPr algn="l" indent="0" marL="0">
                        <a:buNone/>
                      </a:pPr>
                      <a:r>
                        <a:rPr lang="en-US" sz="1050" b="1" dirty="0">
                          <a:solidFill>
                            <a:srgbClr val="FFFFFF"/>
                          </a:solidFill>
                        </a:rPr>
                        <a:t>Feature</a:t>
                      </a:r>
                      <a:endParaRPr lang="en-US" sz="105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02452"/>
                    </a:solidFill>
                  </a:tcPr>
                </a:tc>
                <a:tc>
                  <a:txBody>
                    <a:bodyPr/>
                    <a:lstStyle/>
                    <a:p>
                      <a:pPr algn="ctr" indent="0" marL="0">
                        <a:buNone/>
                      </a:pPr>
                      <a:r>
                        <a:rPr lang="en-US" sz="1050" b="1" dirty="0">
                          <a:solidFill>
                            <a:srgbClr val="FFFFFF"/>
                          </a:solidFill>
                        </a:rPr>
                        <a:t>staff</a:t>
                      </a:r>
                      <a:endParaRPr lang="en-US" sz="105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02452"/>
                    </a:solidFill>
                  </a:tcPr>
                </a:tc>
                <a:tc>
                  <a:txBody>
                    <a:bodyPr/>
                    <a:lstStyle/>
                    <a:p>
                      <a:pPr algn="ctr" indent="0" marL="0">
                        <a:buNone/>
                      </a:pPr>
                      <a:r>
                        <a:rPr lang="en-US" sz="1050" b="1" dirty="0">
                          <a:solidFill>
                            <a:srgbClr val="FFFFFF"/>
                          </a:solidFill>
                        </a:rPr>
                        <a:t>finance</a:t>
                      </a:r>
                      <a:endParaRPr lang="en-US" sz="105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02452"/>
                    </a:solidFill>
                  </a:tcPr>
                </a:tc>
                <a:tc>
                  <a:txBody>
                    <a:bodyPr/>
                    <a:lstStyle/>
                    <a:p>
                      <a:pPr algn="ctr" indent="0" marL="0">
                        <a:buNone/>
                      </a:pPr>
                      <a:r>
                        <a:rPr lang="en-US" sz="1050" b="1" dirty="0">
                          <a:solidFill>
                            <a:srgbClr val="FFFFFF"/>
                          </a:solidFill>
                        </a:rPr>
                        <a:t>admin</a:t>
                      </a:r>
                      <a:endParaRPr lang="en-US" sz="105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02452"/>
                    </a:solidFill>
                  </a:tcPr>
                </a:tc>
              </a:tr>
              <a:tr h="0">
                <a:tc gridSpan="4">
                  <a:txBody>
                    <a:bodyPr/>
                    <a:lstStyle/>
                    <a:p>
                      <a:pPr algn="l" indent="0" marL="0">
                        <a:buNone/>
                      </a:pPr>
                      <a:r>
                        <a:rPr lang="en-US" sz="1000" b="1" dirty="0">
                          <a:solidFill>
                            <a:srgbClr val="002452"/>
                          </a:solidFill>
                        </a:rPr>
                        <a:t>All roles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7F9FC"/>
                    </a:solidFill>
                  </a:tcPr>
                </a:tc>
                <a:tc hMerge="1">
                  <a:txBody>
                    <a:bodyPr/>
                    <a:p/>
                  </a:txBody>
                  <a:tcPr/>
                </a:tc>
                <a:tc hMerge="1">
                  <a:txBody>
                    <a:bodyPr/>
                    <a:p/>
                  </a:txBody>
                  <a:tcPr/>
                </a:tc>
                <a:tc hMerge="1">
                  <a:txBody>
                    <a:bodyPr/>
                    <a:p/>
                  </a:txBody>
                  <a:tcPr/>
                </a:tc>
              </a:tr>
              <a:tr h="0">
                <a:tc>
                  <a:txBody>
                    <a:bodyPr/>
                    <a:lstStyle/>
                    <a:p>
                      <a:pPr algn="l" indent="0" marL="0">
                        <a:buNone/>
                      </a:pPr>
                      <a:r>
                        <a:rPr lang="en-US" sz="1000" dirty="0">
                          <a:solidFill>
                            <a:srgbClr val="1A2433"/>
                          </a:solidFill>
                        </a:rPr>
                        <a:t>Login and session</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Upload documents, single and batch</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Choose the extraction model</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See their own documents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RAG assistant</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gridSpan="4">
                  <a:txBody>
                    <a:bodyPr/>
                    <a:lstStyle/>
                    <a:p>
                      <a:pPr algn="l" indent="0" marL="0">
                        <a:buNone/>
                      </a:pPr>
                      <a:r>
                        <a:rPr lang="en-US" sz="1000" b="1" dirty="0">
                          <a:solidFill>
                            <a:srgbClr val="002452"/>
                          </a:solidFill>
                        </a:rPr>
                        <a:t>Finance and admin</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7F9FC"/>
                    </a:solidFill>
                  </a:tcPr>
                </a:tc>
                <a:tc hMerge="1">
                  <a:txBody>
                    <a:bodyPr/>
                    <a:p/>
                  </a:txBody>
                  <a:tcPr/>
                </a:tc>
                <a:tc hMerge="1">
                  <a:txBody>
                    <a:bodyPr/>
                    <a:p/>
                  </a:txBody>
                  <a:tcPr/>
                </a:tc>
                <a:tc hMerge="1">
                  <a:txBody>
                    <a:bodyPr/>
                    <a:p/>
                  </a:txBody>
                  <a:tcPr/>
                </a:tc>
              </a:tr>
              <a:tr h="0">
                <a:tc>
                  <a:txBody>
                    <a:bodyPr/>
                    <a:lstStyle/>
                    <a:p>
                      <a:pPr algn="l" indent="0" marL="0">
                        <a:buNone/>
                      </a:pPr>
                      <a:r>
                        <a:rPr lang="en-US" sz="1000" dirty="0">
                          <a:solidFill>
                            <a:srgbClr val="1A2433"/>
                          </a:solidFill>
                        </a:rPr>
                        <a:t>See all documents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Review Queue with filters and pagination</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Correct extracted fields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Dashboard, KPIs and ROI calculator</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Archive by year and by month</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Archive range export, 5 formats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Per document export, CSV and JSON</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Export selected rows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gridSpan="4">
                  <a:txBody>
                    <a:bodyPr/>
                    <a:lstStyle/>
                    <a:p>
                      <a:pPr algn="l" indent="0" marL="0">
                        <a:buNone/>
                      </a:pPr>
                      <a:r>
                        <a:rPr lang="en-US" sz="1000" b="1" dirty="0">
                          <a:solidFill>
                            <a:srgbClr val="002452"/>
                          </a:solidFill>
                        </a:rPr>
                        <a:t>Admin only</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7F9FC"/>
                    </a:solidFill>
                  </a:tcPr>
                </a:tc>
                <a:tc hMerge="1">
                  <a:txBody>
                    <a:bodyPr/>
                    <a:p/>
                  </a:txBody>
                  <a:tcPr/>
                </a:tc>
                <a:tc hMerge="1">
                  <a:txBody>
                    <a:bodyPr/>
                    <a:p/>
                  </a:txBody>
                  <a:tcPr/>
                </a:tc>
                <a:tc hMerge="1">
                  <a:txBody>
                    <a:bodyPr/>
                    <a:p/>
                  </a:txBody>
                  <a:tcPr/>
                </a:tc>
              </a:tr>
              <a:tr h="0">
                <a:tc>
                  <a:txBody>
                    <a:bodyPr/>
                    <a:lstStyle/>
                    <a:p>
                      <a:pPr algn="l" indent="0" marL="0">
                        <a:buNone/>
                      </a:pPr>
                      <a:r>
                        <a:rPr lang="en-US" sz="1000" dirty="0">
                          <a:solidFill>
                            <a:srgbClr val="1A2433"/>
                          </a:solidFill>
                        </a:rPr>
                        <a:t>Approve and reject documents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Delete a document</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Audit Log</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Validation settings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User management</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Run the accuracy evaluation</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0">
                <a:tc>
                  <a:txBody>
                    <a:bodyPr/>
                    <a:lstStyle/>
                    <a:p>
                      <a:pPr algn="l" indent="0" marL="0">
                        <a:buNone/>
                      </a:pPr>
                      <a:r>
                        <a:rPr lang="en-US" sz="1000" dirty="0">
                          <a:solidFill>
                            <a:srgbClr val="1A2433"/>
                          </a:solidFill>
                        </a:rPr>
                        <a:t>Model Speed page</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dirty="0">
                          <a:solidFill>
                            <a:srgbClr val="44474F"/>
                          </a:solidFill>
                        </a:rPr>
                        <a:t>no</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76200" marR="76200" marT="25400" marB="2540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bl>
          </a:graphicData>
        </a:graphic>
      </p:graphicFrame>
      <p:sp>
        <p:nvSpPr>
          <p:cNvPr id="4" name="Text 1"/>
          <p:cNvSpPr/>
          <p:nvPr/>
        </p:nvSpPr>
        <p:spPr>
          <a:xfrm>
            <a:off x="548640" y="6355080"/>
            <a:ext cx="11094415" cy="365760"/>
          </a:xfrm>
          <a:prstGeom prst="rect">
            <a:avLst/>
          </a:prstGeom>
          <a:noFill/>
          <a:ln/>
        </p:spPr>
        <p:txBody>
          <a:bodyPr wrap="square" lIns="0" tIns="0" rIns="0" bIns="0" rtlCol="0" anchor="ctr"/>
          <a:lstStyle/>
          <a:p>
            <a:pPr algn="l" indent="0" marL="0">
              <a:buNone/>
            </a:pPr>
            <a:r>
              <a:rPr lang="en-US" sz="1150" i="1" dirty="0">
                <a:solidFill>
                  <a:srgbClr val="44474F"/>
                </a:solidFill>
                <a:latin typeface="Calibri" pitchFamily="34" charset="0"/>
                <a:ea typeface="Calibri" pitchFamily="34" charset="-122"/>
                <a:cs typeface="Calibri" pitchFamily="34" charset="-120"/>
              </a:rPr>
              <a:t>These limits are enforced in two places, in the interface and again on the server, so hiding a menu item is never the only protection.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t"/>
          <a:lstStyle/>
          <a:p>
            <a:pPr algn="l" indent="0" marL="0">
              <a:buNone/>
            </a:pPr>
            <a:r>
              <a:rPr lang="en-US" sz="3000" b="1" dirty="0">
                <a:solidFill>
                  <a:srgbClr val="002452"/>
                </a:solidFill>
                <a:latin typeface="Calibri" pitchFamily="34" charset="0"/>
                <a:ea typeface="Calibri" pitchFamily="34" charset="-122"/>
                <a:cs typeface="Calibri" pitchFamily="34" charset="-120"/>
              </a:rPr>
              <a:t>Pipeline and architecture</a:t>
            </a:r>
            <a:endParaRPr lang="en-US" sz="3000" dirty="0"/>
          </a:p>
        </p:txBody>
      </p:sp>
      <p:sp>
        <p:nvSpPr>
          <p:cNvPr id="3" name="Shape 1"/>
          <p:cNvSpPr/>
          <p:nvPr/>
        </p:nvSpPr>
        <p:spPr>
          <a:xfrm>
            <a:off x="548640" y="1371600"/>
            <a:ext cx="3246120" cy="960120"/>
          </a:xfrm>
          <a:prstGeom prst="rect">
            <a:avLst/>
          </a:prstGeom>
          <a:solidFill>
            <a:srgbClr val="FFFFFF"/>
          </a:solidFill>
          <a:ln w="15875">
            <a:solidFill>
              <a:srgbClr val="002452"/>
            </a:solidFill>
            <a:prstDash val="solid"/>
          </a:ln>
        </p:spPr>
        <p:txBody>
          <a:bodyPr/>
          <a:p/>
        </p:txBody>
      </p:sp>
      <p:sp>
        <p:nvSpPr>
          <p:cNvPr id="4" name="Text 2"/>
          <p:cNvSpPr/>
          <p:nvPr/>
        </p:nvSpPr>
        <p:spPr>
          <a:xfrm>
            <a:off x="548640" y="1444752"/>
            <a:ext cx="3246120" cy="457200"/>
          </a:xfrm>
          <a:prstGeom prst="rect">
            <a:avLst/>
          </a:prstGeom>
          <a:noFill/>
          <a:ln/>
        </p:spPr>
        <p:txBody>
          <a:bodyPr wrap="square" lIns="0" tIns="0" rIns="0" bIns="0" rtlCol="0" anchor="ctr"/>
          <a:lstStyle/>
          <a:p>
            <a:pPr algn="ctr" indent="0" marL="0">
              <a:buNone/>
            </a:pPr>
            <a:r>
              <a:rPr lang="en-US" sz="1500" b="1" dirty="0">
                <a:solidFill>
                  <a:srgbClr val="002452"/>
                </a:solidFill>
                <a:latin typeface="Calibri" pitchFamily="34" charset="0"/>
                <a:ea typeface="Calibri" pitchFamily="34" charset="-122"/>
                <a:cs typeface="Calibri" pitchFamily="34" charset="-120"/>
              </a:rPr>
              <a:t>React + Vite</a:t>
            </a:r>
            <a:endParaRPr lang="en-US" sz="1500" dirty="0"/>
          </a:p>
        </p:txBody>
      </p:sp>
      <p:sp>
        <p:nvSpPr>
          <p:cNvPr id="5" name="Text 3"/>
          <p:cNvSpPr/>
          <p:nvPr/>
        </p:nvSpPr>
        <p:spPr>
          <a:xfrm>
            <a:off x="548640" y="1874520"/>
            <a:ext cx="3246120" cy="411480"/>
          </a:xfrm>
          <a:prstGeom prst="rect">
            <a:avLst/>
          </a:prstGeom>
          <a:noFill/>
          <a:ln/>
        </p:spPr>
        <p:txBody>
          <a:bodyPr wrap="square" lIns="0" tIns="0" rIns="0" bIns="0" rtlCol="0" anchor="ctr"/>
          <a:lstStyle/>
          <a:p>
            <a:pPr algn="ctr" indent="0" marL="0">
              <a:lnSpc>
                <a:spcPct val="105000"/>
              </a:lnSpc>
              <a:buNone/>
            </a:pPr>
            <a:r>
              <a:rPr lang="en-US" sz="1000" dirty="0">
                <a:solidFill>
                  <a:srgbClr val="44474F"/>
                </a:solidFill>
                <a:latin typeface="Calibri" pitchFamily="34" charset="0"/>
                <a:ea typeface="Calibri" pitchFamily="34" charset="-122"/>
                <a:cs typeface="Calibri" pitchFamily="34" charset="-120"/>
              </a:rPr>
              <a:t>interface</a:t>
            </a:r>
            <a:endParaRPr lang="en-US" sz="1000" dirty="0"/>
          </a:p>
        </p:txBody>
      </p:sp>
      <p:sp>
        <p:nvSpPr>
          <p:cNvPr id="6" name="Shape 4"/>
          <p:cNvSpPr/>
          <p:nvPr/>
        </p:nvSpPr>
        <p:spPr>
          <a:xfrm>
            <a:off x="4297680" y="1371600"/>
            <a:ext cx="3246120" cy="960120"/>
          </a:xfrm>
          <a:prstGeom prst="rect">
            <a:avLst/>
          </a:prstGeom>
          <a:solidFill>
            <a:srgbClr val="FFFFFF"/>
          </a:solidFill>
          <a:ln w="15875">
            <a:solidFill>
              <a:srgbClr val="002452"/>
            </a:solidFill>
            <a:prstDash val="solid"/>
          </a:ln>
        </p:spPr>
        <p:txBody>
          <a:bodyPr/>
          <a:p/>
        </p:txBody>
      </p:sp>
      <p:sp>
        <p:nvSpPr>
          <p:cNvPr id="7" name="Text 5"/>
          <p:cNvSpPr/>
          <p:nvPr/>
        </p:nvSpPr>
        <p:spPr>
          <a:xfrm>
            <a:off x="4297680" y="1444752"/>
            <a:ext cx="3246120" cy="457200"/>
          </a:xfrm>
          <a:prstGeom prst="rect">
            <a:avLst/>
          </a:prstGeom>
          <a:noFill/>
          <a:ln/>
        </p:spPr>
        <p:txBody>
          <a:bodyPr wrap="square" lIns="0" tIns="0" rIns="0" bIns="0" rtlCol="0" anchor="ctr"/>
          <a:lstStyle/>
          <a:p>
            <a:pPr algn="ctr" indent="0" marL="0">
              <a:buNone/>
            </a:pPr>
            <a:r>
              <a:rPr lang="en-US" sz="1500" b="1" dirty="0">
                <a:solidFill>
                  <a:srgbClr val="002452"/>
                </a:solidFill>
                <a:latin typeface="Calibri" pitchFamily="34" charset="0"/>
                <a:ea typeface="Calibri" pitchFamily="34" charset="-122"/>
                <a:cs typeface="Calibri" pitchFamily="34" charset="-120"/>
              </a:rPr>
              <a:t>FastAPI</a:t>
            </a:r>
            <a:endParaRPr lang="en-US" sz="1500" dirty="0"/>
          </a:p>
        </p:txBody>
      </p:sp>
      <p:sp>
        <p:nvSpPr>
          <p:cNvPr id="8" name="Text 6"/>
          <p:cNvSpPr/>
          <p:nvPr/>
        </p:nvSpPr>
        <p:spPr>
          <a:xfrm>
            <a:off x="4297680" y="1874520"/>
            <a:ext cx="3246120" cy="411480"/>
          </a:xfrm>
          <a:prstGeom prst="rect">
            <a:avLst/>
          </a:prstGeom>
          <a:noFill/>
          <a:ln/>
        </p:spPr>
        <p:txBody>
          <a:bodyPr wrap="square" lIns="0" tIns="0" rIns="0" bIns="0" rtlCol="0" anchor="ctr"/>
          <a:lstStyle/>
          <a:p>
            <a:pPr algn="ctr" indent="0" marL="0">
              <a:lnSpc>
                <a:spcPct val="105000"/>
              </a:lnSpc>
              <a:buNone/>
            </a:pPr>
            <a:r>
              <a:rPr lang="en-US" sz="1000" dirty="0">
                <a:solidFill>
                  <a:srgbClr val="44474F"/>
                </a:solidFill>
                <a:latin typeface="Calibri" pitchFamily="34" charset="0"/>
                <a:ea typeface="Calibri" pitchFamily="34" charset="-122"/>
                <a:cs typeface="Calibri" pitchFamily="34" charset="-120"/>
              </a:rPr>
              <a:t>extraction, validation,</a:t>
            </a:r>
            <a:endParaRPr lang="en-US" sz="1000" dirty="0"/>
          </a:p>
          <a:p>
            <a:pPr algn="ctr" indent="0" marL="0">
              <a:lnSpc>
                <a:spcPct val="105000"/>
              </a:lnSpc>
              <a:buNone/>
            </a:pPr>
            <a:r>
              <a:rPr lang="en-US" sz="1000" dirty="0">
                <a:solidFill>
                  <a:srgbClr val="44474F"/>
                </a:solidFill>
                <a:latin typeface="Calibri" pitchFamily="34" charset="0"/>
                <a:ea typeface="Calibri" pitchFamily="34" charset="-122"/>
                <a:cs typeface="Calibri" pitchFamily="34" charset="-120"/>
              </a:rPr>
              <a:t>export, authentication</a:t>
            </a:r>
            <a:endParaRPr lang="en-US" sz="1000" dirty="0"/>
          </a:p>
        </p:txBody>
      </p:sp>
      <p:sp>
        <p:nvSpPr>
          <p:cNvPr id="9" name="Shape 7"/>
          <p:cNvSpPr/>
          <p:nvPr/>
        </p:nvSpPr>
        <p:spPr>
          <a:xfrm>
            <a:off x="8046720" y="1371600"/>
            <a:ext cx="3246120" cy="960120"/>
          </a:xfrm>
          <a:prstGeom prst="rect">
            <a:avLst/>
          </a:prstGeom>
          <a:solidFill>
            <a:srgbClr val="FFFFFF"/>
          </a:solidFill>
          <a:ln w="15875">
            <a:solidFill>
              <a:srgbClr val="002452"/>
            </a:solidFill>
            <a:prstDash val="solid"/>
          </a:ln>
        </p:spPr>
        <p:txBody>
          <a:bodyPr/>
          <a:p/>
        </p:txBody>
      </p:sp>
      <p:sp>
        <p:nvSpPr>
          <p:cNvPr id="10" name="Text 8"/>
          <p:cNvSpPr/>
          <p:nvPr/>
        </p:nvSpPr>
        <p:spPr>
          <a:xfrm>
            <a:off x="8046720" y="1444752"/>
            <a:ext cx="3246120" cy="457200"/>
          </a:xfrm>
          <a:prstGeom prst="rect">
            <a:avLst/>
          </a:prstGeom>
          <a:noFill/>
          <a:ln/>
        </p:spPr>
        <p:txBody>
          <a:bodyPr wrap="square" lIns="0" tIns="0" rIns="0" bIns="0" rtlCol="0" anchor="ctr"/>
          <a:lstStyle/>
          <a:p>
            <a:pPr algn="ctr" indent="0" marL="0">
              <a:buNone/>
            </a:pPr>
            <a:r>
              <a:rPr lang="en-US" sz="1500" b="1" dirty="0">
                <a:solidFill>
                  <a:srgbClr val="002452"/>
                </a:solidFill>
                <a:latin typeface="Calibri" pitchFamily="34" charset="0"/>
                <a:ea typeface="Calibri" pitchFamily="34" charset="-122"/>
                <a:cs typeface="Calibri" pitchFamily="34" charset="-120"/>
              </a:rPr>
              <a:t>LM Studio</a:t>
            </a:r>
            <a:endParaRPr lang="en-US" sz="1500" dirty="0"/>
          </a:p>
          <a:p>
            <a:pPr algn="ctr" indent="0" marL="0">
              <a:buNone/>
            </a:pPr>
            <a:r>
              <a:rPr lang="en-US" sz="1500" b="1" dirty="0">
                <a:solidFill>
                  <a:srgbClr val="002452"/>
                </a:solidFill>
                <a:latin typeface="Calibri" pitchFamily="34" charset="0"/>
                <a:ea typeface="Calibri" pitchFamily="34" charset="-122"/>
                <a:cs typeface="Calibri" pitchFamily="34" charset="-120"/>
              </a:rPr>
              <a:t>qwen3-vl-4b</a:t>
            </a:r>
            <a:endParaRPr lang="en-US" sz="1500" dirty="0"/>
          </a:p>
        </p:txBody>
      </p:sp>
      <p:sp>
        <p:nvSpPr>
          <p:cNvPr id="11" name="Text 9"/>
          <p:cNvSpPr/>
          <p:nvPr/>
        </p:nvSpPr>
        <p:spPr>
          <a:xfrm>
            <a:off x="8046720" y="1874520"/>
            <a:ext cx="3246120" cy="411480"/>
          </a:xfrm>
          <a:prstGeom prst="rect">
            <a:avLst/>
          </a:prstGeom>
          <a:noFill/>
          <a:ln/>
        </p:spPr>
        <p:txBody>
          <a:bodyPr wrap="square" lIns="0" tIns="0" rIns="0" bIns="0" rtlCol="0" anchor="ctr"/>
          <a:lstStyle/>
          <a:p>
            <a:pPr algn="ctr" indent="0" marL="0">
              <a:lnSpc>
                <a:spcPct val="105000"/>
              </a:lnSpc>
              <a:buNone/>
            </a:pPr>
            <a:r>
              <a:rPr lang="en-US" sz="1000" dirty="0">
                <a:solidFill>
                  <a:srgbClr val="44474F"/>
                </a:solidFill>
                <a:latin typeface="Calibri" pitchFamily="34" charset="0"/>
                <a:ea typeface="Calibri" pitchFamily="34" charset="-122"/>
                <a:cs typeface="Calibri" pitchFamily="34" charset="-120"/>
              </a:rPr>
              <a:t>vision model</a:t>
            </a:r>
            <a:endParaRPr lang="en-US" sz="1000" dirty="0"/>
          </a:p>
        </p:txBody>
      </p:sp>
      <p:sp>
        <p:nvSpPr>
          <p:cNvPr id="12" name="Shape 10"/>
          <p:cNvSpPr/>
          <p:nvPr/>
        </p:nvSpPr>
        <p:spPr>
          <a:xfrm>
            <a:off x="3794760" y="1851660"/>
            <a:ext cx="502920" cy="0"/>
          </a:xfrm>
          <a:prstGeom prst="line">
            <a:avLst/>
          </a:prstGeom>
          <a:noFill/>
          <a:ln w="15875">
            <a:solidFill>
              <a:srgbClr val="002452"/>
            </a:solidFill>
            <a:prstDash val="solid"/>
            <a:tailEnd type="triangle"/>
          </a:ln>
        </p:spPr>
        <p:txBody>
          <a:bodyPr/>
          <a:p/>
        </p:txBody>
      </p:sp>
      <p:sp>
        <p:nvSpPr>
          <p:cNvPr id="13" name="Shape 11"/>
          <p:cNvSpPr/>
          <p:nvPr/>
        </p:nvSpPr>
        <p:spPr>
          <a:xfrm>
            <a:off x="7543800" y="1851660"/>
            <a:ext cx="502920" cy="0"/>
          </a:xfrm>
          <a:prstGeom prst="line">
            <a:avLst/>
          </a:prstGeom>
          <a:noFill/>
          <a:ln w="15875">
            <a:solidFill>
              <a:srgbClr val="002452"/>
            </a:solidFill>
            <a:prstDash val="solid"/>
            <a:tailEnd type="triangle"/>
          </a:ln>
        </p:spPr>
        <p:txBody>
          <a:bodyPr/>
          <a:p/>
        </p:txBody>
      </p:sp>
      <p:sp>
        <p:nvSpPr>
          <p:cNvPr id="14" name="Text 12"/>
          <p:cNvSpPr/>
          <p:nvPr/>
        </p:nvSpPr>
        <p:spPr>
          <a:xfrm>
            <a:off x="3794760" y="1078992"/>
            <a:ext cx="502920" cy="256032"/>
          </a:xfrm>
          <a:prstGeom prst="rect">
            <a:avLst/>
          </a:prstGeom>
          <a:noFill/>
          <a:ln/>
        </p:spPr>
        <p:txBody>
          <a:bodyPr wrap="square" lIns="0" tIns="0" rIns="0" bIns="0" rtlCol="0" anchor="ctr"/>
          <a:lstStyle/>
          <a:p>
            <a:pPr algn="ctr" indent="0" marL="0">
              <a:buNone/>
            </a:pPr>
            <a:r>
              <a:rPr lang="en-US" sz="900" dirty="0">
                <a:solidFill>
                  <a:srgbClr val="44474F"/>
                </a:solidFill>
                <a:latin typeface="Calibri" pitchFamily="34" charset="0"/>
                <a:ea typeface="Calibri" pitchFamily="34" charset="-122"/>
                <a:cs typeface="Calibri" pitchFamily="34" charset="-120"/>
              </a:rPr>
              <a:t>HTTP</a:t>
            </a:r>
            <a:endParaRPr lang="en-US" sz="900" dirty="0"/>
          </a:p>
        </p:txBody>
      </p:sp>
      <p:sp>
        <p:nvSpPr>
          <p:cNvPr id="15" name="Shape 13"/>
          <p:cNvSpPr/>
          <p:nvPr/>
        </p:nvSpPr>
        <p:spPr>
          <a:xfrm>
            <a:off x="5920740" y="2331720"/>
            <a:ext cx="0" cy="457200"/>
          </a:xfrm>
          <a:prstGeom prst="line">
            <a:avLst/>
          </a:prstGeom>
          <a:noFill/>
          <a:ln w="15875">
            <a:solidFill>
              <a:srgbClr val="002452"/>
            </a:solidFill>
            <a:prstDash val="solid"/>
            <a:tailEnd type="triangle"/>
          </a:ln>
        </p:spPr>
        <p:txBody>
          <a:bodyPr/>
          <a:p/>
        </p:txBody>
      </p:sp>
      <p:sp>
        <p:nvSpPr>
          <p:cNvPr id="16" name="Shape 14"/>
          <p:cNvSpPr/>
          <p:nvPr/>
        </p:nvSpPr>
        <p:spPr>
          <a:xfrm>
            <a:off x="5143500" y="2788920"/>
            <a:ext cx="1554480" cy="502920"/>
          </a:xfrm>
          <a:prstGeom prst="rect">
            <a:avLst/>
          </a:prstGeom>
          <a:solidFill>
            <a:srgbClr val="F7F9FC"/>
          </a:solidFill>
          <a:ln w="12700">
            <a:solidFill>
              <a:srgbClr val="002452"/>
            </a:solidFill>
            <a:prstDash val="solid"/>
          </a:ln>
        </p:spPr>
        <p:txBody>
          <a:bodyPr/>
          <a:p/>
        </p:txBody>
      </p:sp>
      <p:sp>
        <p:nvSpPr>
          <p:cNvPr id="17" name="Text 15"/>
          <p:cNvSpPr/>
          <p:nvPr/>
        </p:nvSpPr>
        <p:spPr>
          <a:xfrm>
            <a:off x="5143500" y="2788920"/>
            <a:ext cx="1554480" cy="502920"/>
          </a:xfrm>
          <a:prstGeom prst="rect">
            <a:avLst/>
          </a:prstGeom>
          <a:noFill/>
          <a:ln/>
        </p:spPr>
        <p:txBody>
          <a:bodyPr wrap="square" lIns="0" tIns="0" rIns="0" bIns="0" rtlCol="0" anchor="ctr"/>
          <a:lstStyle/>
          <a:p>
            <a:pPr algn="ctr" indent="0" marL="0">
              <a:buNone/>
            </a:pPr>
            <a:r>
              <a:rPr lang="en-US" sz="1300" b="1" dirty="0">
                <a:solidFill>
                  <a:srgbClr val="002452"/>
                </a:solidFill>
                <a:latin typeface="Calibri" pitchFamily="34" charset="0"/>
                <a:ea typeface="Calibri" pitchFamily="34" charset="-122"/>
                <a:cs typeface="Calibri" pitchFamily="34" charset="-120"/>
              </a:rPr>
              <a:t>SQLite</a:t>
            </a:r>
            <a:endParaRPr lang="en-US" sz="1300" dirty="0"/>
          </a:p>
        </p:txBody>
      </p:sp>
      <p:sp>
        <p:nvSpPr>
          <p:cNvPr id="18" name="Text 16"/>
          <p:cNvSpPr/>
          <p:nvPr/>
        </p:nvSpPr>
        <p:spPr>
          <a:xfrm>
            <a:off x="548640" y="3474720"/>
            <a:ext cx="11094415" cy="365760"/>
          </a:xfrm>
          <a:prstGeom prst="rect">
            <a:avLst/>
          </a:prstGeom>
          <a:noFill/>
          <a:ln/>
        </p:spPr>
        <p:txBody>
          <a:bodyPr wrap="square" lIns="0" tIns="0" rIns="0" bIns="0" rtlCol="0" anchor="ctr"/>
          <a:lstStyle/>
          <a:p>
            <a:pPr algn="l" indent="0" marL="0">
              <a:buNone/>
            </a:pPr>
            <a:r>
              <a:rPr lang="en-US" sz="1300" b="1" i="1" dirty="0">
                <a:solidFill>
                  <a:srgbClr val="002452"/>
                </a:solidFill>
                <a:latin typeface="Calibri" pitchFamily="34" charset="0"/>
                <a:ea typeface="Calibri" pitchFamily="34" charset="-122"/>
                <a:cs typeface="Calibri" pitchFamily="34" charset="-120"/>
              </a:rPr>
              <a:t>React only talks to FastAPI. Only FastAPI touches the model.</a:t>
            </a:r>
            <a:endParaRPr lang="en-US" sz="1300" dirty="0"/>
          </a:p>
        </p:txBody>
      </p:sp>
      <p:sp>
        <p:nvSpPr>
          <p:cNvPr id="19" name="Shape 17"/>
          <p:cNvSpPr/>
          <p:nvPr/>
        </p:nvSpPr>
        <p:spPr>
          <a:xfrm>
            <a:off x="548640" y="4160520"/>
            <a:ext cx="11094415" cy="0"/>
          </a:xfrm>
          <a:prstGeom prst="line">
            <a:avLst/>
          </a:prstGeom>
          <a:noFill/>
          <a:ln w="12700">
            <a:solidFill>
              <a:srgbClr val="E3E8EF"/>
            </a:solidFill>
            <a:prstDash val="solid"/>
          </a:ln>
        </p:spPr>
        <p:txBody>
          <a:bodyPr/>
          <a:p/>
        </p:txBody>
      </p:sp>
      <p:sp>
        <p:nvSpPr>
          <p:cNvPr id="20" name="Text 18"/>
          <p:cNvSpPr/>
          <p:nvPr/>
        </p:nvSpPr>
        <p:spPr>
          <a:xfrm>
            <a:off x="548640" y="4343400"/>
            <a:ext cx="1475188" cy="292608"/>
          </a:xfrm>
          <a:prstGeom prst="rect">
            <a:avLst/>
          </a:prstGeom>
          <a:noFill/>
          <a:ln/>
        </p:spPr>
        <p:txBody>
          <a:bodyPr wrap="square" lIns="0" tIns="0" rIns="0" bIns="0" rtlCol="0" anchor="ctr"/>
          <a:lstStyle/>
          <a:p>
            <a:pPr algn="l" indent="0" marL="0">
              <a:buNone/>
            </a:pPr>
            <a:r>
              <a:rPr lang="en-US" sz="1300" b="1" dirty="0">
                <a:solidFill>
                  <a:srgbClr val="0051D5"/>
                </a:solidFill>
                <a:latin typeface="Calibri" pitchFamily="34" charset="0"/>
                <a:ea typeface="Calibri" pitchFamily="34" charset="-122"/>
                <a:cs typeface="Calibri" pitchFamily="34" charset="-120"/>
              </a:rPr>
              <a:t>1</a:t>
            </a:r>
            <a:endParaRPr lang="en-US" sz="1300" dirty="0"/>
          </a:p>
        </p:txBody>
      </p:sp>
      <p:sp>
        <p:nvSpPr>
          <p:cNvPr id="21" name="Text 19"/>
          <p:cNvSpPr/>
          <p:nvPr/>
        </p:nvSpPr>
        <p:spPr>
          <a:xfrm>
            <a:off x="548640" y="4617720"/>
            <a:ext cx="1475188" cy="320040"/>
          </a:xfrm>
          <a:prstGeom prst="rect">
            <a:avLst/>
          </a:prstGeom>
          <a:noFill/>
          <a:ln/>
        </p:spPr>
        <p:txBody>
          <a:bodyPr wrap="square" lIns="0" tIns="0" rIns="0" bIns="0" rtlCol="0" anchor="ctr"/>
          <a:lstStyle/>
          <a:p>
            <a:pPr algn="l" indent="0" marL="0">
              <a:buNone/>
            </a:pPr>
            <a:r>
              <a:rPr lang="en-US" sz="1100" b="1" dirty="0">
                <a:solidFill>
                  <a:srgbClr val="1A2433"/>
                </a:solidFill>
                <a:latin typeface="Calibri" pitchFamily="34" charset="0"/>
                <a:ea typeface="Calibri" pitchFamily="34" charset="-122"/>
                <a:cs typeface="Calibri" pitchFamily="34" charset="-120"/>
              </a:rPr>
              <a:t>Upload</a:t>
            </a:r>
            <a:endParaRPr lang="en-US" sz="1100" dirty="0"/>
          </a:p>
        </p:txBody>
      </p:sp>
      <p:sp>
        <p:nvSpPr>
          <p:cNvPr id="22" name="Text 20"/>
          <p:cNvSpPr/>
          <p:nvPr/>
        </p:nvSpPr>
        <p:spPr>
          <a:xfrm>
            <a:off x="548640" y="4956048"/>
            <a:ext cx="1475188" cy="1417320"/>
          </a:xfrm>
          <a:prstGeom prst="rect">
            <a:avLst/>
          </a:prstGeom>
          <a:noFill/>
          <a:ln/>
        </p:spPr>
        <p:txBody>
          <a:bodyPr wrap="square" lIns="0" tIns="0" rIns="0" bIns="0" rtlCol="0" anchor="ctr"/>
          <a:lstStyle/>
          <a:p>
            <a:pPr algn="l" indent="0" marL="0">
              <a:lnSpc>
                <a:spcPct val="112000"/>
              </a:lnSpc>
              <a:buNone/>
            </a:pPr>
            <a:r>
              <a:rPr lang="en-US" sz="950" dirty="0">
                <a:solidFill>
                  <a:srgbClr val="44474F"/>
                </a:solidFill>
                <a:latin typeface="Calibri" pitchFamily="34" charset="0"/>
                <a:ea typeface="Calibri" pitchFamily="34" charset="-122"/>
                <a:cs typeface="Calibri" pitchFamily="34" charset="-120"/>
              </a:rPr>
              <a:t>PDF or image</a:t>
            </a:r>
            <a:endParaRPr lang="en-US" sz="950" dirty="0"/>
          </a:p>
        </p:txBody>
      </p:sp>
      <p:sp>
        <p:nvSpPr>
          <p:cNvPr id="23" name="Text 21"/>
          <p:cNvSpPr/>
          <p:nvPr/>
        </p:nvSpPr>
        <p:spPr>
          <a:xfrm>
            <a:off x="2133556" y="4343400"/>
            <a:ext cx="1475188" cy="292608"/>
          </a:xfrm>
          <a:prstGeom prst="rect">
            <a:avLst/>
          </a:prstGeom>
          <a:noFill/>
          <a:ln/>
        </p:spPr>
        <p:txBody>
          <a:bodyPr wrap="square" lIns="0" tIns="0" rIns="0" bIns="0" rtlCol="0" anchor="ctr"/>
          <a:lstStyle/>
          <a:p>
            <a:pPr algn="l" indent="0" marL="0">
              <a:buNone/>
            </a:pPr>
            <a:r>
              <a:rPr lang="en-US" sz="1300" b="1" dirty="0">
                <a:solidFill>
                  <a:srgbClr val="0051D5"/>
                </a:solidFill>
                <a:latin typeface="Calibri" pitchFamily="34" charset="0"/>
                <a:ea typeface="Calibri" pitchFamily="34" charset="-122"/>
                <a:cs typeface="Calibri" pitchFamily="34" charset="-120"/>
              </a:rPr>
              <a:t>2</a:t>
            </a:r>
            <a:endParaRPr lang="en-US" sz="1300" dirty="0"/>
          </a:p>
        </p:txBody>
      </p:sp>
      <p:sp>
        <p:nvSpPr>
          <p:cNvPr id="24" name="Text 22"/>
          <p:cNvSpPr/>
          <p:nvPr/>
        </p:nvSpPr>
        <p:spPr>
          <a:xfrm>
            <a:off x="2133556" y="4617720"/>
            <a:ext cx="1475188" cy="320040"/>
          </a:xfrm>
          <a:prstGeom prst="rect">
            <a:avLst/>
          </a:prstGeom>
          <a:noFill/>
          <a:ln/>
        </p:spPr>
        <p:txBody>
          <a:bodyPr wrap="square" lIns="0" tIns="0" rIns="0" bIns="0" rtlCol="0" anchor="ctr"/>
          <a:lstStyle/>
          <a:p>
            <a:pPr algn="l" indent="0" marL="0">
              <a:buNone/>
            </a:pPr>
            <a:r>
              <a:rPr lang="en-US" sz="1100" b="1" dirty="0">
                <a:solidFill>
                  <a:srgbClr val="1A2433"/>
                </a:solidFill>
                <a:latin typeface="Calibri" pitchFamily="34" charset="0"/>
                <a:ea typeface="Calibri" pitchFamily="34" charset="-122"/>
                <a:cs typeface="Calibri" pitchFamily="34" charset="-120"/>
              </a:rPr>
              <a:t>Loading</a:t>
            </a:r>
            <a:endParaRPr lang="en-US" sz="1100" dirty="0"/>
          </a:p>
        </p:txBody>
      </p:sp>
      <p:sp>
        <p:nvSpPr>
          <p:cNvPr id="25" name="Text 23"/>
          <p:cNvSpPr/>
          <p:nvPr/>
        </p:nvSpPr>
        <p:spPr>
          <a:xfrm>
            <a:off x="2133556" y="4956048"/>
            <a:ext cx="1475188" cy="1417320"/>
          </a:xfrm>
          <a:prstGeom prst="rect">
            <a:avLst/>
          </a:prstGeom>
          <a:noFill/>
          <a:ln/>
        </p:spPr>
        <p:txBody>
          <a:bodyPr wrap="square" lIns="0" tIns="0" rIns="0" bIns="0" rtlCol="0" anchor="ctr"/>
          <a:lstStyle/>
          <a:p>
            <a:pPr algn="l" indent="0" marL="0">
              <a:lnSpc>
                <a:spcPct val="112000"/>
              </a:lnSpc>
              <a:buNone/>
            </a:pPr>
            <a:r>
              <a:rPr lang="en-US" sz="950" dirty="0">
                <a:solidFill>
                  <a:srgbClr val="44474F"/>
                </a:solidFill>
                <a:latin typeface="Calibri" pitchFamily="34" charset="0"/>
                <a:ea typeface="Calibri" pitchFamily="34" charset="-122"/>
                <a:cs typeface="Calibri" pitchFamily="34" charset="-120"/>
              </a:rPr>
              <a:t>PyMuPDF renders the PDF to PNG at zoom 3.0</a:t>
            </a:r>
            <a:endParaRPr lang="en-US" sz="950" dirty="0"/>
          </a:p>
        </p:txBody>
      </p:sp>
      <p:sp>
        <p:nvSpPr>
          <p:cNvPr id="26" name="Text 24"/>
          <p:cNvSpPr/>
          <p:nvPr/>
        </p:nvSpPr>
        <p:spPr>
          <a:xfrm>
            <a:off x="3718473" y="4343400"/>
            <a:ext cx="1475188" cy="292608"/>
          </a:xfrm>
          <a:prstGeom prst="rect">
            <a:avLst/>
          </a:prstGeom>
          <a:noFill/>
          <a:ln/>
        </p:spPr>
        <p:txBody>
          <a:bodyPr wrap="square" lIns="0" tIns="0" rIns="0" bIns="0" rtlCol="0" anchor="ctr"/>
          <a:lstStyle/>
          <a:p>
            <a:pPr algn="l" indent="0" marL="0">
              <a:buNone/>
            </a:pPr>
            <a:r>
              <a:rPr lang="en-US" sz="1300" b="1" dirty="0">
                <a:solidFill>
                  <a:srgbClr val="0051D5"/>
                </a:solidFill>
                <a:latin typeface="Calibri" pitchFamily="34" charset="0"/>
                <a:ea typeface="Calibri" pitchFamily="34" charset="-122"/>
                <a:cs typeface="Calibri" pitchFamily="34" charset="-120"/>
              </a:rPr>
              <a:t>3</a:t>
            </a:r>
            <a:endParaRPr lang="en-US" sz="1300" dirty="0"/>
          </a:p>
        </p:txBody>
      </p:sp>
      <p:sp>
        <p:nvSpPr>
          <p:cNvPr id="27" name="Text 25"/>
          <p:cNvSpPr/>
          <p:nvPr/>
        </p:nvSpPr>
        <p:spPr>
          <a:xfrm>
            <a:off x="3718473" y="4617720"/>
            <a:ext cx="1475188" cy="320040"/>
          </a:xfrm>
          <a:prstGeom prst="rect">
            <a:avLst/>
          </a:prstGeom>
          <a:noFill/>
          <a:ln/>
        </p:spPr>
        <p:txBody>
          <a:bodyPr wrap="square" lIns="0" tIns="0" rIns="0" bIns="0" rtlCol="0" anchor="ctr"/>
          <a:lstStyle/>
          <a:p>
            <a:pPr algn="l" indent="0" marL="0">
              <a:buNone/>
            </a:pPr>
            <a:r>
              <a:rPr lang="en-US" sz="1100" b="1" dirty="0">
                <a:solidFill>
                  <a:srgbClr val="1A2433"/>
                </a:solidFill>
                <a:latin typeface="Calibri" pitchFamily="34" charset="0"/>
                <a:ea typeface="Calibri" pitchFamily="34" charset="-122"/>
                <a:cs typeface="Calibri" pitchFamily="34" charset="-120"/>
              </a:rPr>
              <a:t>Extraction</a:t>
            </a:r>
            <a:endParaRPr lang="en-US" sz="1100" dirty="0"/>
          </a:p>
        </p:txBody>
      </p:sp>
      <p:sp>
        <p:nvSpPr>
          <p:cNvPr id="28" name="Text 26"/>
          <p:cNvSpPr/>
          <p:nvPr/>
        </p:nvSpPr>
        <p:spPr>
          <a:xfrm>
            <a:off x="3718473" y="4956048"/>
            <a:ext cx="1475188" cy="1417320"/>
          </a:xfrm>
          <a:prstGeom prst="rect">
            <a:avLst/>
          </a:prstGeom>
          <a:noFill/>
          <a:ln/>
        </p:spPr>
        <p:txBody>
          <a:bodyPr wrap="square" lIns="0" tIns="0" rIns="0" bIns="0" rtlCol="0" anchor="ctr"/>
          <a:lstStyle/>
          <a:p>
            <a:pPr algn="l" indent="0" marL="0">
              <a:lnSpc>
                <a:spcPct val="112000"/>
              </a:lnSpc>
              <a:buNone/>
            </a:pPr>
            <a:r>
              <a:rPr lang="en-US" sz="950" dirty="0">
                <a:solidFill>
                  <a:srgbClr val="44474F"/>
                </a:solidFill>
                <a:latin typeface="Calibri" pitchFamily="34" charset="0"/>
                <a:ea typeface="Calibri" pitchFamily="34" charset="-122"/>
                <a:cs typeface="Calibri" pitchFamily="34" charset="-120"/>
              </a:rPr>
              <a:t>image sent as base64 at temperature 0, JSON schema embedded in the prompt</a:t>
            </a:r>
            <a:endParaRPr lang="en-US" sz="950" dirty="0"/>
          </a:p>
        </p:txBody>
      </p:sp>
      <p:sp>
        <p:nvSpPr>
          <p:cNvPr id="29" name="Text 27"/>
          <p:cNvSpPr/>
          <p:nvPr/>
        </p:nvSpPr>
        <p:spPr>
          <a:xfrm>
            <a:off x="5303389" y="4343400"/>
            <a:ext cx="1475188" cy="292608"/>
          </a:xfrm>
          <a:prstGeom prst="rect">
            <a:avLst/>
          </a:prstGeom>
          <a:noFill/>
          <a:ln/>
        </p:spPr>
        <p:txBody>
          <a:bodyPr wrap="square" lIns="0" tIns="0" rIns="0" bIns="0" rtlCol="0" anchor="ctr"/>
          <a:lstStyle/>
          <a:p>
            <a:pPr algn="l" indent="0" marL="0">
              <a:buNone/>
            </a:pPr>
            <a:r>
              <a:rPr lang="en-US" sz="1300" b="1" dirty="0">
                <a:solidFill>
                  <a:srgbClr val="0051D5"/>
                </a:solidFill>
                <a:latin typeface="Calibri" pitchFamily="34" charset="0"/>
                <a:ea typeface="Calibri" pitchFamily="34" charset="-122"/>
                <a:cs typeface="Calibri" pitchFamily="34" charset="-120"/>
              </a:rPr>
              <a:t>4</a:t>
            </a:r>
            <a:endParaRPr lang="en-US" sz="1300" dirty="0"/>
          </a:p>
        </p:txBody>
      </p:sp>
      <p:sp>
        <p:nvSpPr>
          <p:cNvPr id="30" name="Text 28"/>
          <p:cNvSpPr/>
          <p:nvPr/>
        </p:nvSpPr>
        <p:spPr>
          <a:xfrm>
            <a:off x="5303389" y="4617720"/>
            <a:ext cx="1475188" cy="320040"/>
          </a:xfrm>
          <a:prstGeom prst="rect">
            <a:avLst/>
          </a:prstGeom>
          <a:noFill/>
          <a:ln/>
        </p:spPr>
        <p:txBody>
          <a:bodyPr wrap="square" lIns="0" tIns="0" rIns="0" bIns="0" rtlCol="0" anchor="ctr"/>
          <a:lstStyle/>
          <a:p>
            <a:pPr algn="l" indent="0" marL="0">
              <a:buNone/>
            </a:pPr>
            <a:r>
              <a:rPr lang="en-US" sz="1100" b="1" dirty="0">
                <a:solidFill>
                  <a:srgbClr val="1A2433"/>
                </a:solidFill>
                <a:latin typeface="Calibri" pitchFamily="34" charset="0"/>
                <a:ea typeface="Calibri" pitchFamily="34" charset="-122"/>
                <a:cs typeface="Calibri" pitchFamily="34" charset="-120"/>
              </a:rPr>
              <a:t>Parsing</a:t>
            </a:r>
            <a:endParaRPr lang="en-US" sz="1100" dirty="0"/>
          </a:p>
        </p:txBody>
      </p:sp>
      <p:sp>
        <p:nvSpPr>
          <p:cNvPr id="31" name="Text 29"/>
          <p:cNvSpPr/>
          <p:nvPr/>
        </p:nvSpPr>
        <p:spPr>
          <a:xfrm>
            <a:off x="5303389" y="4956048"/>
            <a:ext cx="1475188" cy="1417320"/>
          </a:xfrm>
          <a:prstGeom prst="rect">
            <a:avLst/>
          </a:prstGeom>
          <a:noFill/>
          <a:ln/>
        </p:spPr>
        <p:txBody>
          <a:bodyPr wrap="square" lIns="0" tIns="0" rIns="0" bIns="0" rtlCol="0" anchor="ctr"/>
          <a:lstStyle/>
          <a:p>
            <a:pPr algn="l" indent="0" marL="0">
              <a:lnSpc>
                <a:spcPct val="112000"/>
              </a:lnSpc>
              <a:buNone/>
            </a:pPr>
            <a:r>
              <a:rPr lang="en-US" sz="950" dirty="0">
                <a:solidFill>
                  <a:srgbClr val="44474F"/>
                </a:solidFill>
                <a:latin typeface="Calibri" pitchFamily="34" charset="0"/>
                <a:ea typeface="Calibri" pitchFamily="34" charset="-122"/>
                <a:cs typeface="Calibri" pitchFamily="34" charset="-120"/>
              </a:rPr>
              <a:t>markdown fences stripped, then validated by pydantic</a:t>
            </a:r>
            <a:endParaRPr lang="en-US" sz="950" dirty="0"/>
          </a:p>
        </p:txBody>
      </p:sp>
      <p:sp>
        <p:nvSpPr>
          <p:cNvPr id="32" name="Text 30"/>
          <p:cNvSpPr/>
          <p:nvPr/>
        </p:nvSpPr>
        <p:spPr>
          <a:xfrm>
            <a:off x="6888306" y="4343400"/>
            <a:ext cx="1475188" cy="292608"/>
          </a:xfrm>
          <a:prstGeom prst="rect">
            <a:avLst/>
          </a:prstGeom>
          <a:noFill/>
          <a:ln/>
        </p:spPr>
        <p:txBody>
          <a:bodyPr wrap="square" lIns="0" tIns="0" rIns="0" bIns="0" rtlCol="0" anchor="ctr"/>
          <a:lstStyle/>
          <a:p>
            <a:pPr algn="l" indent="0" marL="0">
              <a:buNone/>
            </a:pPr>
            <a:r>
              <a:rPr lang="en-US" sz="1300" b="1" dirty="0">
                <a:solidFill>
                  <a:srgbClr val="0051D5"/>
                </a:solidFill>
                <a:latin typeface="Calibri" pitchFamily="34" charset="0"/>
                <a:ea typeface="Calibri" pitchFamily="34" charset="-122"/>
                <a:cs typeface="Calibri" pitchFamily="34" charset="-120"/>
              </a:rPr>
              <a:t>5</a:t>
            </a:r>
            <a:endParaRPr lang="en-US" sz="1300" dirty="0"/>
          </a:p>
        </p:txBody>
      </p:sp>
      <p:sp>
        <p:nvSpPr>
          <p:cNvPr id="33" name="Text 31"/>
          <p:cNvSpPr/>
          <p:nvPr/>
        </p:nvSpPr>
        <p:spPr>
          <a:xfrm>
            <a:off x="6888306" y="4617720"/>
            <a:ext cx="1475188" cy="320040"/>
          </a:xfrm>
          <a:prstGeom prst="rect">
            <a:avLst/>
          </a:prstGeom>
          <a:noFill/>
          <a:ln/>
        </p:spPr>
        <p:txBody>
          <a:bodyPr wrap="square" lIns="0" tIns="0" rIns="0" bIns="0" rtlCol="0" anchor="ctr"/>
          <a:lstStyle/>
          <a:p>
            <a:pPr algn="l" indent="0" marL="0">
              <a:buNone/>
            </a:pPr>
            <a:r>
              <a:rPr lang="en-US" sz="1100" b="1" dirty="0">
                <a:solidFill>
                  <a:srgbClr val="1A2433"/>
                </a:solidFill>
                <a:latin typeface="Calibri" pitchFamily="34" charset="0"/>
                <a:ea typeface="Calibri" pitchFamily="34" charset="-122"/>
                <a:cs typeface="Calibri" pitchFamily="34" charset="-120"/>
              </a:rPr>
              <a:t>Validation</a:t>
            </a:r>
            <a:endParaRPr lang="en-US" sz="1100" dirty="0"/>
          </a:p>
        </p:txBody>
      </p:sp>
      <p:sp>
        <p:nvSpPr>
          <p:cNvPr id="34" name="Text 32"/>
          <p:cNvSpPr/>
          <p:nvPr/>
        </p:nvSpPr>
        <p:spPr>
          <a:xfrm>
            <a:off x="6888306" y="4956048"/>
            <a:ext cx="1475188" cy="1417320"/>
          </a:xfrm>
          <a:prstGeom prst="rect">
            <a:avLst/>
          </a:prstGeom>
          <a:noFill/>
          <a:ln/>
        </p:spPr>
        <p:txBody>
          <a:bodyPr wrap="square" lIns="0" tIns="0" rIns="0" bIns="0" rtlCol="0" anchor="ctr"/>
          <a:lstStyle/>
          <a:p>
            <a:pPr algn="l" indent="0" marL="0">
              <a:lnSpc>
                <a:spcPct val="112000"/>
              </a:lnSpc>
              <a:buNone/>
            </a:pPr>
            <a:r>
              <a:rPr lang="en-US" sz="950" dirty="0">
                <a:solidFill>
                  <a:srgbClr val="44474F"/>
                </a:solidFill>
                <a:latin typeface="Calibri" pitchFamily="34" charset="0"/>
                <a:ea typeface="Calibri" pitchFamily="34" charset="-122"/>
                <a:cs typeface="Calibri" pitchFamily="34" charset="-120"/>
              </a:rPr>
              <a:t>9 business rules, producing errors or warnings</a:t>
            </a:r>
            <a:endParaRPr lang="en-US" sz="950" dirty="0"/>
          </a:p>
        </p:txBody>
      </p:sp>
      <p:sp>
        <p:nvSpPr>
          <p:cNvPr id="35" name="Text 33"/>
          <p:cNvSpPr/>
          <p:nvPr/>
        </p:nvSpPr>
        <p:spPr>
          <a:xfrm>
            <a:off x="8473222" y="4343400"/>
            <a:ext cx="1475188" cy="292608"/>
          </a:xfrm>
          <a:prstGeom prst="rect">
            <a:avLst/>
          </a:prstGeom>
          <a:noFill/>
          <a:ln/>
        </p:spPr>
        <p:txBody>
          <a:bodyPr wrap="square" lIns="0" tIns="0" rIns="0" bIns="0" rtlCol="0" anchor="ctr"/>
          <a:lstStyle/>
          <a:p>
            <a:pPr algn="l" indent="0" marL="0">
              <a:buNone/>
            </a:pPr>
            <a:r>
              <a:rPr lang="en-US" sz="1300" b="1" dirty="0">
                <a:solidFill>
                  <a:srgbClr val="0051D5"/>
                </a:solidFill>
                <a:latin typeface="Calibri" pitchFamily="34" charset="0"/>
                <a:ea typeface="Calibri" pitchFamily="34" charset="-122"/>
                <a:cs typeface="Calibri" pitchFamily="34" charset="-120"/>
              </a:rPr>
              <a:t>6</a:t>
            </a:r>
            <a:endParaRPr lang="en-US" sz="1300" dirty="0"/>
          </a:p>
        </p:txBody>
      </p:sp>
      <p:sp>
        <p:nvSpPr>
          <p:cNvPr id="36" name="Text 34"/>
          <p:cNvSpPr/>
          <p:nvPr/>
        </p:nvSpPr>
        <p:spPr>
          <a:xfrm>
            <a:off x="8473222" y="4617720"/>
            <a:ext cx="1475188" cy="320040"/>
          </a:xfrm>
          <a:prstGeom prst="rect">
            <a:avLst/>
          </a:prstGeom>
          <a:noFill/>
          <a:ln/>
        </p:spPr>
        <p:txBody>
          <a:bodyPr wrap="square" lIns="0" tIns="0" rIns="0" bIns="0" rtlCol="0" anchor="ctr"/>
          <a:lstStyle/>
          <a:p>
            <a:pPr algn="l" indent="0" marL="0">
              <a:buNone/>
            </a:pPr>
            <a:r>
              <a:rPr lang="en-US" sz="1100" b="1" dirty="0">
                <a:solidFill>
                  <a:srgbClr val="1A2433"/>
                </a:solidFill>
                <a:latin typeface="Calibri" pitchFamily="34" charset="0"/>
                <a:ea typeface="Calibri" pitchFamily="34" charset="-122"/>
                <a:cs typeface="Calibri" pitchFamily="34" charset="-120"/>
              </a:rPr>
              <a:t>Review</a:t>
            </a:r>
            <a:endParaRPr lang="en-US" sz="1100" dirty="0"/>
          </a:p>
        </p:txBody>
      </p:sp>
      <p:sp>
        <p:nvSpPr>
          <p:cNvPr id="37" name="Text 35"/>
          <p:cNvSpPr/>
          <p:nvPr/>
        </p:nvSpPr>
        <p:spPr>
          <a:xfrm>
            <a:off x="8473222" y="4956048"/>
            <a:ext cx="1475188" cy="1417320"/>
          </a:xfrm>
          <a:prstGeom prst="rect">
            <a:avLst/>
          </a:prstGeom>
          <a:noFill/>
          <a:ln/>
        </p:spPr>
        <p:txBody>
          <a:bodyPr wrap="square" lIns="0" tIns="0" rIns="0" bIns="0" rtlCol="0" anchor="ctr"/>
          <a:lstStyle/>
          <a:p>
            <a:pPr algn="l" indent="0" marL="0">
              <a:lnSpc>
                <a:spcPct val="112000"/>
              </a:lnSpc>
              <a:buNone/>
            </a:pPr>
            <a:r>
              <a:rPr lang="en-US" sz="950" dirty="0">
                <a:solidFill>
                  <a:srgbClr val="44474F"/>
                </a:solidFill>
                <a:latin typeface="Calibri" pitchFamily="34" charset="0"/>
                <a:ea typeface="Calibri" pitchFamily="34" charset="-122"/>
                <a:cs typeface="Calibri" pitchFamily="34" charset="-120"/>
              </a:rPr>
              <a:t>a human corrects, validation re runs immediately</a:t>
            </a:r>
            <a:endParaRPr lang="en-US" sz="950" dirty="0"/>
          </a:p>
        </p:txBody>
      </p:sp>
      <p:sp>
        <p:nvSpPr>
          <p:cNvPr id="38" name="Text 36"/>
          <p:cNvSpPr/>
          <p:nvPr/>
        </p:nvSpPr>
        <p:spPr>
          <a:xfrm>
            <a:off x="10058139" y="4343400"/>
            <a:ext cx="1475188" cy="292608"/>
          </a:xfrm>
          <a:prstGeom prst="rect">
            <a:avLst/>
          </a:prstGeom>
          <a:noFill/>
          <a:ln/>
        </p:spPr>
        <p:txBody>
          <a:bodyPr wrap="square" lIns="0" tIns="0" rIns="0" bIns="0" rtlCol="0" anchor="ctr"/>
          <a:lstStyle/>
          <a:p>
            <a:pPr algn="l" indent="0" marL="0">
              <a:buNone/>
            </a:pPr>
            <a:r>
              <a:rPr lang="en-US" sz="1300" b="1" dirty="0">
                <a:solidFill>
                  <a:srgbClr val="0051D5"/>
                </a:solidFill>
                <a:latin typeface="Calibri" pitchFamily="34" charset="0"/>
                <a:ea typeface="Calibri" pitchFamily="34" charset="-122"/>
                <a:cs typeface="Calibri" pitchFamily="34" charset="-120"/>
              </a:rPr>
              <a:t>7</a:t>
            </a:r>
            <a:endParaRPr lang="en-US" sz="1300" dirty="0"/>
          </a:p>
        </p:txBody>
      </p:sp>
      <p:sp>
        <p:nvSpPr>
          <p:cNvPr id="39" name="Text 37"/>
          <p:cNvSpPr/>
          <p:nvPr/>
        </p:nvSpPr>
        <p:spPr>
          <a:xfrm>
            <a:off x="10058139" y="4617720"/>
            <a:ext cx="1475188" cy="320040"/>
          </a:xfrm>
          <a:prstGeom prst="rect">
            <a:avLst/>
          </a:prstGeom>
          <a:noFill/>
          <a:ln/>
        </p:spPr>
        <p:txBody>
          <a:bodyPr wrap="square" lIns="0" tIns="0" rIns="0" bIns="0" rtlCol="0" anchor="ctr"/>
          <a:lstStyle/>
          <a:p>
            <a:pPr algn="l" indent="0" marL="0">
              <a:buNone/>
            </a:pPr>
            <a:r>
              <a:rPr lang="en-US" sz="1100" b="1" dirty="0">
                <a:solidFill>
                  <a:srgbClr val="1A2433"/>
                </a:solidFill>
                <a:latin typeface="Calibri" pitchFamily="34" charset="0"/>
                <a:ea typeface="Calibri" pitchFamily="34" charset="-122"/>
                <a:cs typeface="Calibri" pitchFamily="34" charset="-120"/>
              </a:rPr>
              <a:t>Approve and export</a:t>
            </a:r>
            <a:endParaRPr lang="en-US" sz="1100" dirty="0"/>
          </a:p>
        </p:txBody>
      </p:sp>
      <p:sp>
        <p:nvSpPr>
          <p:cNvPr id="40" name="Text 38"/>
          <p:cNvSpPr/>
          <p:nvPr/>
        </p:nvSpPr>
        <p:spPr>
          <a:xfrm>
            <a:off x="10058139" y="4956048"/>
            <a:ext cx="1475188" cy="1417320"/>
          </a:xfrm>
          <a:prstGeom prst="rect">
            <a:avLst/>
          </a:prstGeom>
          <a:noFill/>
          <a:ln/>
        </p:spPr>
        <p:txBody>
          <a:bodyPr wrap="square" lIns="0" tIns="0" rIns="0" bIns="0" rtlCol="0" anchor="ctr"/>
          <a:lstStyle/>
          <a:p>
            <a:pPr algn="l" indent="0" marL="0">
              <a:lnSpc>
                <a:spcPct val="112000"/>
              </a:lnSpc>
              <a:buNone/>
            </a:pPr>
            <a:r>
              <a:rPr lang="en-US" sz="950" dirty="0">
                <a:solidFill>
                  <a:srgbClr val="44474F"/>
                </a:solidFill>
                <a:latin typeface="Calibri" pitchFamily="34" charset="0"/>
                <a:ea typeface="Calibri" pitchFamily="34" charset="-122"/>
                <a:cs typeface="Calibri" pitchFamily="34" charset="-120"/>
              </a:rPr>
              <a:t>to CSV, JSON, PDF, Word, Excel and the mock API</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457200"/>
          </a:xfrm>
          <a:prstGeom prst="rect">
            <a:avLst/>
          </a:prstGeom>
          <a:noFill/>
          <a:ln/>
        </p:spPr>
        <p:txBody>
          <a:bodyPr wrap="square" lIns="0" tIns="0" rIns="0" bIns="0" rtlCol="0" anchor="t"/>
          <a:lstStyle/>
          <a:p>
            <a:pPr algn="l" indent="0" marL="0">
              <a:buNone/>
            </a:pPr>
            <a:r>
              <a:rPr lang="en-US" sz="2600" b="1" dirty="0">
                <a:solidFill>
                  <a:srgbClr val="002452"/>
                </a:solidFill>
                <a:latin typeface="Calibri" pitchFamily="34" charset="0"/>
                <a:ea typeface="Calibri" pitchFamily="34" charset="-122"/>
                <a:cs typeface="Calibri" pitchFamily="34" charset="-120"/>
              </a:rPr>
              <a:t>End to end flow</a:t>
            </a:r>
            <a:endParaRPr lang="en-US" sz="2600" dirty="0"/>
          </a:p>
        </p:txBody>
      </p:sp>
      <p:sp>
        <p:nvSpPr>
          <p:cNvPr id="3" name="Shape 1"/>
          <p:cNvSpPr/>
          <p:nvPr/>
        </p:nvSpPr>
        <p:spPr>
          <a:xfrm>
            <a:off x="548640" y="896112"/>
            <a:ext cx="1365460" cy="566928"/>
          </a:xfrm>
          <a:prstGeom prst="rect">
            <a:avLst/>
          </a:prstGeom>
          <a:solidFill>
            <a:srgbClr val="F7F9FC"/>
          </a:solidFill>
          <a:ln w="12700">
            <a:solidFill>
              <a:srgbClr val="E3E8EF"/>
            </a:solidFill>
            <a:prstDash val="solid"/>
          </a:ln>
        </p:spPr>
        <p:txBody>
          <a:bodyPr/>
          <a:p/>
        </p:txBody>
      </p:sp>
      <p:sp>
        <p:nvSpPr>
          <p:cNvPr id="4" name="Text 2"/>
          <p:cNvSpPr/>
          <p:nvPr/>
        </p:nvSpPr>
        <p:spPr>
          <a:xfrm>
            <a:off x="585216" y="896112"/>
            <a:ext cx="1292308" cy="566928"/>
          </a:xfrm>
          <a:prstGeom prst="rect">
            <a:avLst/>
          </a:prstGeom>
          <a:noFill/>
          <a:ln/>
        </p:spPr>
        <p:txBody>
          <a:bodyPr wrap="square" lIns="0" tIns="0" rIns="0" bIns="0" rtlCol="0" anchor="ctr"/>
          <a:lstStyle/>
          <a:p>
            <a:pPr algn="ctr" indent="0" marL="0">
              <a:lnSpc>
                <a:spcPct val="100000"/>
              </a:lnSpc>
              <a:buNone/>
            </a:pPr>
            <a:r>
              <a:rPr lang="en-US" sz="900" dirty="0">
                <a:solidFill>
                  <a:srgbClr val="1A2433"/>
                </a:solidFill>
                <a:latin typeface="Calibri" pitchFamily="34" charset="0"/>
                <a:ea typeface="Calibri" pitchFamily="34" charset="-122"/>
                <a:cs typeface="Calibri" pitchFamily="34" charset="-120"/>
              </a:rPr>
              <a:t>Staff</a:t>
            </a:r>
            <a:endParaRPr lang="en-US" sz="900" dirty="0"/>
          </a:p>
          <a:p>
            <a:pPr algn="ctr" indent="0" marL="0">
              <a:lnSpc>
                <a:spcPct val="100000"/>
              </a:lnSpc>
              <a:buNone/>
            </a:pPr>
            <a:r>
              <a:rPr lang="en-US" sz="900" dirty="0">
                <a:solidFill>
                  <a:srgbClr val="1A2433"/>
                </a:solidFill>
                <a:latin typeface="Calibri" pitchFamily="34" charset="0"/>
                <a:ea typeface="Calibri" pitchFamily="34" charset="-122"/>
                <a:cs typeface="Calibri" pitchFamily="34" charset="-120"/>
              </a:rPr>
              <a:t>uploads</a:t>
            </a:r>
            <a:endParaRPr lang="en-US" sz="900" dirty="0"/>
          </a:p>
        </p:txBody>
      </p:sp>
      <p:sp>
        <p:nvSpPr>
          <p:cNvPr id="5" name="Shape 3"/>
          <p:cNvSpPr/>
          <p:nvPr/>
        </p:nvSpPr>
        <p:spPr>
          <a:xfrm>
            <a:off x="1914100" y="1179576"/>
            <a:ext cx="256032" cy="0"/>
          </a:xfrm>
          <a:prstGeom prst="line">
            <a:avLst/>
          </a:prstGeom>
          <a:noFill/>
          <a:ln w="12700">
            <a:solidFill>
              <a:srgbClr val="002452"/>
            </a:solidFill>
            <a:prstDash val="solid"/>
            <a:tailEnd type="triangle"/>
          </a:ln>
        </p:spPr>
        <p:txBody>
          <a:bodyPr/>
          <a:p/>
        </p:txBody>
      </p:sp>
      <p:sp>
        <p:nvSpPr>
          <p:cNvPr id="6" name="Shape 4"/>
          <p:cNvSpPr/>
          <p:nvPr/>
        </p:nvSpPr>
        <p:spPr>
          <a:xfrm>
            <a:off x="2170132" y="896112"/>
            <a:ext cx="1365460" cy="566928"/>
          </a:xfrm>
          <a:prstGeom prst="rect">
            <a:avLst/>
          </a:prstGeom>
          <a:solidFill>
            <a:srgbClr val="F7F9FC"/>
          </a:solidFill>
          <a:ln w="12700">
            <a:solidFill>
              <a:srgbClr val="E3E8EF"/>
            </a:solidFill>
            <a:prstDash val="solid"/>
          </a:ln>
        </p:spPr>
        <p:txBody>
          <a:bodyPr/>
          <a:p/>
        </p:txBody>
      </p:sp>
      <p:sp>
        <p:nvSpPr>
          <p:cNvPr id="7" name="Text 5"/>
          <p:cNvSpPr/>
          <p:nvPr/>
        </p:nvSpPr>
        <p:spPr>
          <a:xfrm>
            <a:off x="2206708" y="896112"/>
            <a:ext cx="1292308" cy="566928"/>
          </a:xfrm>
          <a:prstGeom prst="rect">
            <a:avLst/>
          </a:prstGeom>
          <a:noFill/>
          <a:ln/>
        </p:spPr>
        <p:txBody>
          <a:bodyPr wrap="square" lIns="0" tIns="0" rIns="0" bIns="0" rtlCol="0" anchor="ctr"/>
          <a:lstStyle/>
          <a:p>
            <a:pPr algn="ctr" indent="0" marL="0">
              <a:lnSpc>
                <a:spcPct val="100000"/>
              </a:lnSpc>
              <a:buNone/>
            </a:pPr>
            <a:r>
              <a:rPr lang="en-US" sz="900" dirty="0">
                <a:solidFill>
                  <a:srgbClr val="1A2433"/>
                </a:solidFill>
                <a:latin typeface="Calibri" pitchFamily="34" charset="0"/>
                <a:ea typeface="Calibri" pitchFamily="34" charset="-122"/>
                <a:cs typeface="Calibri" pitchFamily="34" charset="-120"/>
              </a:rPr>
              <a:t>System extracts</a:t>
            </a:r>
            <a:endParaRPr lang="en-US" sz="900" dirty="0"/>
          </a:p>
          <a:p>
            <a:pPr algn="ctr" indent="0" marL="0">
              <a:lnSpc>
                <a:spcPct val="100000"/>
              </a:lnSpc>
              <a:buNone/>
            </a:pPr>
            <a:r>
              <a:rPr lang="en-US" sz="900" dirty="0">
                <a:solidFill>
                  <a:srgbClr val="1A2433"/>
                </a:solidFill>
                <a:latin typeface="Calibri" pitchFamily="34" charset="0"/>
                <a:ea typeface="Calibri" pitchFamily="34" charset="-122"/>
                <a:cs typeface="Calibri" pitchFamily="34" charset="-120"/>
              </a:rPr>
              <a:t>and validates</a:t>
            </a:r>
            <a:endParaRPr lang="en-US" sz="900" dirty="0"/>
          </a:p>
        </p:txBody>
      </p:sp>
      <p:sp>
        <p:nvSpPr>
          <p:cNvPr id="8" name="Shape 6"/>
          <p:cNvSpPr/>
          <p:nvPr/>
        </p:nvSpPr>
        <p:spPr>
          <a:xfrm>
            <a:off x="3535593" y="1179576"/>
            <a:ext cx="256032" cy="0"/>
          </a:xfrm>
          <a:prstGeom prst="line">
            <a:avLst/>
          </a:prstGeom>
          <a:noFill/>
          <a:ln w="12700">
            <a:solidFill>
              <a:srgbClr val="002452"/>
            </a:solidFill>
            <a:prstDash val="solid"/>
            <a:tailEnd type="triangle"/>
          </a:ln>
        </p:spPr>
        <p:txBody>
          <a:bodyPr/>
          <a:p/>
        </p:txBody>
      </p:sp>
      <p:sp>
        <p:nvSpPr>
          <p:cNvPr id="9" name="Shape 7"/>
          <p:cNvSpPr/>
          <p:nvPr/>
        </p:nvSpPr>
        <p:spPr>
          <a:xfrm>
            <a:off x="3791625" y="896112"/>
            <a:ext cx="1365460" cy="566928"/>
          </a:xfrm>
          <a:prstGeom prst="rect">
            <a:avLst/>
          </a:prstGeom>
          <a:solidFill>
            <a:srgbClr val="F7F9FC"/>
          </a:solidFill>
          <a:ln w="12700">
            <a:solidFill>
              <a:srgbClr val="E3E8EF"/>
            </a:solidFill>
            <a:prstDash val="solid"/>
          </a:ln>
        </p:spPr>
        <p:txBody>
          <a:bodyPr/>
          <a:p/>
        </p:txBody>
      </p:sp>
      <p:sp>
        <p:nvSpPr>
          <p:cNvPr id="10" name="Text 8"/>
          <p:cNvSpPr/>
          <p:nvPr/>
        </p:nvSpPr>
        <p:spPr>
          <a:xfrm>
            <a:off x="3828201" y="896112"/>
            <a:ext cx="1292308" cy="566928"/>
          </a:xfrm>
          <a:prstGeom prst="rect">
            <a:avLst/>
          </a:prstGeom>
          <a:noFill/>
          <a:ln/>
        </p:spPr>
        <p:txBody>
          <a:bodyPr wrap="square" lIns="0" tIns="0" rIns="0" bIns="0" rtlCol="0" anchor="ctr"/>
          <a:lstStyle/>
          <a:p>
            <a:pPr algn="ctr" indent="0" marL="0">
              <a:lnSpc>
                <a:spcPct val="100000"/>
              </a:lnSpc>
              <a:buNone/>
            </a:pPr>
            <a:r>
              <a:rPr lang="en-US" sz="900" dirty="0">
                <a:solidFill>
                  <a:srgbClr val="1A2433"/>
                </a:solidFill>
                <a:latin typeface="Calibri" pitchFamily="34" charset="0"/>
                <a:ea typeface="Calibri" pitchFamily="34" charset="-122"/>
                <a:cs typeface="Calibri" pitchFamily="34" charset="-120"/>
              </a:rPr>
              <a:t>Finance corrects</a:t>
            </a:r>
            <a:endParaRPr lang="en-US" sz="900" dirty="0"/>
          </a:p>
          <a:p>
            <a:pPr algn="ctr" indent="0" marL="0">
              <a:lnSpc>
                <a:spcPct val="100000"/>
              </a:lnSpc>
              <a:buNone/>
            </a:pPr>
            <a:r>
              <a:rPr lang="en-US" sz="900" dirty="0">
                <a:solidFill>
                  <a:srgbClr val="1A2433"/>
                </a:solidFill>
                <a:latin typeface="Calibri" pitchFamily="34" charset="0"/>
                <a:ea typeface="Calibri" pitchFamily="34" charset="-122"/>
                <a:cs typeface="Calibri" pitchFamily="34" charset="-120"/>
              </a:rPr>
              <a:t>a flagged document</a:t>
            </a:r>
            <a:endParaRPr lang="en-US" sz="900" dirty="0"/>
          </a:p>
        </p:txBody>
      </p:sp>
      <p:sp>
        <p:nvSpPr>
          <p:cNvPr id="11" name="Shape 9"/>
          <p:cNvSpPr/>
          <p:nvPr/>
        </p:nvSpPr>
        <p:spPr>
          <a:xfrm>
            <a:off x="5157085" y="1179576"/>
            <a:ext cx="256032" cy="0"/>
          </a:xfrm>
          <a:prstGeom prst="line">
            <a:avLst/>
          </a:prstGeom>
          <a:noFill/>
          <a:ln w="12700">
            <a:solidFill>
              <a:srgbClr val="002452"/>
            </a:solidFill>
            <a:prstDash val="solid"/>
            <a:tailEnd type="triangle"/>
          </a:ln>
        </p:spPr>
        <p:txBody>
          <a:bodyPr/>
          <a:p/>
        </p:txBody>
      </p:sp>
      <p:sp>
        <p:nvSpPr>
          <p:cNvPr id="12" name="Shape 10"/>
          <p:cNvSpPr/>
          <p:nvPr/>
        </p:nvSpPr>
        <p:spPr>
          <a:xfrm>
            <a:off x="5413117" y="896112"/>
            <a:ext cx="1365460" cy="566928"/>
          </a:xfrm>
          <a:prstGeom prst="rect">
            <a:avLst/>
          </a:prstGeom>
          <a:solidFill>
            <a:srgbClr val="F7F9FC"/>
          </a:solidFill>
          <a:ln w="12700">
            <a:solidFill>
              <a:srgbClr val="E3E8EF"/>
            </a:solidFill>
            <a:prstDash val="solid"/>
          </a:ln>
        </p:spPr>
        <p:txBody>
          <a:bodyPr/>
          <a:p/>
        </p:txBody>
      </p:sp>
      <p:sp>
        <p:nvSpPr>
          <p:cNvPr id="13" name="Text 11"/>
          <p:cNvSpPr/>
          <p:nvPr/>
        </p:nvSpPr>
        <p:spPr>
          <a:xfrm>
            <a:off x="5449693" y="896112"/>
            <a:ext cx="1292308" cy="566928"/>
          </a:xfrm>
          <a:prstGeom prst="rect">
            <a:avLst/>
          </a:prstGeom>
          <a:noFill/>
          <a:ln/>
        </p:spPr>
        <p:txBody>
          <a:bodyPr wrap="square" lIns="0" tIns="0" rIns="0" bIns="0" rtlCol="0" anchor="ctr"/>
          <a:lstStyle/>
          <a:p>
            <a:pPr algn="ctr" indent="0" marL="0">
              <a:lnSpc>
                <a:spcPct val="100000"/>
              </a:lnSpc>
              <a:buNone/>
            </a:pPr>
            <a:r>
              <a:rPr lang="en-US" sz="900" dirty="0">
                <a:solidFill>
                  <a:srgbClr val="1A2433"/>
                </a:solidFill>
                <a:latin typeface="Calibri" pitchFamily="34" charset="0"/>
                <a:ea typeface="Calibri" pitchFamily="34" charset="-122"/>
                <a:cs typeface="Calibri" pitchFamily="34" charset="-120"/>
              </a:rPr>
              <a:t>Admin approves</a:t>
            </a:r>
            <a:endParaRPr lang="en-US" sz="900" dirty="0"/>
          </a:p>
          <a:p>
            <a:pPr algn="ctr" indent="0" marL="0">
              <a:lnSpc>
                <a:spcPct val="100000"/>
              </a:lnSpc>
              <a:buNone/>
            </a:pPr>
            <a:r>
              <a:rPr lang="en-US" sz="900" dirty="0">
                <a:solidFill>
                  <a:srgbClr val="1A2433"/>
                </a:solidFill>
                <a:latin typeface="Calibri" pitchFamily="34" charset="0"/>
                <a:ea typeface="Calibri" pitchFamily="34" charset="-122"/>
                <a:cs typeface="Calibri" pitchFamily="34" charset="-120"/>
              </a:rPr>
              <a:t>and exports</a:t>
            </a:r>
            <a:endParaRPr lang="en-US" sz="900" dirty="0"/>
          </a:p>
        </p:txBody>
      </p:sp>
      <p:sp>
        <p:nvSpPr>
          <p:cNvPr id="14" name="Shape 12"/>
          <p:cNvSpPr/>
          <p:nvPr/>
        </p:nvSpPr>
        <p:spPr>
          <a:xfrm>
            <a:off x="6778578" y="1179576"/>
            <a:ext cx="256032" cy="0"/>
          </a:xfrm>
          <a:prstGeom prst="line">
            <a:avLst/>
          </a:prstGeom>
          <a:noFill/>
          <a:ln w="12700">
            <a:solidFill>
              <a:srgbClr val="002452"/>
            </a:solidFill>
            <a:prstDash val="solid"/>
            <a:tailEnd type="triangle"/>
          </a:ln>
        </p:spPr>
        <p:txBody>
          <a:bodyPr/>
          <a:p/>
        </p:txBody>
      </p:sp>
      <p:sp>
        <p:nvSpPr>
          <p:cNvPr id="15" name="Shape 13"/>
          <p:cNvSpPr/>
          <p:nvPr/>
        </p:nvSpPr>
        <p:spPr>
          <a:xfrm>
            <a:off x="7034610" y="896112"/>
            <a:ext cx="1365460" cy="566928"/>
          </a:xfrm>
          <a:prstGeom prst="rect">
            <a:avLst/>
          </a:prstGeom>
          <a:solidFill>
            <a:srgbClr val="F7F9FC"/>
          </a:solidFill>
          <a:ln w="12700">
            <a:solidFill>
              <a:srgbClr val="E3E8EF"/>
            </a:solidFill>
            <a:prstDash val="solid"/>
          </a:ln>
        </p:spPr>
        <p:txBody>
          <a:bodyPr/>
          <a:p/>
        </p:txBody>
      </p:sp>
      <p:sp>
        <p:nvSpPr>
          <p:cNvPr id="16" name="Text 14"/>
          <p:cNvSpPr/>
          <p:nvPr/>
        </p:nvSpPr>
        <p:spPr>
          <a:xfrm>
            <a:off x="7071186" y="896112"/>
            <a:ext cx="1292308" cy="566928"/>
          </a:xfrm>
          <a:prstGeom prst="rect">
            <a:avLst/>
          </a:prstGeom>
          <a:noFill/>
          <a:ln/>
        </p:spPr>
        <p:txBody>
          <a:bodyPr wrap="square" lIns="0" tIns="0" rIns="0" bIns="0" rtlCol="0" anchor="ctr"/>
          <a:lstStyle/>
          <a:p>
            <a:pPr algn="ctr" indent="0" marL="0">
              <a:lnSpc>
                <a:spcPct val="100000"/>
              </a:lnSpc>
              <a:buNone/>
            </a:pPr>
            <a:r>
              <a:rPr lang="en-US" sz="900" dirty="0">
                <a:solidFill>
                  <a:srgbClr val="1A2433"/>
                </a:solidFill>
                <a:latin typeface="Calibri" pitchFamily="34" charset="0"/>
                <a:ea typeface="Calibri" pitchFamily="34" charset="-122"/>
                <a:cs typeface="Calibri" pitchFamily="34" charset="-120"/>
              </a:rPr>
              <a:t>Document enters</a:t>
            </a:r>
            <a:endParaRPr lang="en-US" sz="900" dirty="0"/>
          </a:p>
          <a:p>
            <a:pPr algn="ctr" indent="0" marL="0">
              <a:lnSpc>
                <a:spcPct val="100000"/>
              </a:lnSpc>
              <a:buNone/>
            </a:pPr>
            <a:r>
              <a:rPr lang="en-US" sz="900" dirty="0">
                <a:solidFill>
                  <a:srgbClr val="1A2433"/>
                </a:solidFill>
                <a:latin typeface="Calibri" pitchFamily="34" charset="0"/>
                <a:ea typeface="Calibri" pitchFamily="34" charset="-122"/>
                <a:cs typeface="Calibri" pitchFamily="34" charset="-120"/>
              </a:rPr>
              <a:t>the Archive</a:t>
            </a:r>
            <a:endParaRPr lang="en-US" sz="900" dirty="0"/>
          </a:p>
        </p:txBody>
      </p:sp>
      <p:sp>
        <p:nvSpPr>
          <p:cNvPr id="17" name="Shape 15"/>
          <p:cNvSpPr/>
          <p:nvPr/>
        </p:nvSpPr>
        <p:spPr>
          <a:xfrm>
            <a:off x="8400070" y="1179576"/>
            <a:ext cx="256032" cy="0"/>
          </a:xfrm>
          <a:prstGeom prst="line">
            <a:avLst/>
          </a:prstGeom>
          <a:noFill/>
          <a:ln w="12700">
            <a:solidFill>
              <a:srgbClr val="002452"/>
            </a:solidFill>
            <a:prstDash val="solid"/>
            <a:tailEnd type="triangle"/>
          </a:ln>
        </p:spPr>
        <p:txBody>
          <a:bodyPr/>
          <a:p/>
        </p:txBody>
      </p:sp>
      <p:sp>
        <p:nvSpPr>
          <p:cNvPr id="18" name="Shape 16"/>
          <p:cNvSpPr/>
          <p:nvPr/>
        </p:nvSpPr>
        <p:spPr>
          <a:xfrm>
            <a:off x="8656102" y="896112"/>
            <a:ext cx="1365460" cy="566928"/>
          </a:xfrm>
          <a:prstGeom prst="rect">
            <a:avLst/>
          </a:prstGeom>
          <a:solidFill>
            <a:srgbClr val="F7F9FC"/>
          </a:solidFill>
          <a:ln w="12700">
            <a:solidFill>
              <a:srgbClr val="E3E8EF"/>
            </a:solidFill>
            <a:prstDash val="solid"/>
          </a:ln>
        </p:spPr>
        <p:txBody>
          <a:bodyPr/>
          <a:p/>
        </p:txBody>
      </p:sp>
      <p:sp>
        <p:nvSpPr>
          <p:cNvPr id="19" name="Text 17"/>
          <p:cNvSpPr/>
          <p:nvPr/>
        </p:nvSpPr>
        <p:spPr>
          <a:xfrm>
            <a:off x="8692678" y="896112"/>
            <a:ext cx="1292308" cy="566928"/>
          </a:xfrm>
          <a:prstGeom prst="rect">
            <a:avLst/>
          </a:prstGeom>
          <a:noFill/>
          <a:ln/>
        </p:spPr>
        <p:txBody>
          <a:bodyPr wrap="square" lIns="0" tIns="0" rIns="0" bIns="0" rtlCol="0" anchor="ctr"/>
          <a:lstStyle/>
          <a:p>
            <a:pPr algn="ctr" indent="0" marL="0">
              <a:lnSpc>
                <a:spcPct val="100000"/>
              </a:lnSpc>
              <a:buNone/>
            </a:pPr>
            <a:r>
              <a:rPr lang="en-US" sz="900" dirty="0">
                <a:solidFill>
                  <a:srgbClr val="1A2433"/>
                </a:solidFill>
                <a:latin typeface="Calibri" pitchFamily="34" charset="0"/>
                <a:ea typeface="Calibri" pitchFamily="34" charset="-122"/>
                <a:cs typeface="Calibri" pitchFamily="34" charset="-120"/>
              </a:rPr>
              <a:t>Period export,</a:t>
            </a:r>
            <a:endParaRPr lang="en-US" sz="900" dirty="0"/>
          </a:p>
          <a:p>
            <a:pPr algn="ctr" indent="0" marL="0">
              <a:lnSpc>
                <a:spcPct val="100000"/>
              </a:lnSpc>
              <a:buNone/>
            </a:pPr>
            <a:r>
              <a:rPr lang="en-US" sz="900" dirty="0">
                <a:solidFill>
                  <a:srgbClr val="1A2433"/>
                </a:solidFill>
                <a:latin typeface="Calibri" pitchFamily="34" charset="0"/>
                <a:ea typeface="Calibri" pitchFamily="34" charset="-122"/>
                <a:cs typeface="Calibri" pitchFamily="34" charset="-120"/>
              </a:rPr>
              <a:t>5 formats</a:t>
            </a:r>
            <a:endParaRPr lang="en-US" sz="900" dirty="0"/>
          </a:p>
        </p:txBody>
      </p:sp>
      <p:sp>
        <p:nvSpPr>
          <p:cNvPr id="20" name="Shape 18"/>
          <p:cNvSpPr/>
          <p:nvPr/>
        </p:nvSpPr>
        <p:spPr>
          <a:xfrm>
            <a:off x="10021563" y="1179576"/>
            <a:ext cx="256032" cy="0"/>
          </a:xfrm>
          <a:prstGeom prst="line">
            <a:avLst/>
          </a:prstGeom>
          <a:noFill/>
          <a:ln w="12700">
            <a:solidFill>
              <a:srgbClr val="002452"/>
            </a:solidFill>
            <a:prstDash val="solid"/>
            <a:tailEnd type="triangle"/>
          </a:ln>
        </p:spPr>
        <p:txBody>
          <a:bodyPr/>
          <a:p/>
        </p:txBody>
      </p:sp>
      <p:sp>
        <p:nvSpPr>
          <p:cNvPr id="21" name="Shape 19"/>
          <p:cNvSpPr/>
          <p:nvPr/>
        </p:nvSpPr>
        <p:spPr>
          <a:xfrm>
            <a:off x="10277595" y="896112"/>
            <a:ext cx="1365460" cy="566928"/>
          </a:xfrm>
          <a:prstGeom prst="rect">
            <a:avLst/>
          </a:prstGeom>
          <a:solidFill>
            <a:srgbClr val="F7F9FC"/>
          </a:solidFill>
          <a:ln w="12700">
            <a:solidFill>
              <a:srgbClr val="E3E8EF"/>
            </a:solidFill>
            <a:prstDash val="solid"/>
          </a:ln>
        </p:spPr>
        <p:txBody>
          <a:bodyPr/>
          <a:p/>
        </p:txBody>
      </p:sp>
      <p:sp>
        <p:nvSpPr>
          <p:cNvPr id="22" name="Text 20"/>
          <p:cNvSpPr/>
          <p:nvPr/>
        </p:nvSpPr>
        <p:spPr>
          <a:xfrm>
            <a:off x="10314171" y="896112"/>
            <a:ext cx="1292308" cy="566928"/>
          </a:xfrm>
          <a:prstGeom prst="rect">
            <a:avLst/>
          </a:prstGeom>
          <a:noFill/>
          <a:ln/>
        </p:spPr>
        <p:txBody>
          <a:bodyPr wrap="square" lIns="0" tIns="0" rIns="0" bIns="0" rtlCol="0" anchor="ctr"/>
          <a:lstStyle/>
          <a:p>
            <a:pPr algn="ctr" indent="0" marL="0">
              <a:lnSpc>
                <a:spcPct val="100000"/>
              </a:lnSpc>
              <a:buNone/>
            </a:pPr>
            <a:r>
              <a:rPr lang="en-US" sz="900" dirty="0">
                <a:solidFill>
                  <a:srgbClr val="1A2433"/>
                </a:solidFill>
                <a:latin typeface="Calibri" pitchFamily="34" charset="0"/>
                <a:ea typeface="Calibri" pitchFamily="34" charset="-122"/>
                <a:cs typeface="Calibri" pitchFamily="34" charset="-120"/>
              </a:rPr>
              <a:t>Every action hits</a:t>
            </a:r>
            <a:endParaRPr lang="en-US" sz="900" dirty="0"/>
          </a:p>
          <a:p>
            <a:pPr algn="ctr" indent="0" marL="0">
              <a:lnSpc>
                <a:spcPct val="100000"/>
              </a:lnSpc>
              <a:buNone/>
            </a:pPr>
            <a:r>
              <a:rPr lang="en-US" sz="900" dirty="0">
                <a:solidFill>
                  <a:srgbClr val="1A2433"/>
                </a:solidFill>
                <a:latin typeface="Calibri" pitchFamily="34" charset="0"/>
                <a:ea typeface="Calibri" pitchFamily="34" charset="-122"/>
                <a:cs typeface="Calibri" pitchFamily="34" charset="-120"/>
              </a:rPr>
              <a:t>the Audit Log</a:t>
            </a:r>
            <a:endParaRPr lang="en-US" sz="900" dirty="0"/>
          </a:p>
        </p:txBody>
      </p:sp>
      <p:sp>
        <p:nvSpPr>
          <p:cNvPr id="23" name="Text 21"/>
          <p:cNvSpPr/>
          <p:nvPr/>
        </p:nvSpPr>
        <p:spPr>
          <a:xfrm>
            <a:off x="548640" y="1572768"/>
            <a:ext cx="11094415" cy="384048"/>
          </a:xfrm>
          <a:prstGeom prst="rect">
            <a:avLst/>
          </a:prstGeom>
          <a:noFill/>
          <a:ln/>
        </p:spPr>
        <p:txBody>
          <a:bodyPr wrap="square" lIns="0" tIns="0" rIns="0" bIns="0" rtlCol="0" anchor="ctr"/>
          <a:lstStyle/>
          <a:p>
            <a:pPr algn="l" indent="0" marL="0">
              <a:buNone/>
            </a:pPr>
            <a:r>
              <a:rPr lang="en-US" sz="1050" i="1" dirty="0">
                <a:solidFill>
                  <a:srgbClr val="44474F"/>
                </a:solidFill>
                <a:latin typeface="Calibri" pitchFamily="34" charset="0"/>
                <a:ea typeface="Calibri" pitchFamily="34" charset="-122"/>
                <a:cs typeface="Calibri" pitchFamily="34" charset="-120"/>
              </a:rPr>
              <a:t>Status moves through extracted, in_review or flagged. Finance has no Approve button at all, the approval time is stamped when admin approves, and the Archive groups documents by their approval date.</a:t>
            </a:r>
            <a:endParaRPr lang="en-US" sz="1050" dirty="0"/>
          </a:p>
        </p:txBody>
      </p:sp>
      <p:pic>
        <p:nvPicPr>
          <p:cNvPr id="24" name="Image 0" descr="/sessions/focused-kind-lovelace/mnt/outputs/assets/shot_admin_review_detail.png">    </p:cNvPr>
          <p:cNvPicPr>
            <a:picLocks noChangeAspect="1"/>
          </p:cNvPicPr>
          <p:nvPr/>
        </p:nvPicPr>
        <p:blipFill>
          <a:blip r:embed="rId1"/>
          <a:stretch>
            <a:fillRect/>
          </a:stretch>
        </p:blipFill>
        <p:spPr>
          <a:xfrm>
            <a:off x="985906" y="2331720"/>
            <a:ext cx="5598099" cy="3246120"/>
          </a:xfrm>
          <a:prstGeom prst="rect">
            <a:avLst/>
          </a:prstGeom>
        </p:spPr>
      </p:pic>
      <p:sp>
        <p:nvSpPr>
          <p:cNvPr id="25" name="Shape 22"/>
          <p:cNvSpPr/>
          <p:nvPr/>
        </p:nvSpPr>
        <p:spPr>
          <a:xfrm>
            <a:off x="985906" y="2331720"/>
            <a:ext cx="5598099" cy="3246120"/>
          </a:xfrm>
          <a:prstGeom prst="rect">
            <a:avLst/>
          </a:prstGeom>
          <a:ln w="12700">
            <a:solidFill>
              <a:srgbClr val="E3E8EF"/>
            </a:solidFill>
            <a:prstDash val="solid"/>
          </a:ln>
        </p:spPr>
        <p:txBody>
          <a:bodyPr/>
          <a:p/>
        </p:txBody>
      </p:sp>
      <p:sp>
        <p:nvSpPr>
          <p:cNvPr id="26" name="Text 23"/>
          <p:cNvSpPr/>
          <p:nvPr/>
        </p:nvSpPr>
        <p:spPr>
          <a:xfrm>
            <a:off x="985906" y="5632704"/>
            <a:ext cx="5598099" cy="274320"/>
          </a:xfrm>
          <a:prstGeom prst="rect">
            <a:avLst/>
          </a:prstGeom>
          <a:noFill/>
          <a:ln/>
        </p:spPr>
        <p:txBody>
          <a:bodyPr wrap="square" lIns="0" tIns="0" rIns="0" bIns="0" rtlCol="0" anchor="ctr"/>
          <a:lstStyle/>
          <a:p>
            <a:pPr algn="l" indent="0" marL="0">
              <a:buNone/>
            </a:pPr>
            <a:r>
              <a:rPr lang="en-US" sz="1050" b="1" dirty="0">
                <a:solidFill>
                  <a:srgbClr val="002452"/>
                </a:solidFill>
                <a:latin typeface="Calibri" pitchFamily="34" charset="0"/>
                <a:ea typeface="Calibri" pitchFamily="34" charset="-122"/>
                <a:cs typeface="Calibri" pitchFamily="34" charset="-120"/>
              </a:rPr>
              <a:t>Admin: full review detail, decision controls available</a:t>
            </a:r>
            <a:endParaRPr lang="en-US" sz="1050" dirty="0"/>
          </a:p>
        </p:txBody>
      </p:sp>
      <p:pic>
        <p:nvPicPr>
          <p:cNvPr id="27" name="Image 1" descr="/sessions/focused-kind-lovelace/mnt/outputs/assets/shot_user_denied.png">    </p:cNvPr>
          <p:cNvPicPr>
            <a:picLocks noChangeAspect="1"/>
          </p:cNvPicPr>
          <p:nvPr/>
        </p:nvPicPr>
        <p:blipFill>
          <a:blip r:embed="rId2"/>
          <a:stretch>
            <a:fillRect/>
          </a:stretch>
        </p:blipFill>
        <p:spPr>
          <a:xfrm>
            <a:off x="6949765" y="2331720"/>
            <a:ext cx="4256024" cy="3246120"/>
          </a:xfrm>
          <a:prstGeom prst="rect">
            <a:avLst/>
          </a:prstGeom>
        </p:spPr>
      </p:pic>
      <p:sp>
        <p:nvSpPr>
          <p:cNvPr id="28" name="Shape 24"/>
          <p:cNvSpPr/>
          <p:nvPr/>
        </p:nvSpPr>
        <p:spPr>
          <a:xfrm>
            <a:off x="6949765" y="2331720"/>
            <a:ext cx="4256024" cy="3246120"/>
          </a:xfrm>
          <a:prstGeom prst="rect">
            <a:avLst/>
          </a:prstGeom>
          <a:ln w="12700">
            <a:solidFill>
              <a:srgbClr val="E3E8EF"/>
            </a:solidFill>
            <a:prstDash val="solid"/>
          </a:ln>
        </p:spPr>
        <p:txBody>
          <a:bodyPr/>
          <a:p/>
        </p:txBody>
      </p:sp>
      <p:sp>
        <p:nvSpPr>
          <p:cNvPr id="29" name="Text 25"/>
          <p:cNvSpPr/>
          <p:nvPr/>
        </p:nvSpPr>
        <p:spPr>
          <a:xfrm>
            <a:off x="6949765" y="5632704"/>
            <a:ext cx="4256024" cy="274320"/>
          </a:xfrm>
          <a:prstGeom prst="rect">
            <a:avLst/>
          </a:prstGeom>
          <a:noFill/>
          <a:ln/>
        </p:spPr>
        <p:txBody>
          <a:bodyPr wrap="square" lIns="0" tIns="0" rIns="0" bIns="0" rtlCol="0" anchor="ctr"/>
          <a:lstStyle/>
          <a:p>
            <a:pPr algn="l" indent="0" marL="0">
              <a:buNone/>
            </a:pPr>
            <a:r>
              <a:rPr lang="en-US" sz="1050" b="1" dirty="0">
                <a:solidFill>
                  <a:srgbClr val="002452"/>
                </a:solidFill>
                <a:latin typeface="Calibri" pitchFamily="34" charset="0"/>
                <a:ea typeface="Calibri" pitchFamily="34" charset="-122"/>
                <a:cs typeface="Calibri" pitchFamily="34" charset="-120"/>
              </a:rPr>
              <a:t>Staff: refused the page entirely</a:t>
            </a:r>
            <a:endParaRPr lang="en-US" sz="1050" dirty="0"/>
          </a:p>
        </p:txBody>
      </p:sp>
      <p:sp>
        <p:nvSpPr>
          <p:cNvPr id="30" name="Text 26"/>
          <p:cNvSpPr/>
          <p:nvPr/>
        </p:nvSpPr>
        <p:spPr>
          <a:xfrm>
            <a:off x="548640" y="6309360"/>
            <a:ext cx="11094415" cy="365760"/>
          </a:xfrm>
          <a:prstGeom prst="rect">
            <a:avLst/>
          </a:prstGeom>
          <a:noFill/>
          <a:ln/>
        </p:spPr>
        <p:txBody>
          <a:bodyPr wrap="square" lIns="0" tIns="0" rIns="0" bIns="0" rtlCol="0" anchor="ctr"/>
          <a:lstStyle/>
          <a:p>
            <a:pPr algn="l" indent="0" marL="0">
              <a:buNone/>
            </a:pPr>
            <a:r>
              <a:rPr lang="en-US" sz="1250" b="1" dirty="0">
                <a:solidFill>
                  <a:srgbClr val="002452"/>
                </a:solidFill>
                <a:latin typeface="Calibri" pitchFamily="34" charset="0"/>
                <a:ea typeface="Calibri" pitchFamily="34" charset="-122"/>
                <a:cs typeface="Calibri" pitchFamily="34" charset="-120"/>
              </a:rPr>
              <a:t>This separation is what ensures the person who enters the data is not the person who releases it.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17320" cy="310896"/>
          </a:xfrm>
          <a:prstGeom prst="rect">
            <a:avLst/>
          </a:prstGeom>
          <a:solidFill>
            <a:srgbClr val="F7F9FC"/>
          </a:solidFill>
          <a:ln w="12700">
            <a:solidFill>
              <a:srgbClr val="E3E8EF"/>
            </a:solidFill>
            <a:prstDash val="solid"/>
          </a:ln>
        </p:spPr>
        <p:txBody>
          <a:bodyPr/>
          <a:p/>
        </p:txBody>
      </p:sp>
      <p:sp>
        <p:nvSpPr>
          <p:cNvPr id="3" name="Text 1"/>
          <p:cNvSpPr/>
          <p:nvPr/>
        </p:nvSpPr>
        <p:spPr>
          <a:xfrm>
            <a:off x="548640" y="384048"/>
            <a:ext cx="1417320" cy="310896"/>
          </a:xfrm>
          <a:prstGeom prst="rect">
            <a:avLst/>
          </a:prstGeom>
          <a:noFill/>
          <a:ln/>
        </p:spPr>
        <p:txBody>
          <a:bodyPr wrap="square" lIns="0" tIns="0" rIns="0" bIns="0" rtlCol="0" anchor="ctr"/>
          <a:lstStyle/>
          <a:p>
            <a:pPr algn="ctr" indent="0" marL="0">
              <a:buNone/>
            </a:pPr>
            <a:r>
              <a:rPr lang="en-US" sz="1100" b="1" dirty="0">
                <a:solidFill>
                  <a:srgbClr val="B45309"/>
                </a:solidFill>
                <a:latin typeface="Calibri" pitchFamily="34" charset="0"/>
                <a:ea typeface="Calibri" pitchFamily="34" charset="-122"/>
                <a:cs typeface="Calibri" pitchFamily="34" charset="-120"/>
              </a:rPr>
              <a:t>BONUS</a:t>
            </a:r>
            <a:endParaRPr lang="en-US" sz="1100" dirty="0"/>
          </a:p>
        </p:txBody>
      </p:sp>
      <p:sp>
        <p:nvSpPr>
          <p:cNvPr id="4" name="Text 2"/>
          <p:cNvSpPr/>
          <p:nvPr/>
        </p:nvSpPr>
        <p:spPr>
          <a:xfrm>
            <a:off x="2103120" y="384048"/>
            <a:ext cx="3657600" cy="310896"/>
          </a:xfrm>
          <a:prstGeom prst="rect">
            <a:avLst/>
          </a:prstGeom>
          <a:noFill/>
          <a:ln/>
        </p:spPr>
        <p:txBody>
          <a:bodyPr wrap="square" lIns="0" tIns="0" rIns="0" bIns="0" rtlCol="0" anchor="ctr"/>
          <a:lstStyle/>
          <a:p>
            <a:pPr algn="l" indent="0" marL="0">
              <a:buNone/>
            </a:pPr>
            <a:r>
              <a:rPr lang="en-US" sz="1100" i="1" dirty="0">
                <a:solidFill>
                  <a:srgbClr val="44474F"/>
                </a:solidFill>
                <a:latin typeface="Calibri" pitchFamily="34" charset="0"/>
                <a:ea typeface="Calibri" pitchFamily="34" charset="-122"/>
                <a:cs typeface="Calibri" pitchFamily="34" charset="-120"/>
              </a:rPr>
              <a:t>outside the six deliverables</a:t>
            </a:r>
            <a:endParaRPr lang="en-US" sz="1100" dirty="0"/>
          </a:p>
        </p:txBody>
      </p:sp>
      <p:sp>
        <p:nvSpPr>
          <p:cNvPr id="5" name="Text 3"/>
          <p:cNvSpPr/>
          <p:nvPr/>
        </p:nvSpPr>
        <p:spPr>
          <a:xfrm>
            <a:off x="548640" y="777240"/>
            <a:ext cx="11094415" cy="594360"/>
          </a:xfrm>
          <a:prstGeom prst="rect">
            <a:avLst/>
          </a:prstGeom>
          <a:noFill/>
          <a:ln/>
        </p:spPr>
        <p:txBody>
          <a:bodyPr wrap="square" lIns="0" tIns="0" rIns="0" bIns="0" rtlCol="0" anchor="t"/>
          <a:lstStyle/>
          <a:p>
            <a:pPr algn="l" indent="0" marL="0">
              <a:buNone/>
            </a:pPr>
            <a:r>
              <a:rPr lang="en-US" sz="3000" b="1" dirty="0">
                <a:solidFill>
                  <a:srgbClr val="002452"/>
                </a:solidFill>
                <a:latin typeface="Calibri" pitchFamily="34" charset="0"/>
                <a:ea typeface="Calibri" pitchFamily="34" charset="-122"/>
                <a:cs typeface="Calibri" pitchFamily="34" charset="-120"/>
              </a:rPr>
              <a:t>The RAG assistant</a:t>
            </a:r>
            <a:endParaRPr lang="en-US" sz="3000" dirty="0"/>
          </a:p>
        </p:txBody>
      </p:sp>
      <p:sp>
        <p:nvSpPr>
          <p:cNvPr id="6" name="Text 4"/>
          <p:cNvSpPr/>
          <p:nvPr/>
        </p:nvSpPr>
        <p:spPr>
          <a:xfrm>
            <a:off x="548640" y="1417320"/>
            <a:ext cx="11094415" cy="548640"/>
          </a:xfrm>
          <a:prstGeom prst="rect">
            <a:avLst/>
          </a:prstGeom>
          <a:noFill/>
          <a:ln/>
        </p:spPr>
        <p:txBody>
          <a:bodyPr wrap="square" lIns="0" tIns="0" rIns="0" bIns="0" rtlCol="0" anchor="ctr"/>
          <a:lstStyle/>
          <a:p>
            <a:pPr algn="l" indent="0" marL="0">
              <a:lnSpc>
                <a:spcPct val="120000"/>
              </a:lnSpc>
              <a:buNone/>
            </a:pPr>
            <a:r>
              <a:rPr lang="en-US" sz="1500" dirty="0">
                <a:solidFill>
                  <a:srgbClr val="1A2433"/>
                </a:solidFill>
                <a:latin typeface="Calibri" pitchFamily="34" charset="0"/>
                <a:ea typeface="Calibri" pitchFamily="34" charset="-122"/>
                <a:cs typeface="Calibri" pitchFamily="34" charset="-120"/>
              </a:rPr>
              <a:t>Ask a question in plain language about the extracted documents and get an answer that cites the documents it came from.</a:t>
            </a:r>
            <a:endParaRPr lang="en-US" sz="1500" dirty="0"/>
          </a:p>
        </p:txBody>
      </p:sp>
      <p:sp>
        <p:nvSpPr>
          <p:cNvPr id="7" name="Shape 5"/>
          <p:cNvSpPr/>
          <p:nvPr/>
        </p:nvSpPr>
        <p:spPr>
          <a:xfrm>
            <a:off x="548640" y="2148840"/>
            <a:ext cx="2554148" cy="1051560"/>
          </a:xfrm>
          <a:prstGeom prst="rect">
            <a:avLst/>
          </a:prstGeom>
          <a:solidFill>
            <a:srgbClr val="F7F9FC"/>
          </a:solidFill>
          <a:ln w="12700">
            <a:solidFill>
              <a:srgbClr val="E3E8EF"/>
            </a:solidFill>
            <a:prstDash val="solid"/>
          </a:ln>
        </p:spPr>
        <p:txBody>
          <a:bodyPr/>
          <a:p/>
        </p:txBody>
      </p:sp>
      <p:sp>
        <p:nvSpPr>
          <p:cNvPr id="8" name="Text 6"/>
          <p:cNvSpPr/>
          <p:nvPr/>
        </p:nvSpPr>
        <p:spPr>
          <a:xfrm>
            <a:off x="621792" y="2148840"/>
            <a:ext cx="2407844" cy="1051560"/>
          </a:xfrm>
          <a:prstGeom prst="rect">
            <a:avLst/>
          </a:prstGeom>
          <a:noFill/>
          <a:ln/>
        </p:spPr>
        <p:txBody>
          <a:bodyPr wrap="square" lIns="0" tIns="0" rIns="0" bIns="0" rtlCol="0" anchor="ctr"/>
          <a:lstStyle/>
          <a:p>
            <a:pPr algn="ctr" indent="0" marL="0">
              <a:lnSpc>
                <a:spcPct val="105000"/>
              </a:lnSpc>
              <a:buNone/>
            </a:pPr>
            <a:r>
              <a:rPr lang="en-US" sz="1050" dirty="0">
                <a:solidFill>
                  <a:srgbClr val="1A2433"/>
                </a:solidFill>
                <a:latin typeface="Calibri" pitchFamily="34" charset="0"/>
                <a:ea typeface="Calibri" pitchFamily="34" charset="-122"/>
                <a:cs typeface="Calibri" pitchFamily="34" charset="-120"/>
              </a:rPr>
              <a:t>A question</a:t>
            </a:r>
            <a:endParaRPr lang="en-US" sz="1050" dirty="0"/>
          </a:p>
          <a:p>
            <a:pPr algn="ctr" indent="0" marL="0">
              <a:lnSpc>
                <a:spcPct val="105000"/>
              </a:lnSpc>
              <a:buNone/>
            </a:pPr>
            <a:r>
              <a:rPr lang="en-US" sz="1050" dirty="0">
                <a:solidFill>
                  <a:srgbClr val="1A2433"/>
                </a:solidFill>
                <a:latin typeface="Calibri" pitchFamily="34" charset="0"/>
                <a:ea typeface="Calibri" pitchFamily="34" charset="-122"/>
                <a:cs typeface="Calibri" pitchFamily="34" charset="-120"/>
              </a:rPr>
              <a:t>arrives</a:t>
            </a:r>
            <a:endParaRPr lang="en-US" sz="1050" dirty="0"/>
          </a:p>
        </p:txBody>
      </p:sp>
      <p:sp>
        <p:nvSpPr>
          <p:cNvPr id="9" name="Shape 7"/>
          <p:cNvSpPr/>
          <p:nvPr/>
        </p:nvSpPr>
        <p:spPr>
          <a:xfrm>
            <a:off x="3102788" y="2674620"/>
            <a:ext cx="292608" cy="0"/>
          </a:xfrm>
          <a:prstGeom prst="line">
            <a:avLst/>
          </a:prstGeom>
          <a:noFill/>
          <a:ln w="12700">
            <a:solidFill>
              <a:srgbClr val="002452"/>
            </a:solidFill>
            <a:prstDash val="solid"/>
            <a:tailEnd type="triangle"/>
          </a:ln>
        </p:spPr>
        <p:txBody>
          <a:bodyPr/>
          <a:p/>
        </p:txBody>
      </p:sp>
      <p:sp>
        <p:nvSpPr>
          <p:cNvPr id="10" name="Shape 8"/>
          <p:cNvSpPr/>
          <p:nvPr/>
        </p:nvSpPr>
        <p:spPr>
          <a:xfrm>
            <a:off x="3395396" y="2148840"/>
            <a:ext cx="2554148" cy="1051560"/>
          </a:xfrm>
          <a:prstGeom prst="rect">
            <a:avLst/>
          </a:prstGeom>
          <a:solidFill>
            <a:srgbClr val="F7F9FC"/>
          </a:solidFill>
          <a:ln w="12700">
            <a:solidFill>
              <a:srgbClr val="E3E8EF"/>
            </a:solidFill>
            <a:prstDash val="solid"/>
          </a:ln>
        </p:spPr>
        <p:txBody>
          <a:bodyPr/>
          <a:p/>
        </p:txBody>
      </p:sp>
      <p:sp>
        <p:nvSpPr>
          <p:cNvPr id="11" name="Text 9"/>
          <p:cNvSpPr/>
          <p:nvPr/>
        </p:nvSpPr>
        <p:spPr>
          <a:xfrm>
            <a:off x="3468548" y="2148840"/>
            <a:ext cx="2407844" cy="1051560"/>
          </a:xfrm>
          <a:prstGeom prst="rect">
            <a:avLst/>
          </a:prstGeom>
          <a:noFill/>
          <a:ln/>
        </p:spPr>
        <p:txBody>
          <a:bodyPr wrap="square" lIns="0" tIns="0" rIns="0" bIns="0" rtlCol="0" anchor="ctr"/>
          <a:lstStyle/>
          <a:p>
            <a:pPr algn="ctr" indent="0" marL="0">
              <a:lnSpc>
                <a:spcPct val="105000"/>
              </a:lnSpc>
              <a:buNone/>
            </a:pPr>
            <a:r>
              <a:rPr lang="en-US" sz="1050" dirty="0">
                <a:solidFill>
                  <a:srgbClr val="1A2433"/>
                </a:solidFill>
                <a:latin typeface="Calibri" pitchFamily="34" charset="0"/>
                <a:ea typeface="Calibri" pitchFamily="34" charset="-122"/>
                <a:cs typeface="Calibri" pitchFamily="34" charset="-120"/>
              </a:rPr>
              <a:t>60 documents</a:t>
            </a:r>
            <a:endParaRPr lang="en-US" sz="1050" dirty="0"/>
          </a:p>
          <a:p>
            <a:pPr algn="ctr" indent="0" marL="0">
              <a:lnSpc>
                <a:spcPct val="105000"/>
              </a:lnSpc>
              <a:buNone/>
            </a:pPr>
            <a:r>
              <a:rPr lang="en-US" sz="1050" dirty="0">
                <a:solidFill>
                  <a:srgbClr val="1A2433"/>
                </a:solidFill>
                <a:latin typeface="Calibri" pitchFamily="34" charset="0"/>
                <a:ea typeface="Calibri" pitchFamily="34" charset="-122"/>
                <a:cs typeface="Calibri" pitchFamily="34" charset="-120"/>
              </a:rPr>
              <a:t>or fewer:</a:t>
            </a:r>
            <a:endParaRPr lang="en-US" sz="1050" dirty="0"/>
          </a:p>
          <a:p>
            <a:pPr algn="ctr" indent="0" marL="0">
              <a:lnSpc>
                <a:spcPct val="105000"/>
              </a:lnSpc>
              <a:buNone/>
            </a:pPr>
            <a:r>
              <a:rPr lang="en-US" sz="1050" dirty="0">
                <a:solidFill>
                  <a:srgbClr val="1A2433"/>
                </a:solidFill>
                <a:latin typeface="Calibri" pitchFamily="34" charset="0"/>
                <a:ea typeface="Calibri" pitchFamily="34" charset="-122"/>
                <a:cs typeface="Calibri" pitchFamily="34" charset="-120"/>
              </a:rPr>
              <a:t>all summaries</a:t>
            </a:r>
            <a:endParaRPr lang="en-US" sz="1050" dirty="0"/>
          </a:p>
          <a:p>
            <a:pPr algn="ctr" indent="0" marL="0">
              <a:lnSpc>
                <a:spcPct val="105000"/>
              </a:lnSpc>
              <a:buNone/>
            </a:pPr>
            <a:r>
              <a:rPr lang="en-US" sz="1050" dirty="0">
                <a:solidFill>
                  <a:srgbClr val="1A2433"/>
                </a:solidFill>
                <a:latin typeface="Calibri" pitchFamily="34" charset="0"/>
                <a:ea typeface="Calibri" pitchFamily="34" charset="-122"/>
                <a:cs typeface="Calibri" pitchFamily="34" charset="-120"/>
              </a:rPr>
              <a:t>go into context</a:t>
            </a:r>
            <a:endParaRPr lang="en-US" sz="1050" dirty="0"/>
          </a:p>
        </p:txBody>
      </p:sp>
      <p:sp>
        <p:nvSpPr>
          <p:cNvPr id="12" name="Shape 10"/>
          <p:cNvSpPr/>
          <p:nvPr/>
        </p:nvSpPr>
        <p:spPr>
          <a:xfrm>
            <a:off x="5949544" y="2674620"/>
            <a:ext cx="292608" cy="0"/>
          </a:xfrm>
          <a:prstGeom prst="line">
            <a:avLst/>
          </a:prstGeom>
          <a:noFill/>
          <a:ln w="12700">
            <a:solidFill>
              <a:srgbClr val="002452"/>
            </a:solidFill>
            <a:prstDash val="solid"/>
            <a:tailEnd type="triangle"/>
          </a:ln>
        </p:spPr>
        <p:txBody>
          <a:bodyPr/>
          <a:p/>
        </p:txBody>
      </p:sp>
      <p:sp>
        <p:nvSpPr>
          <p:cNvPr id="13" name="Shape 11"/>
          <p:cNvSpPr/>
          <p:nvPr/>
        </p:nvSpPr>
        <p:spPr>
          <a:xfrm>
            <a:off x="6242152" y="2148840"/>
            <a:ext cx="2554148" cy="1051560"/>
          </a:xfrm>
          <a:prstGeom prst="rect">
            <a:avLst/>
          </a:prstGeom>
          <a:solidFill>
            <a:srgbClr val="F7F9FC"/>
          </a:solidFill>
          <a:ln w="12700">
            <a:solidFill>
              <a:srgbClr val="E3E8EF"/>
            </a:solidFill>
            <a:prstDash val="solid"/>
          </a:ln>
        </p:spPr>
        <p:txBody>
          <a:bodyPr/>
          <a:p/>
        </p:txBody>
      </p:sp>
      <p:sp>
        <p:nvSpPr>
          <p:cNvPr id="14" name="Text 12"/>
          <p:cNvSpPr/>
          <p:nvPr/>
        </p:nvSpPr>
        <p:spPr>
          <a:xfrm>
            <a:off x="6315304" y="2148840"/>
            <a:ext cx="2407844" cy="1051560"/>
          </a:xfrm>
          <a:prstGeom prst="rect">
            <a:avLst/>
          </a:prstGeom>
          <a:noFill/>
          <a:ln/>
        </p:spPr>
        <p:txBody>
          <a:bodyPr wrap="square" lIns="0" tIns="0" rIns="0" bIns="0" rtlCol="0" anchor="ctr"/>
          <a:lstStyle/>
          <a:p>
            <a:pPr algn="ctr" indent="0" marL="0">
              <a:lnSpc>
                <a:spcPct val="105000"/>
              </a:lnSpc>
              <a:buNone/>
            </a:pPr>
            <a:r>
              <a:rPr lang="en-US" sz="1050" dirty="0">
                <a:solidFill>
                  <a:srgbClr val="1A2433"/>
                </a:solidFill>
                <a:latin typeface="Calibri" pitchFamily="34" charset="0"/>
                <a:ea typeface="Calibri" pitchFamily="34" charset="-122"/>
                <a:cs typeface="Calibri" pitchFamily="34" charset="-120"/>
              </a:rPr>
              <a:t>Above 60:</a:t>
            </a:r>
            <a:endParaRPr lang="en-US" sz="1050" dirty="0"/>
          </a:p>
          <a:p>
            <a:pPr algn="ctr" indent="0" marL="0">
              <a:lnSpc>
                <a:spcPct val="105000"/>
              </a:lnSpc>
              <a:buNone/>
            </a:pPr>
            <a:r>
              <a:rPr lang="en-US" sz="1050" dirty="0">
                <a:solidFill>
                  <a:srgbClr val="1A2433"/>
                </a:solidFill>
                <a:latin typeface="Calibri" pitchFamily="34" charset="0"/>
                <a:ea typeface="Calibri" pitchFamily="34" charset="-122"/>
                <a:cs typeface="Calibri" pitchFamily="34" charset="-120"/>
              </a:rPr>
              <a:t>embeddings and</a:t>
            </a:r>
            <a:endParaRPr lang="en-US" sz="1050" dirty="0"/>
          </a:p>
          <a:p>
            <a:pPr algn="ctr" indent="0" marL="0">
              <a:lnSpc>
                <a:spcPct val="105000"/>
              </a:lnSpc>
              <a:buNone/>
            </a:pPr>
            <a:r>
              <a:rPr lang="en-US" sz="1050" dirty="0">
                <a:solidFill>
                  <a:srgbClr val="1A2433"/>
                </a:solidFill>
                <a:latin typeface="Calibri" pitchFamily="34" charset="0"/>
                <a:ea typeface="Calibri" pitchFamily="34" charset="-122"/>
                <a:cs typeface="Calibri" pitchFamily="34" charset="-120"/>
              </a:rPr>
              <a:t>cosine similarity,</a:t>
            </a:r>
            <a:endParaRPr lang="en-US" sz="1050" dirty="0"/>
          </a:p>
          <a:p>
            <a:pPr algn="ctr" indent="0" marL="0">
              <a:lnSpc>
                <a:spcPct val="105000"/>
              </a:lnSpc>
              <a:buNone/>
            </a:pPr>
            <a:r>
              <a:rPr lang="en-US" sz="1050" dirty="0">
                <a:solidFill>
                  <a:srgbClr val="1A2433"/>
                </a:solidFill>
                <a:latin typeface="Calibri" pitchFamily="34" charset="0"/>
                <a:ea typeface="Calibri" pitchFamily="34" charset="-122"/>
                <a:cs typeface="Calibri" pitchFamily="34" charset="-120"/>
              </a:rPr>
              <a:t>top 12 retrieved</a:t>
            </a:r>
            <a:endParaRPr lang="en-US" sz="1050" dirty="0"/>
          </a:p>
        </p:txBody>
      </p:sp>
      <p:sp>
        <p:nvSpPr>
          <p:cNvPr id="15" name="Shape 13"/>
          <p:cNvSpPr/>
          <p:nvPr/>
        </p:nvSpPr>
        <p:spPr>
          <a:xfrm>
            <a:off x="8796299" y="2674620"/>
            <a:ext cx="292608" cy="0"/>
          </a:xfrm>
          <a:prstGeom prst="line">
            <a:avLst/>
          </a:prstGeom>
          <a:noFill/>
          <a:ln w="12700">
            <a:solidFill>
              <a:srgbClr val="002452"/>
            </a:solidFill>
            <a:prstDash val="solid"/>
            <a:tailEnd type="triangle"/>
          </a:ln>
        </p:spPr>
        <p:txBody>
          <a:bodyPr/>
          <a:p/>
        </p:txBody>
      </p:sp>
      <p:sp>
        <p:nvSpPr>
          <p:cNvPr id="16" name="Shape 14"/>
          <p:cNvSpPr/>
          <p:nvPr/>
        </p:nvSpPr>
        <p:spPr>
          <a:xfrm>
            <a:off x="9088907" y="2148840"/>
            <a:ext cx="2554148" cy="1051560"/>
          </a:xfrm>
          <a:prstGeom prst="rect">
            <a:avLst/>
          </a:prstGeom>
          <a:solidFill>
            <a:srgbClr val="F7F9FC"/>
          </a:solidFill>
          <a:ln w="12700">
            <a:solidFill>
              <a:srgbClr val="E3E8EF"/>
            </a:solidFill>
            <a:prstDash val="solid"/>
          </a:ln>
        </p:spPr>
        <p:txBody>
          <a:bodyPr/>
          <a:p/>
        </p:txBody>
      </p:sp>
      <p:sp>
        <p:nvSpPr>
          <p:cNvPr id="17" name="Text 15"/>
          <p:cNvSpPr/>
          <p:nvPr/>
        </p:nvSpPr>
        <p:spPr>
          <a:xfrm>
            <a:off x="9162059" y="2148840"/>
            <a:ext cx="2407844" cy="1051560"/>
          </a:xfrm>
          <a:prstGeom prst="rect">
            <a:avLst/>
          </a:prstGeom>
          <a:noFill/>
          <a:ln/>
        </p:spPr>
        <p:txBody>
          <a:bodyPr wrap="square" lIns="0" tIns="0" rIns="0" bIns="0" rtlCol="0" anchor="ctr"/>
          <a:lstStyle/>
          <a:p>
            <a:pPr algn="ctr" indent="0" marL="0">
              <a:lnSpc>
                <a:spcPct val="105000"/>
              </a:lnSpc>
              <a:buNone/>
            </a:pPr>
            <a:r>
              <a:rPr lang="en-US" sz="1050" dirty="0">
                <a:solidFill>
                  <a:srgbClr val="1A2433"/>
                </a:solidFill>
                <a:latin typeface="Calibri" pitchFamily="34" charset="0"/>
                <a:ea typeface="Calibri" pitchFamily="34" charset="-122"/>
                <a:cs typeface="Calibri" pitchFamily="34" charset="-120"/>
              </a:rPr>
              <a:t>The model answers,</a:t>
            </a:r>
            <a:endParaRPr lang="en-US" sz="1050" dirty="0"/>
          </a:p>
          <a:p>
            <a:pPr algn="ctr" indent="0" marL="0">
              <a:lnSpc>
                <a:spcPct val="105000"/>
              </a:lnSpc>
              <a:buNone/>
            </a:pPr>
            <a:r>
              <a:rPr lang="en-US" sz="1050" dirty="0">
                <a:solidFill>
                  <a:srgbClr val="1A2433"/>
                </a:solidFill>
                <a:latin typeface="Calibri" pitchFamily="34" charset="0"/>
                <a:ea typeface="Calibri" pitchFamily="34" charset="-122"/>
                <a:cs typeface="Calibri" pitchFamily="34" charset="-120"/>
              </a:rPr>
              <a:t>citing its sources</a:t>
            </a:r>
            <a:endParaRPr lang="en-US" sz="1050" dirty="0"/>
          </a:p>
        </p:txBody>
      </p:sp>
      <p:sp>
        <p:nvSpPr>
          <p:cNvPr id="18" name="Text 16"/>
          <p:cNvSpPr/>
          <p:nvPr/>
        </p:nvSpPr>
        <p:spPr>
          <a:xfrm>
            <a:off x="548640" y="3429000"/>
            <a:ext cx="11094415" cy="1005840"/>
          </a:xfrm>
          <a:prstGeom prst="rect">
            <a:avLst/>
          </a:prstGeom>
          <a:noFill/>
          <a:ln/>
        </p:spPr>
        <p:txBody>
          <a:bodyPr wrap="square" lIns="0" tIns="0" rIns="0" bIns="0" rtlCol="0" anchor="ctr"/>
          <a:lstStyle/>
          <a:p>
            <a:pPr algn="l" indent="0" marL="0">
              <a:lnSpc>
                <a:spcPct val="125000"/>
              </a:lnSpc>
              <a:buNone/>
            </a:pPr>
            <a:r>
              <a:rPr lang="en-US" sz="1200" dirty="0">
                <a:solidFill>
                  <a:srgbClr val="44474F"/>
                </a:solidFill>
                <a:latin typeface="Calibri" pitchFamily="34" charset="0"/>
                <a:ea typeface="Calibri" pitchFamily="34" charset="-122"/>
                <a:cs typeface="Calibri" pitchFamily="34" charset="-120"/>
              </a:rPr>
              <a:t>Why 60: a document summary costs roughly 150 tokens, so 60 documents is about 9,000 tokens, still comfortable in context. Below that threshold, feeding everything in is more accurate for aggregate questions such as how many documents are flagged, where top k retrieval can miss a relevant document.</a:t>
            </a:r>
            <a:endParaRPr lang="en-US" sz="1200" dirty="0"/>
          </a:p>
        </p:txBody>
      </p:sp>
      <p:sp>
        <p:nvSpPr>
          <p:cNvPr id="19" name="Shape 17"/>
          <p:cNvSpPr/>
          <p:nvPr/>
        </p:nvSpPr>
        <p:spPr>
          <a:xfrm>
            <a:off x="548640" y="5440680"/>
            <a:ext cx="11094415" cy="0"/>
          </a:xfrm>
          <a:prstGeom prst="line">
            <a:avLst/>
          </a:prstGeom>
          <a:noFill/>
          <a:ln w="12700">
            <a:solidFill>
              <a:srgbClr val="E3E8EF"/>
            </a:solidFill>
            <a:prstDash val="solid"/>
          </a:ln>
        </p:spPr>
        <p:txBody>
          <a:bodyPr/>
          <a:p/>
        </p:txBody>
      </p:sp>
      <p:sp>
        <p:nvSpPr>
          <p:cNvPr id="20" name="Text 18"/>
          <p:cNvSpPr/>
          <p:nvPr/>
        </p:nvSpPr>
        <p:spPr>
          <a:xfrm>
            <a:off x="548640" y="5623560"/>
            <a:ext cx="11094415" cy="822960"/>
          </a:xfrm>
          <a:prstGeom prst="rect">
            <a:avLst/>
          </a:prstGeom>
          <a:noFill/>
          <a:ln/>
        </p:spPr>
        <p:txBody>
          <a:bodyPr wrap="square" lIns="0" tIns="0" rIns="0" bIns="0" rtlCol="0" anchor="ctr"/>
          <a:lstStyle/>
          <a:p>
            <a:pPr algn="l" indent="0" marL="0">
              <a:lnSpc>
                <a:spcPct val="120000"/>
              </a:lnSpc>
              <a:buNone/>
            </a:pPr>
            <a:r>
              <a:rPr lang="en-US" sz="1800" b="1" dirty="0">
                <a:solidFill>
                  <a:srgbClr val="002452"/>
                </a:solidFill>
                <a:latin typeface="Calibri" pitchFamily="34" charset="0"/>
                <a:ea typeface="Calibri" pitchFamily="34" charset="-122"/>
                <a:cs typeface="Calibri" pitchFamily="34" charset="-120"/>
              </a:rPr>
              <a:t>DocExtract keeps every document on the team's own machine, with a human deciding what actually gets released.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DocExtract: Intelligent Document Processing</dc:title>
  <dc:subject>PptxGenJS Presentation</dc:subject>
  <dc:creator>DocExtract Team</dc:creator>
  <cp:lastModifiedBy>DocExtract Team</cp:lastModifiedBy>
  <cp:revision>1</cp:revision>
  <dcterms:created xsi:type="dcterms:W3CDTF">2026-08-03T19:00:14Z</dcterms:created>
  <dcterms:modified xsi:type="dcterms:W3CDTF">2026-08-03T19:00:14Z</dcterms:modified>
</cp:coreProperties>
</file>